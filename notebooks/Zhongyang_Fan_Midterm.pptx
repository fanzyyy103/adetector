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6858000" cx="12192000"/>
  <p:notesSz cx="6858000" cy="12192000"/>
  <p:embeddedFontLst>
    <p:embeddedFont>
      <p:font typeface="IBM Plex Sans"/>
      <p:regular r:id="rId23"/>
      <p:bold r:id="rId24"/>
      <p:italic r:id="rId25"/>
      <p:boldItalic r:id="rId26"/>
    </p:embeddedFont>
    <p:embeddedFont>
      <p:font typeface="EB Garamond"/>
      <p:regular r:id="rId27"/>
      <p:bold r:id="rId28"/>
      <p:italic r:id="rId29"/>
      <p:boldItalic r:id="rId30"/>
    </p:embeddedFont>
    <p:embeddedFont>
      <p:font typeface="Source Serif 4"/>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755984B-8548-4C51-B8A4-67813B0B79D8}">
  <a:tblStyle styleId="{9755984B-8548-4C51-B8A4-67813B0B79D8}"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IBMPlexSans-bold.fntdata"/><Relationship Id="rId23" Type="http://schemas.openxmlformats.org/officeDocument/2006/relationships/font" Target="fonts/IBMPlexSans-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IBMPlexSans-boldItalic.fntdata"/><Relationship Id="rId25" Type="http://schemas.openxmlformats.org/officeDocument/2006/relationships/font" Target="fonts/IBMPlexSans-italic.fntdata"/><Relationship Id="rId28" Type="http://schemas.openxmlformats.org/officeDocument/2006/relationships/font" Target="fonts/EBGaramond-bold.fntdata"/><Relationship Id="rId27" Type="http://schemas.openxmlformats.org/officeDocument/2006/relationships/font" Target="fonts/EBGaramond-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EBGaramon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SourceSerif4-regular.fntdata"/><Relationship Id="rId30" Type="http://schemas.openxmlformats.org/officeDocument/2006/relationships/font" Target="fonts/EBGaramond-boldItalic.fntdata"/><Relationship Id="rId11" Type="http://schemas.openxmlformats.org/officeDocument/2006/relationships/slide" Target="slides/slide6.xml"/><Relationship Id="rId33" Type="http://schemas.openxmlformats.org/officeDocument/2006/relationships/font" Target="fonts/SourceSerif4-italic.fntdata"/><Relationship Id="rId10" Type="http://schemas.openxmlformats.org/officeDocument/2006/relationships/slide" Target="slides/slide5.xml"/><Relationship Id="rId32" Type="http://schemas.openxmlformats.org/officeDocument/2006/relationships/font" Target="fonts/SourceSerif4-bold.fntdata"/><Relationship Id="rId13" Type="http://schemas.openxmlformats.org/officeDocument/2006/relationships/slide" Target="slides/slide8.xml"/><Relationship Id="rId12" Type="http://schemas.openxmlformats.org/officeDocument/2006/relationships/slide" Target="slides/slide7.xml"/><Relationship Id="rId34" Type="http://schemas.openxmlformats.org/officeDocument/2006/relationships/font" Target="fonts/SourceSerif4-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deck follows the extended “1 EDA” notebook. Numbers on the data slides come from outputs already in that notebook. The results slides are marked where the new cells still need to be run against the database.</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 name="Shape 19"/>
        <p:cNvGrpSpPr/>
        <p:nvPr/>
      </p:nvGrpSpPr>
      <p:grpSpPr>
        <a:xfrm>
          <a:off x="0" y="0"/>
          <a:ext cx="0" cy="0"/>
          <a:chOff x="0" y="0"/>
          <a:chExt cx="0" cy="0"/>
        </a:xfrm>
      </p:grpSpPr>
      <p:sp>
        <p:nvSpPr>
          <p:cNvPr id="20" name="Google Shape;20;h69244ac0bd8038e9_1_1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 name="Google Shape;21;h69244ac0bd8038e9_1_13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 name="Google Shape;22;h69244ac0bd8038e9_1_13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 name="Google Shape;3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 name="Google Shape;3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 name="Shape 44"/>
        <p:cNvGrpSpPr/>
        <p:nvPr/>
      </p:nvGrpSpPr>
      <p:grpSpPr>
        <a:xfrm>
          <a:off x="0" y="0"/>
          <a:ext cx="0" cy="0"/>
          <a:chOff x="0" y="0"/>
          <a:chExt cx="0" cy="0"/>
        </a:xfrm>
      </p:grpSpPr>
      <p:sp>
        <p:nvSpPr>
          <p:cNvPr id="45" name="Google Shape;4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 name="Google Shape;4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 name="Google Shape;4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 name="Google Shape;6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 name="Google Shape;6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 name="Google Shape;7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 name="Google Shape;7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h69244ac0bd8038e9_1_1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4" name="Google Shape;84;h69244ac0bd8038e9_1_12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 name="Google Shape;85;h69244ac0bd8038e9_1_12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h69244ac0bd8038e9_1_1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2" name="Google Shape;92;h69244ac0bd8038e9_1_12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h69244ac0bd8038e9_1_12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h69244ac0bd8038e9_1_1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0" name="Google Shape;100;h69244ac0bd8038e9_1_14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h69244ac0bd8038e9_1_14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 name="Google Shape;13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 name="Google Shape;141;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h69244ac0bd8038e9_1_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6" name="Google Shape;156;h69244ac0bd8038e9_1_7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h69244ac0bd8038e9_1_7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 name="Google Shape;163;p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p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h69244ac0bd8038e9_1_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0" name="Google Shape;180;h69244ac0bd8038e9_1_9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h69244ac0bd8038e9_1_9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 name="Google Shape;198;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EE"/>
        </a:solidFill>
      </p:bgPr>
    </p:bg>
    <p:spTree>
      <p:nvGrpSpPr>
        <p:cNvPr id="15" name="Shape 15"/>
        <p:cNvGrpSpPr/>
        <p:nvPr/>
      </p:nvGrpSpPr>
      <p:grpSpPr>
        <a:xfrm>
          <a:off x="0" y="0"/>
          <a:ext cx="0" cy="0"/>
          <a:chOff x="0" y="0"/>
          <a:chExt cx="0" cy="0"/>
        </a:xfrm>
      </p:grpSpPr>
      <p:sp>
        <p:nvSpPr>
          <p:cNvPr id="16" name="Google Shape;16;p3"/>
          <p:cNvSpPr/>
          <p:nvPr/>
        </p:nvSpPr>
        <p:spPr>
          <a:xfrm>
            <a:off x="812800" y="1689695"/>
            <a:ext cx="10883392" cy="27429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1F7A8C"/>
              </a:buClr>
              <a:buSzPts val="1400"/>
              <a:buFont typeface="IBM Plex Sans"/>
              <a:buNone/>
            </a:pPr>
            <a:r>
              <a:rPr b="0" i="0" lang="en-US" sz="1400" u="none" cap="none" strike="noStrike">
                <a:solidFill>
                  <a:srgbClr val="1F7A8C"/>
                </a:solidFill>
                <a:latin typeface="IBM Plex Sans"/>
                <a:ea typeface="IBM Plex Sans"/>
                <a:cs typeface="IBM Plex Sans"/>
                <a:sym typeface="IBM Plex Sans"/>
              </a:rPr>
              <a:t>PREDICTION MARKETS · UNSUPERVISED LEARNING</a:t>
            </a:r>
            <a:endParaRPr b="0" i="0" sz="1400" u="none" cap="none" strike="noStrike">
              <a:solidFill>
                <a:schemeClr val="dk1"/>
              </a:solidFill>
              <a:latin typeface="Calibri"/>
              <a:ea typeface="Calibri"/>
              <a:cs typeface="Calibri"/>
              <a:sym typeface="Calibri"/>
            </a:endParaRPr>
          </a:p>
        </p:txBody>
      </p:sp>
      <p:sp>
        <p:nvSpPr>
          <p:cNvPr id="17" name="Google Shape;17;p3"/>
          <p:cNvSpPr/>
          <p:nvPr/>
        </p:nvSpPr>
        <p:spPr>
          <a:xfrm>
            <a:off x="812800" y="2243386"/>
            <a:ext cx="10883392" cy="1451769"/>
          </a:xfrm>
          <a:prstGeom prst="rect">
            <a:avLst/>
          </a:prstGeom>
          <a:noFill/>
          <a:ln>
            <a:noFill/>
          </a:ln>
        </p:spPr>
        <p:txBody>
          <a:bodyPr anchorCtr="0" anchor="t" bIns="0" lIns="0" spcFirstLastPara="1" rIns="0" wrap="square" tIns="0">
            <a:noAutofit/>
          </a:bodyPr>
          <a:lstStyle/>
          <a:p>
            <a:pPr indent="0" lvl="0" marL="0" rtl="0" algn="l">
              <a:lnSpc>
                <a:spcPct val="116667"/>
              </a:lnSpc>
              <a:spcBef>
                <a:spcPts val="0"/>
              </a:spcBef>
              <a:spcAft>
                <a:spcPts val="0"/>
              </a:spcAft>
              <a:buClr>
                <a:srgbClr val="4A5568"/>
              </a:buClr>
              <a:buSzPts val="1800"/>
              <a:buFont typeface="IBM Plex Sans"/>
              <a:buNone/>
            </a:pPr>
            <a:r>
              <a:rPr b="1" lang="en-US" sz="3200">
                <a:solidFill>
                  <a:srgbClr val="4A5568"/>
                </a:solidFill>
                <a:latin typeface="IBM Plex Sans"/>
                <a:ea typeface="IBM Plex Sans"/>
                <a:cs typeface="IBM Plex Sans"/>
                <a:sym typeface="IBM Plex Sans"/>
              </a:rPr>
              <a:t>P</a:t>
            </a:r>
            <a:r>
              <a:rPr b="1" lang="en-US" sz="3200">
                <a:solidFill>
                  <a:srgbClr val="4A5568"/>
                </a:solidFill>
                <a:latin typeface="IBM Plex Sans"/>
                <a:ea typeface="IBM Plex Sans"/>
                <a:cs typeface="IBM Plex Sans"/>
                <a:sym typeface="IBM Plex Sans"/>
              </a:rPr>
              <a:t>otential anomaly analysis on the event “Which company has the best AI model at the end of June 2026?”</a:t>
            </a:r>
            <a:endParaRPr b="1" i="0" sz="6600" u="none" cap="none" strike="noStrike">
              <a:solidFill>
                <a:schemeClr val="dk1"/>
              </a:solidFill>
              <a:latin typeface="Calibri"/>
              <a:ea typeface="Calibri"/>
              <a:cs typeface="Calibri"/>
              <a:sym typeface="Calibri"/>
            </a:endParaRPr>
          </a:p>
        </p:txBody>
      </p:sp>
      <p:sp>
        <p:nvSpPr>
          <p:cNvPr id="18" name="Google Shape;18;p3"/>
          <p:cNvSpPr/>
          <p:nvPr/>
        </p:nvSpPr>
        <p:spPr>
          <a:xfrm>
            <a:off x="812800" y="4919414"/>
            <a:ext cx="10883392" cy="27429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5B6472"/>
              </a:buClr>
              <a:buSzPts val="1400"/>
              <a:buFont typeface="IBM Plex Sans"/>
              <a:buNone/>
            </a:pPr>
            <a:r>
              <a:rPr b="0" i="0" lang="en-US" sz="1400" u="none" cap="none" strike="noStrike">
                <a:solidFill>
                  <a:srgbClr val="5B6472"/>
                </a:solidFill>
                <a:latin typeface="IBM Plex Sans"/>
                <a:ea typeface="IBM Plex Sans"/>
                <a:cs typeface="IBM Plex Sans"/>
                <a:sym typeface="IBM Plex Sans"/>
              </a:rPr>
              <a:t>Zhongyang Fan </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EE"/>
        </a:solidFill>
      </p:bgPr>
    </p:bg>
    <p:spTree>
      <p:nvGrpSpPr>
        <p:cNvPr id="23" name="Shape 23"/>
        <p:cNvGrpSpPr/>
        <p:nvPr/>
      </p:nvGrpSpPr>
      <p:grpSpPr>
        <a:xfrm>
          <a:off x="0" y="0"/>
          <a:ext cx="0" cy="0"/>
          <a:chOff x="0" y="0"/>
          <a:chExt cx="0" cy="0"/>
        </a:xfrm>
      </p:grpSpPr>
      <p:graphicFrame>
        <p:nvGraphicFramePr>
          <p:cNvPr id="24" name="Google Shape;24;p4"/>
          <p:cNvGraphicFramePr/>
          <p:nvPr/>
        </p:nvGraphicFramePr>
        <p:xfrm>
          <a:off x="895350" y="1771005"/>
          <a:ext cx="3000000" cy="3000000"/>
        </p:xfrm>
        <a:graphic>
          <a:graphicData uri="http://schemas.openxmlformats.org/drawingml/2006/table">
            <a:tbl>
              <a:tblPr>
                <a:noFill/>
                <a:tableStyleId>{9755984B-8548-4C51-B8A4-67813B0B79D8}</a:tableStyleId>
              </a:tblPr>
              <a:tblGrid>
                <a:gridCol w="1768225"/>
                <a:gridCol w="3224400"/>
                <a:gridCol w="2912375"/>
                <a:gridCol w="2496300"/>
              </a:tblGrid>
              <a:tr h="430500">
                <a:tc>
                  <a:txBody>
                    <a:bodyPr/>
                    <a:lstStyle/>
                    <a:p>
                      <a:pPr indent="0" lvl="0" marL="0" marR="0" rtl="0" algn="l">
                        <a:lnSpc>
                          <a:spcPct val="116667"/>
                        </a:lnSpc>
                        <a:spcBef>
                          <a:spcPts val="0"/>
                        </a:spcBef>
                        <a:spcAft>
                          <a:spcPts val="0"/>
                        </a:spcAft>
                        <a:buClr>
                          <a:srgbClr val="1A1A1A"/>
                        </a:buClr>
                        <a:buSzPts val="1350"/>
                        <a:buFont typeface="Source Serif 4"/>
                        <a:buNone/>
                      </a:pPr>
                      <a:r>
                        <a:rPr b="1" lang="en-US" sz="1350" u="none" cap="none" strike="noStrike">
                          <a:solidFill>
                            <a:srgbClr val="1A1A1A"/>
                          </a:solidFill>
                          <a:latin typeface="Source Serif 4"/>
                          <a:ea typeface="Source Serif 4"/>
                          <a:cs typeface="Source Serif 4"/>
                          <a:sym typeface="Source Serif 4"/>
                        </a:rPr>
                        <a:t>Table</a:t>
                      </a:r>
                      <a:endParaRPr sz="1350" u="none" cap="none" strike="noStrike">
                        <a:latin typeface="Source Serif 4"/>
                        <a:ea typeface="Source Serif 4"/>
                        <a:cs typeface="Source Serif 4"/>
                        <a:sym typeface="Source Serif 4"/>
                      </a:endParaRPr>
                    </a:p>
                  </a:txBody>
                  <a:tcPr marT="88900" marB="88900" marR="88900" marL="88900">
                    <a:lnL cap="flat" cmpd="sng" w="12700">
                      <a:solidFill>
                        <a:srgbClr val="CBCBCB"/>
                      </a:solidFill>
                      <a:prstDash val="solid"/>
                      <a:round/>
                      <a:headEnd len="sm" w="sm" type="none"/>
                      <a:tailEnd len="sm" w="sm" type="none"/>
                    </a:lnL>
                    <a:lnR cap="flat" cmpd="sng" w="12700">
                      <a:solidFill>
                        <a:srgbClr val="BCBCBC"/>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CBCBC"/>
                      </a:solidFill>
                      <a:prstDash val="solid"/>
                      <a:round/>
                      <a:headEnd len="sm" w="sm" type="none"/>
                      <a:tailEnd len="sm" w="sm" type="none"/>
                    </a:lnB>
                    <a:solidFill>
                      <a:srgbClr val="ECECEC"/>
                    </a:solidFill>
                  </a:tcPr>
                </a:tc>
                <a:tc>
                  <a:txBody>
                    <a:bodyPr/>
                    <a:lstStyle/>
                    <a:p>
                      <a:pPr indent="0" lvl="0" marL="0" marR="0" rtl="0" algn="l">
                        <a:lnSpc>
                          <a:spcPct val="116667"/>
                        </a:lnSpc>
                        <a:spcBef>
                          <a:spcPts val="0"/>
                        </a:spcBef>
                        <a:spcAft>
                          <a:spcPts val="0"/>
                        </a:spcAft>
                        <a:buClr>
                          <a:srgbClr val="1A1A1A"/>
                        </a:buClr>
                        <a:buSzPts val="1350"/>
                        <a:buFont typeface="Source Serif 4"/>
                        <a:buNone/>
                      </a:pPr>
                      <a:r>
                        <a:rPr b="1" lang="en-US" sz="1350" u="none" cap="none" strike="noStrike">
                          <a:solidFill>
                            <a:srgbClr val="1A1A1A"/>
                          </a:solidFill>
                          <a:latin typeface="Source Serif 4"/>
                          <a:ea typeface="Source Serif 4"/>
                          <a:cs typeface="Source Serif 4"/>
                          <a:sym typeface="Source Serif 4"/>
                        </a:rPr>
                        <a:t>Source</a:t>
                      </a:r>
                      <a:endParaRPr sz="1350" u="none" cap="none" strike="noStrike">
                        <a:latin typeface="Source Serif 4"/>
                        <a:ea typeface="Source Serif 4"/>
                        <a:cs typeface="Source Serif 4"/>
                        <a:sym typeface="Source Serif 4"/>
                      </a:endParaRPr>
                    </a:p>
                  </a:txBody>
                  <a:tcPr marT="88900" marB="88900" marR="88900" marL="88900">
                    <a:lnL cap="flat" cmpd="sng" w="12700">
                      <a:solidFill>
                        <a:srgbClr val="BCBCBC"/>
                      </a:solidFill>
                      <a:prstDash val="solid"/>
                      <a:round/>
                      <a:headEnd len="sm" w="sm" type="none"/>
                      <a:tailEnd len="sm" w="sm" type="none"/>
                    </a:lnL>
                    <a:lnR cap="flat" cmpd="sng" w="12700">
                      <a:solidFill>
                        <a:srgbClr val="BCBCBC"/>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CBCBC"/>
                      </a:solidFill>
                      <a:prstDash val="solid"/>
                      <a:round/>
                      <a:headEnd len="sm" w="sm" type="none"/>
                      <a:tailEnd len="sm" w="sm" type="none"/>
                    </a:lnB>
                    <a:solidFill>
                      <a:srgbClr val="ECECEC"/>
                    </a:solidFill>
                  </a:tcPr>
                </a:tc>
                <a:tc>
                  <a:txBody>
                    <a:bodyPr/>
                    <a:lstStyle/>
                    <a:p>
                      <a:pPr indent="0" lvl="0" marL="0" marR="0" rtl="0" algn="l">
                        <a:lnSpc>
                          <a:spcPct val="116667"/>
                        </a:lnSpc>
                        <a:spcBef>
                          <a:spcPts val="0"/>
                        </a:spcBef>
                        <a:spcAft>
                          <a:spcPts val="0"/>
                        </a:spcAft>
                        <a:buClr>
                          <a:srgbClr val="1A1A1A"/>
                        </a:buClr>
                        <a:buSzPts val="1350"/>
                        <a:buFont typeface="Source Serif 4"/>
                        <a:buNone/>
                      </a:pPr>
                      <a:r>
                        <a:rPr b="1" lang="en-US" sz="1350" u="none" cap="none" strike="noStrike">
                          <a:solidFill>
                            <a:srgbClr val="1A1A1A"/>
                          </a:solidFill>
                          <a:latin typeface="Source Serif 4"/>
                          <a:ea typeface="Source Serif 4"/>
                          <a:cs typeface="Source Serif 4"/>
                          <a:sym typeface="Source Serif 4"/>
                        </a:rPr>
                        <a:t>Used for</a:t>
                      </a:r>
                      <a:endParaRPr sz="1350" u="none" cap="none" strike="noStrike">
                        <a:latin typeface="Source Serif 4"/>
                        <a:ea typeface="Source Serif 4"/>
                        <a:cs typeface="Source Serif 4"/>
                        <a:sym typeface="Source Serif 4"/>
                      </a:endParaRPr>
                    </a:p>
                  </a:txBody>
                  <a:tcPr marT="88900" marB="88900" marR="88900" marL="88900">
                    <a:lnL cap="flat" cmpd="sng" w="12700">
                      <a:solidFill>
                        <a:srgbClr val="BCBCBC"/>
                      </a:solidFill>
                      <a:prstDash val="solid"/>
                      <a:round/>
                      <a:headEnd len="sm" w="sm" type="none"/>
                      <a:tailEnd len="sm" w="sm" type="none"/>
                    </a:lnL>
                    <a:lnR cap="flat" cmpd="sng" w="12700">
                      <a:solidFill>
                        <a:srgbClr val="BCBCBC"/>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CBCBC"/>
                      </a:solidFill>
                      <a:prstDash val="solid"/>
                      <a:round/>
                      <a:headEnd len="sm" w="sm" type="none"/>
                      <a:tailEnd len="sm" w="sm" type="none"/>
                    </a:lnB>
                    <a:solidFill>
                      <a:srgbClr val="ECECEC"/>
                    </a:solidFill>
                  </a:tcPr>
                </a:tc>
                <a:tc>
                  <a:txBody>
                    <a:bodyPr/>
                    <a:lstStyle/>
                    <a:p>
                      <a:pPr indent="0" lvl="0" marL="0" marR="0" rtl="0" algn="l">
                        <a:lnSpc>
                          <a:spcPct val="116667"/>
                        </a:lnSpc>
                        <a:spcBef>
                          <a:spcPts val="0"/>
                        </a:spcBef>
                        <a:spcAft>
                          <a:spcPts val="0"/>
                        </a:spcAft>
                        <a:buClr>
                          <a:srgbClr val="1A1A1A"/>
                        </a:buClr>
                        <a:buSzPts val="1350"/>
                        <a:buFont typeface="Source Serif 4"/>
                        <a:buNone/>
                      </a:pPr>
                      <a:r>
                        <a:rPr b="1" lang="en-US" sz="1350" u="none" cap="none" strike="noStrike">
                          <a:solidFill>
                            <a:srgbClr val="1A1A1A"/>
                          </a:solidFill>
                          <a:latin typeface="Source Serif 4"/>
                          <a:ea typeface="Source Serif 4"/>
                          <a:cs typeface="Source Serif 4"/>
                          <a:sym typeface="Source Serif 4"/>
                        </a:rPr>
                        <a:t>Joined on</a:t>
                      </a:r>
                      <a:endParaRPr sz="1350" u="none" cap="none" strike="noStrike">
                        <a:latin typeface="Source Serif 4"/>
                        <a:ea typeface="Source Serif 4"/>
                        <a:cs typeface="Source Serif 4"/>
                        <a:sym typeface="Source Serif 4"/>
                      </a:endParaRPr>
                    </a:p>
                  </a:txBody>
                  <a:tcPr marT="88900" marB="88900" marR="88900" marL="88900">
                    <a:lnL cap="flat" cmpd="sng" w="12700">
                      <a:solidFill>
                        <a:srgbClr val="BCBCBC"/>
                      </a:solidFill>
                      <a:prstDash val="solid"/>
                      <a:round/>
                      <a:headEnd len="sm" w="sm" type="none"/>
                      <a:tailEnd len="sm" w="sm" type="none"/>
                    </a:lnL>
                    <a:lnR cap="flat" cmpd="sng" w="12700">
                      <a:solidFill>
                        <a:srgbClr val="BCBCBC"/>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CBCBC"/>
                      </a:solidFill>
                      <a:prstDash val="solid"/>
                      <a:round/>
                      <a:headEnd len="sm" w="sm" type="none"/>
                      <a:tailEnd len="sm" w="sm" type="none"/>
                    </a:lnB>
                    <a:solidFill>
                      <a:srgbClr val="ECECEC"/>
                    </a:solidFill>
                  </a:tcPr>
                </a:tc>
              </a:tr>
              <a:tr h="670525">
                <a:tc>
                  <a:txBody>
                    <a:bodyPr/>
                    <a:lstStyle/>
                    <a:p>
                      <a:pPr indent="0" lvl="0" marL="0" marR="0" rtl="0" algn="l">
                        <a:lnSpc>
                          <a:spcPct val="116667"/>
                        </a:lnSpc>
                        <a:spcBef>
                          <a:spcPts val="0"/>
                        </a:spcBef>
                        <a:spcAft>
                          <a:spcPts val="0"/>
                        </a:spcAft>
                        <a:buClr>
                          <a:srgbClr val="1A1A1A"/>
                        </a:buClr>
                        <a:buSzPts val="1350"/>
                        <a:buFont typeface="Source Serif 4"/>
                        <a:buNone/>
                      </a:pPr>
                      <a:r>
                        <a:rPr lang="en-US" sz="1350" u="none" cap="none" strike="noStrike">
                          <a:solidFill>
                            <a:srgbClr val="1A1A1A"/>
                          </a:solidFill>
                          <a:latin typeface="Source Serif 4"/>
                          <a:ea typeface="Source Serif 4"/>
                          <a:cs typeface="Source Serif 4"/>
                          <a:sym typeface="Source Serif 4"/>
                        </a:rPr>
                        <a:t>Trades</a:t>
                      </a:r>
                      <a:endParaRPr sz="1350" u="none" cap="none" strike="noStrike">
                        <a:latin typeface="Source Serif 4"/>
                        <a:ea typeface="Source Serif 4"/>
                        <a:cs typeface="Source Serif 4"/>
                        <a:sym typeface="Source Serif 4"/>
                      </a:endParaRPr>
                    </a:p>
                  </a:txBody>
                  <a:tcPr marT="88900" marB="88900" marR="88900" marL="8890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CBCBC"/>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l">
                        <a:lnSpc>
                          <a:spcPct val="116667"/>
                        </a:lnSpc>
                        <a:spcBef>
                          <a:spcPts val="0"/>
                        </a:spcBef>
                        <a:spcAft>
                          <a:spcPts val="0"/>
                        </a:spcAft>
                        <a:buClr>
                          <a:srgbClr val="1A1A1A"/>
                        </a:buClr>
                        <a:buSzPts val="1350"/>
                        <a:buFont typeface="Source Serif 4"/>
                        <a:buNone/>
                      </a:pPr>
                      <a:r>
                        <a:rPr lang="en-US" sz="1350" u="none" cap="none" strike="noStrike">
                          <a:solidFill>
                            <a:srgbClr val="1A1A1A"/>
                          </a:solidFill>
                          <a:latin typeface="Source Serif 4"/>
                          <a:ea typeface="Source Serif 4"/>
                          <a:cs typeface="Source Serif 4"/>
                          <a:sym typeface="Source Serif 4"/>
                        </a:rPr>
                        <a:t>Wallet trade files, one per day (remote parquet)</a:t>
                      </a:r>
                      <a:endParaRPr sz="1350" u="none" cap="none" strike="noStrike">
                        <a:latin typeface="Source Serif 4"/>
                        <a:ea typeface="Source Serif 4"/>
                        <a:cs typeface="Source Serif 4"/>
                        <a:sym typeface="Source Serif 4"/>
                      </a:endParaRPr>
                    </a:p>
                  </a:txBody>
                  <a:tcPr marT="88900" marB="88900" marR="88900" marL="8890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CBCBC"/>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l">
                        <a:lnSpc>
                          <a:spcPct val="116667"/>
                        </a:lnSpc>
                        <a:spcBef>
                          <a:spcPts val="0"/>
                        </a:spcBef>
                        <a:spcAft>
                          <a:spcPts val="0"/>
                        </a:spcAft>
                        <a:buClr>
                          <a:srgbClr val="1A1A1A"/>
                        </a:buClr>
                        <a:buSzPts val="1350"/>
                        <a:buFont typeface="Source Serif 4"/>
                        <a:buNone/>
                      </a:pPr>
                      <a:r>
                        <a:rPr lang="en-US" sz="1350" u="none" cap="none" strike="noStrike">
                          <a:solidFill>
                            <a:srgbClr val="1A1A1A"/>
                          </a:solidFill>
                          <a:latin typeface="Source Serif 4"/>
                          <a:ea typeface="Source Serif 4"/>
                          <a:cs typeface="Source Serif 4"/>
                          <a:sym typeface="Source Serif 4"/>
                        </a:rPr>
                        <a:t>wallet, market, side, price, size, time</a:t>
                      </a:r>
                      <a:endParaRPr sz="1350" u="none" cap="none" strike="noStrike">
                        <a:latin typeface="Source Serif 4"/>
                        <a:ea typeface="Source Serif 4"/>
                        <a:cs typeface="Source Serif 4"/>
                        <a:sym typeface="Source Serif 4"/>
                      </a:endParaRPr>
                    </a:p>
                  </a:txBody>
                  <a:tcPr marT="88900" marB="88900" marR="88900" marL="8890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CBCBC"/>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l">
                        <a:lnSpc>
                          <a:spcPct val="116667"/>
                        </a:lnSpc>
                        <a:spcBef>
                          <a:spcPts val="0"/>
                        </a:spcBef>
                        <a:spcAft>
                          <a:spcPts val="0"/>
                        </a:spcAft>
                        <a:buClr>
                          <a:srgbClr val="1A1A1A"/>
                        </a:buClr>
                        <a:buSzPts val="1350"/>
                        <a:buFont typeface="Source Serif 4"/>
                        <a:buNone/>
                      </a:pPr>
                      <a:r>
                        <a:rPr lang="en-US" sz="1350" u="none" cap="none" strike="noStrike">
                          <a:solidFill>
                            <a:srgbClr val="1A1A1A"/>
                          </a:solidFill>
                          <a:latin typeface="Source Serif 4"/>
                          <a:ea typeface="Source Serif 4"/>
                          <a:cs typeface="Source Serif 4"/>
                          <a:sym typeface="Source Serif 4"/>
                        </a:rPr>
                        <a:t>market</a:t>
                      </a:r>
                      <a:endParaRPr sz="1350" u="none" cap="none" strike="noStrike">
                        <a:latin typeface="Source Serif 4"/>
                        <a:ea typeface="Source Serif 4"/>
                        <a:cs typeface="Source Serif 4"/>
                        <a:sym typeface="Source Serif 4"/>
                      </a:endParaRPr>
                    </a:p>
                  </a:txBody>
                  <a:tcPr marT="88900" marB="88900" marR="88900" marL="8890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CBCBC"/>
                      </a:solidFill>
                      <a:prstDash val="solid"/>
                      <a:round/>
                      <a:headEnd len="sm" w="sm" type="none"/>
                      <a:tailEnd len="sm" w="sm" type="none"/>
                    </a:lnT>
                    <a:lnB cap="flat" cmpd="sng" w="12700">
                      <a:solidFill>
                        <a:srgbClr val="CBCBCB"/>
                      </a:solidFill>
                      <a:prstDash val="solid"/>
                      <a:round/>
                      <a:headEnd len="sm" w="sm" type="none"/>
                      <a:tailEnd len="sm" w="sm" type="none"/>
                    </a:lnB>
                  </a:tcPr>
                </a:tc>
              </a:tr>
              <a:tr h="670525">
                <a:tc>
                  <a:txBody>
                    <a:bodyPr/>
                    <a:lstStyle/>
                    <a:p>
                      <a:pPr indent="0" lvl="0" marL="0" marR="0" rtl="0" algn="l">
                        <a:lnSpc>
                          <a:spcPct val="116667"/>
                        </a:lnSpc>
                        <a:spcBef>
                          <a:spcPts val="0"/>
                        </a:spcBef>
                        <a:spcAft>
                          <a:spcPts val="0"/>
                        </a:spcAft>
                        <a:buClr>
                          <a:srgbClr val="1A1A1A"/>
                        </a:buClr>
                        <a:buSzPts val="1350"/>
                        <a:buFont typeface="Source Serif 4"/>
                        <a:buNone/>
                      </a:pPr>
                      <a:r>
                        <a:rPr lang="en-US" sz="1350" u="none" cap="none" strike="noStrike">
                          <a:solidFill>
                            <a:srgbClr val="1A1A1A"/>
                          </a:solidFill>
                          <a:latin typeface="Source Serif 4"/>
                          <a:ea typeface="Source Serif 4"/>
                          <a:cs typeface="Source Serif 4"/>
                          <a:sym typeface="Source Serif 4"/>
                        </a:rPr>
                        <a:t>Resolutions</a:t>
                      </a:r>
                      <a:endParaRPr sz="1350" u="none" cap="none" strike="noStrike">
                        <a:latin typeface="Source Serif 4"/>
                        <a:ea typeface="Source Serif 4"/>
                        <a:cs typeface="Source Serif 4"/>
                        <a:sym typeface="Source Serif 4"/>
                      </a:endParaRPr>
                    </a:p>
                  </a:txBody>
                  <a:tcPr marT="88900" marB="88900" marR="88900" marL="8890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l">
                        <a:lnSpc>
                          <a:spcPct val="116667"/>
                        </a:lnSpc>
                        <a:spcBef>
                          <a:spcPts val="0"/>
                        </a:spcBef>
                        <a:spcAft>
                          <a:spcPts val="0"/>
                        </a:spcAft>
                        <a:buClr>
                          <a:srgbClr val="1A1A1A"/>
                        </a:buClr>
                        <a:buSzPts val="1350"/>
                        <a:buFont typeface="Source Serif 4"/>
                        <a:buNone/>
                      </a:pPr>
                      <a:r>
                        <a:rPr lang="en-US" sz="1350" u="none" cap="none" strike="noStrike">
                          <a:solidFill>
                            <a:srgbClr val="1A1A1A"/>
                          </a:solidFill>
                          <a:latin typeface="Source Serif 4"/>
                          <a:ea typeface="Source Serif 4"/>
                          <a:cs typeface="Source Serif 4"/>
                          <a:sym typeface="Source Serif 4"/>
                        </a:rPr>
                        <a:t>Resolution table (database)</a:t>
                      </a:r>
                      <a:endParaRPr sz="1350" u="none" cap="none" strike="noStrike">
                        <a:latin typeface="Source Serif 4"/>
                        <a:ea typeface="Source Serif 4"/>
                        <a:cs typeface="Source Serif 4"/>
                        <a:sym typeface="Source Serif 4"/>
                      </a:endParaRPr>
                    </a:p>
                  </a:txBody>
                  <a:tcPr marT="88900" marB="88900" marR="88900" marL="8890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l">
                        <a:lnSpc>
                          <a:spcPct val="116667"/>
                        </a:lnSpc>
                        <a:spcBef>
                          <a:spcPts val="0"/>
                        </a:spcBef>
                        <a:spcAft>
                          <a:spcPts val="0"/>
                        </a:spcAft>
                        <a:buClr>
                          <a:srgbClr val="1A1A1A"/>
                        </a:buClr>
                        <a:buSzPts val="1350"/>
                        <a:buFont typeface="Source Serif 4"/>
                        <a:buNone/>
                      </a:pPr>
                      <a:r>
                        <a:rPr lang="en-US" sz="1350" u="none" cap="none" strike="noStrike">
                          <a:solidFill>
                            <a:srgbClr val="1A1A1A"/>
                          </a:solidFill>
                          <a:latin typeface="Source Serif 4"/>
                          <a:ea typeface="Source Serif 4"/>
                          <a:cs typeface="Source Serif 4"/>
                          <a:sym typeface="Source Serif 4"/>
                        </a:rPr>
                        <a:t>which market resolved, when, and to which outcome</a:t>
                      </a:r>
                      <a:endParaRPr sz="1350" u="none" cap="none" strike="noStrike">
                        <a:latin typeface="Source Serif 4"/>
                        <a:ea typeface="Source Serif 4"/>
                        <a:cs typeface="Source Serif 4"/>
                        <a:sym typeface="Source Serif 4"/>
                      </a:endParaRPr>
                    </a:p>
                  </a:txBody>
                  <a:tcPr marT="88900" marB="88900" marR="88900" marL="8890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l">
                        <a:lnSpc>
                          <a:spcPct val="116667"/>
                        </a:lnSpc>
                        <a:spcBef>
                          <a:spcPts val="0"/>
                        </a:spcBef>
                        <a:spcAft>
                          <a:spcPts val="0"/>
                        </a:spcAft>
                        <a:buClr>
                          <a:srgbClr val="1A1A1A"/>
                        </a:buClr>
                        <a:buSzPts val="1350"/>
                        <a:buFont typeface="Source Serif 4"/>
                        <a:buNone/>
                      </a:pPr>
                      <a:r>
                        <a:rPr lang="en-US" sz="1350" u="none" cap="none" strike="noStrike">
                          <a:solidFill>
                            <a:srgbClr val="1A1A1A"/>
                          </a:solidFill>
                          <a:latin typeface="Source Serif 4"/>
                          <a:ea typeface="Source Serif 4"/>
                          <a:cs typeface="Source Serif 4"/>
                          <a:sym typeface="Source Serif 4"/>
                        </a:rPr>
                        <a:t>market_slug</a:t>
                      </a:r>
                      <a:endParaRPr sz="1350" u="none" cap="none" strike="noStrike">
                        <a:latin typeface="Source Serif 4"/>
                        <a:ea typeface="Source Serif 4"/>
                        <a:cs typeface="Source Serif 4"/>
                        <a:sym typeface="Source Serif 4"/>
                      </a:endParaRPr>
                    </a:p>
                  </a:txBody>
                  <a:tcPr marT="88900" marB="88900" marR="88900" marL="8890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BCBCB"/>
                      </a:solidFill>
                      <a:prstDash val="solid"/>
                      <a:round/>
                      <a:headEnd len="sm" w="sm" type="none"/>
                      <a:tailEnd len="sm" w="sm" type="none"/>
                    </a:lnB>
                  </a:tcPr>
                </a:tc>
              </a:tr>
              <a:tr h="670525">
                <a:tc>
                  <a:txBody>
                    <a:bodyPr/>
                    <a:lstStyle/>
                    <a:p>
                      <a:pPr indent="0" lvl="0" marL="0" marR="0" rtl="0" algn="l">
                        <a:lnSpc>
                          <a:spcPct val="116667"/>
                        </a:lnSpc>
                        <a:spcBef>
                          <a:spcPts val="0"/>
                        </a:spcBef>
                        <a:spcAft>
                          <a:spcPts val="0"/>
                        </a:spcAft>
                        <a:buClr>
                          <a:srgbClr val="1A1A1A"/>
                        </a:buClr>
                        <a:buSzPts val="1350"/>
                        <a:buFont typeface="Source Serif 4"/>
                        <a:buNone/>
                      </a:pPr>
                      <a:r>
                        <a:rPr lang="en-US" sz="1350" u="none" cap="none" strike="noStrike">
                          <a:solidFill>
                            <a:srgbClr val="1A1A1A"/>
                          </a:solidFill>
                          <a:latin typeface="Source Serif 4"/>
                          <a:ea typeface="Source Serif 4"/>
                          <a:cs typeface="Source Serif 4"/>
                          <a:sym typeface="Source Serif 4"/>
                        </a:rPr>
                        <a:t>Markets</a:t>
                      </a:r>
                      <a:endParaRPr sz="1350" u="none" cap="none" strike="noStrike">
                        <a:latin typeface="Source Serif 4"/>
                        <a:ea typeface="Source Serif 4"/>
                        <a:cs typeface="Source Serif 4"/>
                        <a:sym typeface="Source Serif 4"/>
                      </a:endParaRPr>
                    </a:p>
                  </a:txBody>
                  <a:tcPr marT="88900" marB="88900" marR="88900" marL="8890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l">
                        <a:lnSpc>
                          <a:spcPct val="116667"/>
                        </a:lnSpc>
                        <a:spcBef>
                          <a:spcPts val="0"/>
                        </a:spcBef>
                        <a:spcAft>
                          <a:spcPts val="0"/>
                        </a:spcAft>
                        <a:buClr>
                          <a:srgbClr val="1A1A1A"/>
                        </a:buClr>
                        <a:buSzPts val="1350"/>
                        <a:buFont typeface="Source Serif 4"/>
                        <a:buNone/>
                      </a:pPr>
                      <a:r>
                        <a:rPr lang="en-US" sz="1350" u="none" cap="none" strike="noStrike">
                          <a:solidFill>
                            <a:srgbClr val="1A1A1A"/>
                          </a:solidFill>
                          <a:latin typeface="Source Serif 4"/>
                          <a:ea typeface="Source Serif 4"/>
                          <a:cs typeface="Source Serif 4"/>
                          <a:sym typeface="Source Serif 4"/>
                        </a:rPr>
                        <a:t>Market table (database)</a:t>
                      </a:r>
                      <a:endParaRPr sz="1350" u="none" cap="none" strike="noStrike">
                        <a:latin typeface="Source Serif 4"/>
                        <a:ea typeface="Source Serif 4"/>
                        <a:cs typeface="Source Serif 4"/>
                        <a:sym typeface="Source Serif 4"/>
                      </a:endParaRPr>
                    </a:p>
                  </a:txBody>
                  <a:tcPr marT="88900" marB="88900" marR="88900" marL="8890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l">
                        <a:lnSpc>
                          <a:spcPct val="116667"/>
                        </a:lnSpc>
                        <a:spcBef>
                          <a:spcPts val="0"/>
                        </a:spcBef>
                        <a:spcAft>
                          <a:spcPts val="0"/>
                        </a:spcAft>
                        <a:buClr>
                          <a:srgbClr val="1A1A1A"/>
                        </a:buClr>
                        <a:buSzPts val="1350"/>
                        <a:buFont typeface="Source Serif 4"/>
                        <a:buNone/>
                      </a:pPr>
                      <a:r>
                        <a:rPr lang="en-US" sz="1350" u="none" cap="none" strike="noStrike">
                          <a:solidFill>
                            <a:srgbClr val="1A1A1A"/>
                          </a:solidFill>
                          <a:latin typeface="Source Serif 4"/>
                          <a:ea typeface="Source Serif 4"/>
                          <a:cs typeface="Source Serif 4"/>
                          <a:sym typeface="Source Serif 4"/>
                        </a:rPr>
                        <a:t>outcome names; outcome = “Yes” </a:t>
                      </a:r>
                      <a:r>
                        <a:rPr lang="en-US" sz="1350">
                          <a:solidFill>
                            <a:srgbClr val="1A1A1A"/>
                          </a:solidFill>
                          <a:latin typeface="Source Serif 4"/>
                          <a:ea typeface="Source Serif 4"/>
                          <a:cs typeface="Source Serif 4"/>
                          <a:sym typeface="Source Serif 4"/>
                        </a:rPr>
                        <a:t>and “No”</a:t>
                      </a:r>
                      <a:endParaRPr sz="1350" u="none" cap="none" strike="noStrike">
                        <a:latin typeface="Source Serif 4"/>
                        <a:ea typeface="Source Serif 4"/>
                        <a:cs typeface="Source Serif 4"/>
                        <a:sym typeface="Source Serif 4"/>
                      </a:endParaRPr>
                    </a:p>
                  </a:txBody>
                  <a:tcPr marT="88900" marB="88900" marR="88900" marL="8890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BCBCB"/>
                      </a:solidFill>
                      <a:prstDash val="solid"/>
                      <a:round/>
                      <a:headEnd len="sm" w="sm" type="none"/>
                      <a:tailEnd len="sm" w="sm" type="none"/>
                    </a:lnB>
                  </a:tcPr>
                </a:tc>
                <a:tc>
                  <a:txBody>
                    <a:bodyPr/>
                    <a:lstStyle/>
                    <a:p>
                      <a:pPr indent="0" lvl="0" marL="0" marR="0" rtl="0" algn="l">
                        <a:lnSpc>
                          <a:spcPct val="116667"/>
                        </a:lnSpc>
                        <a:spcBef>
                          <a:spcPts val="0"/>
                        </a:spcBef>
                        <a:spcAft>
                          <a:spcPts val="0"/>
                        </a:spcAft>
                        <a:buClr>
                          <a:srgbClr val="1A1A1A"/>
                        </a:buClr>
                        <a:buSzPts val="1350"/>
                        <a:buFont typeface="Source Serif 4"/>
                        <a:buNone/>
                      </a:pPr>
                      <a:r>
                        <a:rPr lang="en-US" sz="1350" u="none" cap="none" strike="noStrike">
                          <a:solidFill>
                            <a:srgbClr val="1A1A1A"/>
                          </a:solidFill>
                          <a:latin typeface="Source Serif 4"/>
                          <a:ea typeface="Source Serif 4"/>
                          <a:cs typeface="Source Serif 4"/>
                          <a:sym typeface="Source Serif 4"/>
                        </a:rPr>
                        <a:t>slug</a:t>
                      </a:r>
                      <a:endParaRPr sz="1350" u="none" cap="none" strike="noStrike">
                        <a:latin typeface="Source Serif 4"/>
                        <a:ea typeface="Source Serif 4"/>
                        <a:cs typeface="Source Serif 4"/>
                        <a:sym typeface="Source Serif 4"/>
                      </a:endParaRPr>
                    </a:p>
                  </a:txBody>
                  <a:tcPr marT="88900" marB="88900" marR="88900" marL="8890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CBCBCB"/>
                      </a:solidFill>
                      <a:prstDash val="solid"/>
                      <a:round/>
                      <a:headEnd len="sm" w="sm" type="none"/>
                      <a:tailEnd len="sm" w="sm" type="none"/>
                    </a:lnB>
                  </a:tcPr>
                </a:tc>
              </a:tr>
            </a:tbl>
          </a:graphicData>
        </a:graphic>
      </p:graphicFrame>
      <p:cxnSp>
        <p:nvCxnSpPr>
          <p:cNvPr id="25" name="Google Shape;25;p4"/>
          <p:cNvCxnSpPr/>
          <p:nvPr/>
        </p:nvCxnSpPr>
        <p:spPr>
          <a:xfrm>
            <a:off x="889000" y="1507480"/>
            <a:ext cx="10413900" cy="0"/>
          </a:xfrm>
          <a:prstGeom prst="straightConnector1">
            <a:avLst/>
          </a:prstGeom>
          <a:noFill/>
          <a:ln cap="flat" cmpd="sng" w="12700">
            <a:solidFill>
              <a:srgbClr val="1F3A5F"/>
            </a:solidFill>
            <a:prstDash val="solid"/>
            <a:round/>
            <a:headEnd len="sm" w="sm" type="none"/>
            <a:tailEnd len="sm" w="sm" type="none"/>
          </a:ln>
        </p:spPr>
      </p:cxnSp>
      <p:sp>
        <p:nvSpPr>
          <p:cNvPr id="26" name="Google Shape;26;p4"/>
          <p:cNvSpPr/>
          <p:nvPr/>
        </p:nvSpPr>
        <p:spPr>
          <a:xfrm>
            <a:off x="889000" y="952500"/>
            <a:ext cx="10726500" cy="434400"/>
          </a:xfrm>
          <a:prstGeom prst="rect">
            <a:avLst/>
          </a:prstGeom>
          <a:noFill/>
          <a:ln>
            <a:noFill/>
          </a:ln>
        </p:spPr>
        <p:txBody>
          <a:bodyPr anchorCtr="0" anchor="t" bIns="0" lIns="0" spcFirstLastPara="1" rIns="0" wrap="square" tIns="0">
            <a:noAutofit/>
          </a:bodyPr>
          <a:lstStyle/>
          <a:p>
            <a:pPr indent="0" lvl="0" marL="0" marR="0" rtl="0" algn="l">
              <a:lnSpc>
                <a:spcPct val="95833"/>
              </a:lnSpc>
              <a:spcBef>
                <a:spcPts val="0"/>
              </a:spcBef>
              <a:spcAft>
                <a:spcPts val="0"/>
              </a:spcAft>
              <a:buClr>
                <a:srgbClr val="1F3A5F"/>
              </a:buClr>
              <a:buSzPts val="2800"/>
              <a:buFont typeface="Source Serif 4"/>
              <a:buNone/>
            </a:pPr>
            <a:r>
              <a:rPr b="1" i="0" lang="en-US" sz="2800" u="none" cap="none" strike="noStrike">
                <a:solidFill>
                  <a:srgbClr val="1F3A5F"/>
                </a:solidFill>
                <a:latin typeface="Source Serif 4"/>
                <a:ea typeface="Source Serif 4"/>
                <a:cs typeface="Source Serif 4"/>
                <a:sym typeface="Source Serif 4"/>
              </a:rPr>
              <a:t>Three tables, joined on the market</a:t>
            </a:r>
            <a:endParaRPr b="0" i="0" sz="2800" u="none" cap="none" strike="noStrike">
              <a:solidFill>
                <a:srgbClr val="000000"/>
              </a:solidFill>
              <a:latin typeface="Calibri"/>
              <a:ea typeface="Calibri"/>
              <a:cs typeface="Calibri"/>
              <a:sym typeface="Calibri"/>
            </a:endParaRPr>
          </a:p>
        </p:txBody>
      </p:sp>
      <p:sp>
        <p:nvSpPr>
          <p:cNvPr id="27" name="Google Shape;27;p4"/>
          <p:cNvSpPr txBox="1"/>
          <p:nvPr/>
        </p:nvSpPr>
        <p:spPr>
          <a:xfrm>
            <a:off x="889000" y="4866950"/>
            <a:ext cx="8949600" cy="673800"/>
          </a:xfrm>
          <a:prstGeom prst="rect">
            <a:avLst/>
          </a:prstGeom>
          <a:noFill/>
          <a:ln>
            <a:noFill/>
          </a:ln>
        </p:spPr>
        <p:txBody>
          <a:bodyPr anchorCtr="0" anchor="t" bIns="91425" lIns="91425" spcFirstLastPara="1" rIns="91425" wrap="square" tIns="91425">
            <a:noAutofit/>
          </a:bodyPr>
          <a:lstStyle/>
          <a:p>
            <a:pPr indent="0" lvl="0" marL="0" rtl="0" algn="l">
              <a:lnSpc>
                <a:spcPct val="120833"/>
              </a:lnSpc>
              <a:spcBef>
                <a:spcPts val="0"/>
              </a:spcBef>
              <a:spcAft>
                <a:spcPts val="0"/>
              </a:spcAft>
              <a:buClr>
                <a:srgbClr val="333333"/>
              </a:buClr>
              <a:buSzPts val="1400"/>
              <a:buFont typeface="Source Serif 4"/>
              <a:buNone/>
            </a:pPr>
            <a:r>
              <a:rPr lang="en-US" sz="1700">
                <a:solidFill>
                  <a:srgbClr val="333333"/>
                </a:solidFill>
                <a:latin typeface="Source Serif 4"/>
                <a:ea typeface="Source Serif 4"/>
                <a:cs typeface="Source Serif 4"/>
                <a:sym typeface="Source Serif 4"/>
              </a:rPr>
              <a:t>The join answers “which market was this trade in, and how did it resolve?”.</a:t>
            </a:r>
            <a:endParaRPr sz="17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EE"/>
        </a:solidFill>
      </p:bgPr>
    </p:bg>
    <p:spTree>
      <p:nvGrpSpPr>
        <p:cNvPr id="32" name="Shape 32"/>
        <p:cNvGrpSpPr/>
        <p:nvPr/>
      </p:nvGrpSpPr>
      <p:grpSpPr>
        <a:xfrm>
          <a:off x="0" y="0"/>
          <a:ext cx="0" cy="0"/>
          <a:chOff x="0" y="0"/>
          <a:chExt cx="0" cy="0"/>
        </a:xfrm>
      </p:grpSpPr>
      <p:sp>
        <p:nvSpPr>
          <p:cNvPr id="33" name="Google Shape;33;p5"/>
          <p:cNvSpPr/>
          <p:nvPr/>
        </p:nvSpPr>
        <p:spPr>
          <a:xfrm>
            <a:off x="812800" y="812800"/>
            <a:ext cx="10883392" cy="500360"/>
          </a:xfrm>
          <a:prstGeom prst="rect">
            <a:avLst/>
          </a:prstGeom>
          <a:noFill/>
          <a:ln>
            <a:noFill/>
          </a:ln>
        </p:spPr>
        <p:txBody>
          <a:bodyPr anchorCtr="0" anchor="t" bIns="0" lIns="0" spcFirstLastPara="1" rIns="0" wrap="square" tIns="0">
            <a:noAutofit/>
          </a:bodyPr>
          <a:lstStyle/>
          <a:p>
            <a:pPr indent="0" lvl="0" marL="0" marR="0" rtl="0" algn="l">
              <a:lnSpc>
                <a:spcPct val="91667"/>
              </a:lnSpc>
              <a:spcBef>
                <a:spcPts val="0"/>
              </a:spcBef>
              <a:spcAft>
                <a:spcPts val="0"/>
              </a:spcAft>
              <a:buClr>
                <a:srgbClr val="14213D"/>
              </a:buClr>
              <a:buSzPts val="3400"/>
              <a:buFont typeface="EB Garamond"/>
              <a:buNone/>
            </a:pPr>
            <a:r>
              <a:rPr b="0" i="0" lang="en-US" sz="3400" u="none" cap="none" strike="noStrike">
                <a:solidFill>
                  <a:srgbClr val="14213D"/>
                </a:solidFill>
                <a:latin typeface="EB Garamond"/>
                <a:ea typeface="EB Garamond"/>
                <a:cs typeface="EB Garamond"/>
                <a:sym typeface="EB Garamond"/>
              </a:rPr>
              <a:t>Data and cleaning</a:t>
            </a:r>
            <a:endParaRPr b="0" i="0" sz="3400" u="none" cap="none" strike="noStrike">
              <a:solidFill>
                <a:schemeClr val="dk1"/>
              </a:solidFill>
              <a:latin typeface="Calibri"/>
              <a:ea typeface="Calibri"/>
              <a:cs typeface="Calibri"/>
              <a:sym typeface="Calibri"/>
            </a:endParaRPr>
          </a:p>
        </p:txBody>
      </p:sp>
      <p:sp>
        <p:nvSpPr>
          <p:cNvPr id="34" name="Google Shape;34;p5"/>
          <p:cNvSpPr/>
          <p:nvPr/>
        </p:nvSpPr>
        <p:spPr>
          <a:xfrm>
            <a:off x="815975" y="1646535"/>
            <a:ext cx="3346450" cy="1591221"/>
          </a:xfrm>
          <a:prstGeom prst="roundRect">
            <a:avLst>
              <a:gd fmla="val 6186" name="adj"/>
            </a:avLst>
          </a:prstGeom>
          <a:solidFill>
            <a:srgbClr val="FFFFFF"/>
          </a:solidFill>
          <a:ln cap="flat" cmpd="sng" w="9525">
            <a:solidFill>
              <a:srgbClr val="DDD9C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a:off x="1073150" y="1903710"/>
            <a:ext cx="2917063" cy="528290"/>
          </a:xfrm>
          <a:prstGeom prst="rect">
            <a:avLst/>
          </a:prstGeom>
          <a:noFill/>
          <a:ln>
            <a:noFill/>
          </a:ln>
        </p:spPr>
        <p:txBody>
          <a:bodyPr anchorCtr="0" anchor="t" bIns="0" lIns="0" spcFirstLastPara="1" rIns="0" wrap="square" tIns="0">
            <a:noAutofit/>
          </a:bodyPr>
          <a:lstStyle/>
          <a:p>
            <a:pPr indent="0" lvl="0" marL="0" marR="0" rtl="0" algn="l">
              <a:lnSpc>
                <a:spcPct val="91667"/>
              </a:lnSpc>
              <a:spcBef>
                <a:spcPts val="0"/>
              </a:spcBef>
              <a:spcAft>
                <a:spcPts val="0"/>
              </a:spcAft>
              <a:buClr>
                <a:srgbClr val="1F7A8C"/>
              </a:buClr>
              <a:buSzPts val="3600"/>
              <a:buFont typeface="IBM Plex Sans"/>
              <a:buNone/>
            </a:pPr>
            <a:r>
              <a:rPr b="1" i="0" lang="en-US" sz="3600" u="none" cap="none" strike="noStrike">
                <a:solidFill>
                  <a:srgbClr val="1F7A8C"/>
                </a:solidFill>
                <a:latin typeface="IBM Plex Sans"/>
                <a:ea typeface="IBM Plex Sans"/>
                <a:cs typeface="IBM Plex Sans"/>
                <a:sym typeface="IBM Plex Sans"/>
              </a:rPr>
              <a:t>50,777</a:t>
            </a:r>
            <a:endParaRPr b="0" i="0" sz="3600" u="none" cap="none" strike="noStrike">
              <a:solidFill>
                <a:schemeClr val="dk1"/>
              </a:solidFill>
              <a:latin typeface="Calibri"/>
              <a:ea typeface="Calibri"/>
              <a:cs typeface="Calibri"/>
              <a:sym typeface="Calibri"/>
            </a:endParaRPr>
          </a:p>
        </p:txBody>
      </p:sp>
      <p:sp>
        <p:nvSpPr>
          <p:cNvPr id="36" name="Google Shape;36;p5"/>
          <p:cNvSpPr/>
          <p:nvPr/>
        </p:nvSpPr>
        <p:spPr>
          <a:xfrm>
            <a:off x="1073150" y="2482800"/>
            <a:ext cx="2917063" cy="52318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4A5568"/>
              </a:buClr>
              <a:buSzPts val="1400"/>
              <a:buFont typeface="IBM Plex Sans"/>
              <a:buNone/>
            </a:pPr>
            <a:r>
              <a:rPr b="0" i="0" lang="en-US" sz="1400" u="none" cap="none" strike="noStrike">
                <a:solidFill>
                  <a:srgbClr val="4A5568"/>
                </a:solidFill>
                <a:latin typeface="IBM Plex Sans"/>
                <a:ea typeface="IBM Plex Sans"/>
                <a:cs typeface="IBM Plex Sans"/>
                <a:sym typeface="IBM Plex Sans"/>
              </a:rPr>
              <a:t>trades kept after </a:t>
            </a:r>
            <a:r>
              <a:rPr lang="en-US">
                <a:solidFill>
                  <a:srgbClr val="4A5568"/>
                </a:solidFill>
                <a:latin typeface="IBM Plex Sans"/>
                <a:ea typeface="IBM Plex Sans"/>
                <a:cs typeface="IBM Plex Sans"/>
                <a:sym typeface="IBM Plex Sans"/>
              </a:rPr>
              <a:t>deduplication</a:t>
            </a:r>
            <a:r>
              <a:rPr b="0" i="0" lang="en-US" sz="1400" u="none" cap="none" strike="noStrike">
                <a:solidFill>
                  <a:srgbClr val="4A5568"/>
                </a:solidFill>
                <a:latin typeface="IBM Plex Sans"/>
                <a:ea typeface="IBM Plex Sans"/>
                <a:cs typeface="IBM Plex Sans"/>
                <a:sym typeface="IBM Plex Sans"/>
              </a:rPr>
              <a:t> and bot screen</a:t>
            </a:r>
            <a:endParaRPr b="0" i="0" sz="1400" u="none" cap="none" strike="noStrike">
              <a:solidFill>
                <a:schemeClr val="dk1"/>
              </a:solidFill>
              <a:latin typeface="Calibri"/>
              <a:ea typeface="Calibri"/>
              <a:cs typeface="Calibri"/>
              <a:sym typeface="Calibri"/>
            </a:endParaRPr>
          </a:p>
        </p:txBody>
      </p:sp>
      <p:sp>
        <p:nvSpPr>
          <p:cNvPr id="37" name="Google Shape;37;p5"/>
          <p:cNvSpPr/>
          <p:nvPr/>
        </p:nvSpPr>
        <p:spPr>
          <a:xfrm>
            <a:off x="4422775" y="1646535"/>
            <a:ext cx="3346450" cy="1591221"/>
          </a:xfrm>
          <a:prstGeom prst="roundRect">
            <a:avLst>
              <a:gd fmla="val 6186" name="adj"/>
            </a:avLst>
          </a:prstGeom>
          <a:solidFill>
            <a:srgbClr val="FFFFFF"/>
          </a:solidFill>
          <a:ln cap="flat" cmpd="sng" w="9525">
            <a:solidFill>
              <a:srgbClr val="DDD9C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5"/>
          <p:cNvSpPr/>
          <p:nvPr/>
        </p:nvSpPr>
        <p:spPr>
          <a:xfrm>
            <a:off x="4679950" y="1903710"/>
            <a:ext cx="2917063" cy="528290"/>
          </a:xfrm>
          <a:prstGeom prst="rect">
            <a:avLst/>
          </a:prstGeom>
          <a:noFill/>
          <a:ln>
            <a:noFill/>
          </a:ln>
        </p:spPr>
        <p:txBody>
          <a:bodyPr anchorCtr="0" anchor="t" bIns="0" lIns="0" spcFirstLastPara="1" rIns="0" wrap="square" tIns="0">
            <a:noAutofit/>
          </a:bodyPr>
          <a:lstStyle/>
          <a:p>
            <a:pPr indent="0" lvl="0" marL="0" marR="0" rtl="0" algn="l">
              <a:lnSpc>
                <a:spcPct val="91667"/>
              </a:lnSpc>
              <a:spcBef>
                <a:spcPts val="0"/>
              </a:spcBef>
              <a:spcAft>
                <a:spcPts val="0"/>
              </a:spcAft>
              <a:buClr>
                <a:srgbClr val="1F7A8C"/>
              </a:buClr>
              <a:buSzPts val="3600"/>
              <a:buFont typeface="IBM Plex Sans"/>
              <a:buNone/>
            </a:pPr>
            <a:r>
              <a:rPr b="1" i="0" lang="en-US" sz="3600" u="none" cap="none" strike="noStrike">
                <a:solidFill>
                  <a:srgbClr val="1F7A8C"/>
                </a:solidFill>
                <a:latin typeface="IBM Plex Sans"/>
                <a:ea typeface="IBM Plex Sans"/>
                <a:cs typeface="IBM Plex Sans"/>
                <a:sym typeface="IBM Plex Sans"/>
              </a:rPr>
              <a:t>15</a:t>
            </a:r>
            <a:endParaRPr b="0" i="0" sz="3600" u="none" cap="none" strike="noStrike">
              <a:solidFill>
                <a:schemeClr val="dk1"/>
              </a:solidFill>
              <a:latin typeface="Calibri"/>
              <a:ea typeface="Calibri"/>
              <a:cs typeface="Calibri"/>
              <a:sym typeface="Calibri"/>
            </a:endParaRPr>
          </a:p>
        </p:txBody>
      </p:sp>
      <p:sp>
        <p:nvSpPr>
          <p:cNvPr id="39" name="Google Shape;39;p5"/>
          <p:cNvSpPr/>
          <p:nvPr/>
        </p:nvSpPr>
        <p:spPr>
          <a:xfrm>
            <a:off x="4679950" y="2482800"/>
            <a:ext cx="2917063" cy="27429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4A5568"/>
              </a:buClr>
              <a:buSzPts val="1400"/>
              <a:buFont typeface="IBM Plex Sans"/>
              <a:buNone/>
            </a:pPr>
            <a:r>
              <a:rPr b="0" i="0" lang="en-US" sz="1400" u="none" cap="none" strike="noStrike">
                <a:solidFill>
                  <a:srgbClr val="4A5568"/>
                </a:solidFill>
                <a:latin typeface="IBM Plex Sans"/>
                <a:ea typeface="IBM Plex Sans"/>
                <a:cs typeface="IBM Plex Sans"/>
                <a:sym typeface="IBM Plex Sans"/>
              </a:rPr>
              <a:t>Yes/No markets, one per company</a:t>
            </a:r>
            <a:endParaRPr b="0" i="0" sz="1400" u="none" cap="none" strike="noStrike">
              <a:solidFill>
                <a:schemeClr val="dk1"/>
              </a:solidFill>
              <a:latin typeface="Calibri"/>
              <a:ea typeface="Calibri"/>
              <a:cs typeface="Calibri"/>
              <a:sym typeface="Calibri"/>
            </a:endParaRPr>
          </a:p>
        </p:txBody>
      </p:sp>
      <p:sp>
        <p:nvSpPr>
          <p:cNvPr id="40" name="Google Shape;40;p5"/>
          <p:cNvSpPr/>
          <p:nvPr/>
        </p:nvSpPr>
        <p:spPr>
          <a:xfrm>
            <a:off x="8029575" y="1646535"/>
            <a:ext cx="3346450" cy="1591221"/>
          </a:xfrm>
          <a:prstGeom prst="roundRect">
            <a:avLst>
              <a:gd fmla="val 6186" name="adj"/>
            </a:avLst>
          </a:prstGeom>
          <a:solidFill>
            <a:srgbClr val="FFFFFF"/>
          </a:solidFill>
          <a:ln cap="flat" cmpd="sng" w="9525">
            <a:solidFill>
              <a:srgbClr val="DDD9C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5"/>
          <p:cNvSpPr/>
          <p:nvPr/>
        </p:nvSpPr>
        <p:spPr>
          <a:xfrm>
            <a:off x="8286750" y="1903710"/>
            <a:ext cx="2917063" cy="528290"/>
          </a:xfrm>
          <a:prstGeom prst="rect">
            <a:avLst/>
          </a:prstGeom>
          <a:noFill/>
          <a:ln>
            <a:noFill/>
          </a:ln>
        </p:spPr>
        <p:txBody>
          <a:bodyPr anchorCtr="0" anchor="t" bIns="0" lIns="0" spcFirstLastPara="1" rIns="0" wrap="square" tIns="0">
            <a:noAutofit/>
          </a:bodyPr>
          <a:lstStyle/>
          <a:p>
            <a:pPr indent="0" lvl="0" marL="0" marR="0" rtl="0" algn="l">
              <a:lnSpc>
                <a:spcPct val="91667"/>
              </a:lnSpc>
              <a:spcBef>
                <a:spcPts val="0"/>
              </a:spcBef>
              <a:spcAft>
                <a:spcPts val="0"/>
              </a:spcAft>
              <a:buClr>
                <a:srgbClr val="1F7A8C"/>
              </a:buClr>
              <a:buSzPts val="3600"/>
              <a:buFont typeface="IBM Plex Sans"/>
              <a:buNone/>
            </a:pPr>
            <a:r>
              <a:rPr b="1" i="0" lang="en-US" sz="3600" u="none" cap="none" strike="noStrike">
                <a:solidFill>
                  <a:srgbClr val="1F7A8C"/>
                </a:solidFill>
                <a:latin typeface="IBM Plex Sans"/>
                <a:ea typeface="IBM Plex Sans"/>
                <a:cs typeface="IBM Plex Sans"/>
                <a:sym typeface="IBM Plex Sans"/>
              </a:rPr>
              <a:t>10,625</a:t>
            </a:r>
            <a:endParaRPr b="0" i="0" sz="3600" u="none" cap="none" strike="noStrike">
              <a:solidFill>
                <a:schemeClr val="dk1"/>
              </a:solidFill>
              <a:latin typeface="Calibri"/>
              <a:ea typeface="Calibri"/>
              <a:cs typeface="Calibri"/>
              <a:sym typeface="Calibri"/>
            </a:endParaRPr>
          </a:p>
        </p:txBody>
      </p:sp>
      <p:sp>
        <p:nvSpPr>
          <p:cNvPr id="42" name="Google Shape;42;p5"/>
          <p:cNvSpPr/>
          <p:nvPr/>
        </p:nvSpPr>
        <p:spPr>
          <a:xfrm>
            <a:off x="8286750" y="2482800"/>
            <a:ext cx="2917063" cy="27429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4A5568"/>
              </a:buClr>
              <a:buSzPts val="1400"/>
              <a:buFont typeface="IBM Plex Sans"/>
              <a:buNone/>
            </a:pPr>
            <a:r>
              <a:rPr b="0" i="0" lang="en-US" sz="1400" u="none" cap="none" strike="noStrike">
                <a:solidFill>
                  <a:srgbClr val="4A5568"/>
                </a:solidFill>
                <a:latin typeface="IBM Plex Sans"/>
                <a:ea typeface="IBM Plex Sans"/>
                <a:cs typeface="IBM Plex Sans"/>
                <a:sym typeface="IBM Plex Sans"/>
              </a:rPr>
              <a:t>wallets in the raw June pull</a:t>
            </a:r>
            <a:endParaRPr b="0" i="0" sz="1400" u="none" cap="none" strike="noStrike">
              <a:solidFill>
                <a:schemeClr val="dk1"/>
              </a:solidFill>
              <a:latin typeface="Calibri"/>
              <a:ea typeface="Calibri"/>
              <a:cs typeface="Calibri"/>
              <a:sym typeface="Calibri"/>
            </a:endParaRPr>
          </a:p>
        </p:txBody>
      </p:sp>
      <p:graphicFrame>
        <p:nvGraphicFramePr>
          <p:cNvPr id="43" name="Google Shape;43;p5"/>
          <p:cNvGraphicFramePr/>
          <p:nvPr/>
        </p:nvGraphicFramePr>
        <p:xfrm>
          <a:off x="825500" y="3609231"/>
          <a:ext cx="3000000" cy="3000000"/>
        </p:xfrm>
        <a:graphic>
          <a:graphicData uri="http://schemas.openxmlformats.org/drawingml/2006/table">
            <a:tbl>
              <a:tblPr>
                <a:noFill/>
                <a:tableStyleId>{9755984B-8548-4C51-B8A4-67813B0B79D8}</a:tableStyleId>
              </a:tblPr>
              <a:tblGrid>
                <a:gridCol w="3588250"/>
                <a:gridCol w="6965450"/>
              </a:tblGrid>
              <a:tr h="386000">
                <a:tc>
                  <a:txBody>
                    <a:bodyPr/>
                    <a:lstStyle/>
                    <a:p>
                      <a:pPr indent="0" lvl="0" marL="0" marR="0" rtl="0" algn="l">
                        <a:lnSpc>
                          <a:spcPct val="116667"/>
                        </a:lnSpc>
                        <a:spcBef>
                          <a:spcPts val="0"/>
                        </a:spcBef>
                        <a:spcAft>
                          <a:spcPts val="0"/>
                        </a:spcAft>
                        <a:buClr>
                          <a:srgbClr val="14213D"/>
                        </a:buClr>
                        <a:buSzPts val="1400"/>
                        <a:buFont typeface="IBM Plex Sans"/>
                        <a:buNone/>
                      </a:pPr>
                      <a:r>
                        <a:rPr b="1" lang="en-US" sz="1400" u="none" cap="none" strike="noStrike">
                          <a:solidFill>
                            <a:srgbClr val="14213D"/>
                          </a:solidFill>
                          <a:latin typeface="IBM Plex Sans"/>
                          <a:ea typeface="IBM Plex Sans"/>
                          <a:cs typeface="IBM Plex Sans"/>
                          <a:sym typeface="IBM Plex Sans"/>
                        </a:rPr>
                        <a:t>Step</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C3BE"/>
                      </a:solidFill>
                      <a:prstDash val="solid"/>
                      <a:round/>
                      <a:headEnd len="sm" w="sm" type="none"/>
                      <a:tailEnd len="sm" w="sm" type="none"/>
                    </a:lnL>
                    <a:lnR cap="flat" cmpd="sng" w="12700">
                      <a:solidFill>
                        <a:srgbClr val="B6B5B0"/>
                      </a:solidFill>
                      <a:prstDash val="solid"/>
                      <a:round/>
                      <a:headEnd len="sm" w="sm" type="none"/>
                      <a:tailEnd len="sm" w="sm" type="none"/>
                    </a:lnR>
                    <a:lnT cap="flat" cmpd="sng" w="12700">
                      <a:solidFill>
                        <a:srgbClr val="C4C3BE"/>
                      </a:solidFill>
                      <a:prstDash val="solid"/>
                      <a:round/>
                      <a:headEnd len="sm" w="sm" type="none"/>
                      <a:tailEnd len="sm" w="sm" type="none"/>
                    </a:lnT>
                    <a:lnB cap="flat" cmpd="sng" w="12700">
                      <a:solidFill>
                        <a:srgbClr val="B6B5B0"/>
                      </a:solidFill>
                      <a:prstDash val="solid"/>
                      <a:round/>
                      <a:headEnd len="sm" w="sm" type="none"/>
                      <a:tailEnd len="sm" w="sm" type="none"/>
                    </a:lnB>
                    <a:solidFill>
                      <a:srgbClr val="E4E2DC"/>
                    </a:solidFill>
                  </a:tcPr>
                </a:tc>
                <a:tc>
                  <a:txBody>
                    <a:bodyPr/>
                    <a:lstStyle/>
                    <a:p>
                      <a:pPr indent="0" lvl="0" marL="0" marR="0" rtl="0" algn="l">
                        <a:lnSpc>
                          <a:spcPct val="116667"/>
                        </a:lnSpc>
                        <a:spcBef>
                          <a:spcPts val="0"/>
                        </a:spcBef>
                        <a:spcAft>
                          <a:spcPts val="0"/>
                        </a:spcAft>
                        <a:buClr>
                          <a:srgbClr val="14213D"/>
                        </a:buClr>
                        <a:buSzPts val="1400"/>
                        <a:buFont typeface="IBM Plex Sans"/>
                        <a:buNone/>
                      </a:pPr>
                      <a:r>
                        <a:rPr b="1" lang="en-US" sz="1400" u="none" cap="none" strike="noStrike">
                          <a:solidFill>
                            <a:srgbClr val="14213D"/>
                          </a:solidFill>
                          <a:latin typeface="IBM Plex Sans"/>
                          <a:ea typeface="IBM Plex Sans"/>
                          <a:cs typeface="IBM Plex Sans"/>
                          <a:sym typeface="IBM Plex Sans"/>
                        </a:rPr>
                        <a:t>What </a:t>
                      </a:r>
                      <a:r>
                        <a:rPr b="1" lang="en-US">
                          <a:solidFill>
                            <a:srgbClr val="14213D"/>
                          </a:solidFill>
                          <a:latin typeface="IBM Plex Sans"/>
                          <a:ea typeface="IBM Plex Sans"/>
                          <a:cs typeface="IBM Plex Sans"/>
                          <a:sym typeface="IBM Plex Sans"/>
                        </a:rPr>
                        <a:t>I</a:t>
                      </a:r>
                      <a:r>
                        <a:rPr b="1" lang="en-US" sz="1400" u="none" cap="none" strike="noStrike">
                          <a:solidFill>
                            <a:srgbClr val="14213D"/>
                          </a:solidFill>
                          <a:latin typeface="IBM Plex Sans"/>
                          <a:ea typeface="IBM Plex Sans"/>
                          <a:cs typeface="IBM Plex Sans"/>
                          <a:sym typeface="IBM Plex Sans"/>
                        </a:rPr>
                        <a:t> did</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B6B5B0"/>
                      </a:solidFill>
                      <a:prstDash val="solid"/>
                      <a:round/>
                      <a:headEnd len="sm" w="sm" type="none"/>
                      <a:tailEnd len="sm" w="sm" type="none"/>
                    </a:lnL>
                    <a:lnR cap="flat" cmpd="sng" w="12700">
                      <a:solidFill>
                        <a:srgbClr val="B6B5B0"/>
                      </a:solidFill>
                      <a:prstDash val="solid"/>
                      <a:round/>
                      <a:headEnd len="sm" w="sm" type="none"/>
                      <a:tailEnd len="sm" w="sm" type="none"/>
                    </a:lnR>
                    <a:lnT cap="flat" cmpd="sng" w="12700">
                      <a:solidFill>
                        <a:srgbClr val="C4C3BE"/>
                      </a:solidFill>
                      <a:prstDash val="solid"/>
                      <a:round/>
                      <a:headEnd len="sm" w="sm" type="none"/>
                      <a:tailEnd len="sm" w="sm" type="none"/>
                    </a:lnT>
                    <a:lnB cap="flat" cmpd="sng" w="12700">
                      <a:solidFill>
                        <a:srgbClr val="B6B5B0"/>
                      </a:solidFill>
                      <a:prstDash val="solid"/>
                      <a:round/>
                      <a:headEnd len="sm" w="sm" type="none"/>
                      <a:tailEnd len="sm" w="sm" type="none"/>
                    </a:lnB>
                    <a:solidFill>
                      <a:srgbClr val="E4E2DC"/>
                    </a:solidFill>
                  </a:tcPr>
                </a:tc>
              </a:tr>
              <a:tr h="386000">
                <a:tc>
                  <a:txBody>
                    <a:bodyPr/>
                    <a:lstStyle/>
                    <a:p>
                      <a:pPr indent="0" lvl="0" marL="0" marR="0" rtl="0" algn="l">
                        <a:lnSpc>
                          <a:spcPct val="116667"/>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Source</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C3BE"/>
                      </a:solidFill>
                      <a:prstDash val="solid"/>
                      <a:round/>
                      <a:headEnd len="sm" w="sm" type="none"/>
                      <a:tailEnd len="sm" w="sm" type="none"/>
                    </a:lnL>
                    <a:lnR cap="flat" cmpd="sng" w="12700">
                      <a:solidFill>
                        <a:srgbClr val="C4C3BE"/>
                      </a:solidFill>
                      <a:prstDash val="solid"/>
                      <a:round/>
                      <a:headEnd len="sm" w="sm" type="none"/>
                      <a:tailEnd len="sm" w="sm" type="none"/>
                    </a:lnR>
                    <a:lnT cap="flat" cmpd="sng" w="12700">
                      <a:solidFill>
                        <a:srgbClr val="B6B5B0"/>
                      </a:solidFill>
                      <a:prstDash val="solid"/>
                      <a:round/>
                      <a:headEnd len="sm" w="sm" type="none"/>
                      <a:tailEnd len="sm" w="sm" type="none"/>
                    </a:lnT>
                    <a:lnB cap="flat" cmpd="sng" w="12700">
                      <a:solidFill>
                        <a:srgbClr val="C4C3BE"/>
                      </a:solidFill>
                      <a:prstDash val="solid"/>
                      <a:round/>
                      <a:headEnd len="sm" w="sm" type="none"/>
                      <a:tailEnd len="sm" w="sm" type="none"/>
                    </a:lnB>
                  </a:tcPr>
                </a:tc>
                <a:tc>
                  <a:txBody>
                    <a:bodyPr/>
                    <a:lstStyle/>
                    <a:p>
                      <a:pPr indent="0" lvl="0" marL="0" marR="0" rtl="0" algn="l">
                        <a:lnSpc>
                          <a:spcPct val="116667"/>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June 2026 wallet trades joined to the event’s 15 markets </a:t>
                      </a:r>
                      <a:r>
                        <a:rPr lang="en-US">
                          <a:solidFill>
                            <a:srgbClr val="14213D"/>
                          </a:solidFill>
                          <a:latin typeface="IBM Plex Sans"/>
                          <a:ea typeface="IBM Plex Sans"/>
                          <a:cs typeface="IBM Plex Sans"/>
                          <a:sym typeface="IBM Plex Sans"/>
                        </a:rPr>
                        <a:t>( Which company best AI?)</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C3BE"/>
                      </a:solidFill>
                      <a:prstDash val="solid"/>
                      <a:round/>
                      <a:headEnd len="sm" w="sm" type="none"/>
                      <a:tailEnd len="sm" w="sm" type="none"/>
                    </a:lnL>
                    <a:lnR cap="flat" cmpd="sng" w="12700">
                      <a:solidFill>
                        <a:srgbClr val="C4C3BE"/>
                      </a:solidFill>
                      <a:prstDash val="solid"/>
                      <a:round/>
                      <a:headEnd len="sm" w="sm" type="none"/>
                      <a:tailEnd len="sm" w="sm" type="none"/>
                    </a:lnR>
                    <a:lnT cap="flat" cmpd="sng" w="12700">
                      <a:solidFill>
                        <a:srgbClr val="B6B5B0"/>
                      </a:solidFill>
                      <a:prstDash val="solid"/>
                      <a:round/>
                      <a:headEnd len="sm" w="sm" type="none"/>
                      <a:tailEnd len="sm" w="sm" type="none"/>
                    </a:lnT>
                    <a:lnB cap="flat" cmpd="sng" w="12700">
                      <a:solidFill>
                        <a:srgbClr val="C4C3BE"/>
                      </a:solidFill>
                      <a:prstDash val="solid"/>
                      <a:round/>
                      <a:headEnd len="sm" w="sm" type="none"/>
                      <a:tailEnd len="sm" w="sm" type="none"/>
                    </a:lnB>
                  </a:tcPr>
                </a:tc>
              </a:tr>
              <a:tr h="386000">
                <a:tc>
                  <a:txBody>
                    <a:bodyPr/>
                    <a:lstStyle/>
                    <a:p>
                      <a:pPr indent="0" lvl="0" marL="0" marR="0" rtl="0" algn="l">
                        <a:lnSpc>
                          <a:spcPct val="116667"/>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Audit</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C3BE"/>
                      </a:solidFill>
                      <a:prstDash val="solid"/>
                      <a:round/>
                      <a:headEnd len="sm" w="sm" type="none"/>
                      <a:tailEnd len="sm" w="sm" type="none"/>
                    </a:lnL>
                    <a:lnR cap="flat" cmpd="sng" w="12700">
                      <a:solidFill>
                        <a:srgbClr val="C4C3BE"/>
                      </a:solidFill>
                      <a:prstDash val="solid"/>
                      <a:round/>
                      <a:headEnd len="sm" w="sm" type="none"/>
                      <a:tailEnd len="sm" w="sm" type="none"/>
                    </a:lnR>
                    <a:lnT cap="flat" cmpd="sng" w="12700">
                      <a:solidFill>
                        <a:srgbClr val="C4C3BE"/>
                      </a:solidFill>
                      <a:prstDash val="solid"/>
                      <a:round/>
                      <a:headEnd len="sm" w="sm" type="none"/>
                      <a:tailEnd len="sm" w="sm" type="none"/>
                    </a:lnT>
                    <a:lnB cap="flat" cmpd="sng" w="12700">
                      <a:solidFill>
                        <a:srgbClr val="C4C3BE"/>
                      </a:solidFill>
                      <a:prstDash val="solid"/>
                      <a:round/>
                      <a:headEnd len="sm" w="sm" type="none"/>
                      <a:tailEnd len="sm" w="sm" type="none"/>
                    </a:lnB>
                  </a:tcPr>
                </a:tc>
                <a:tc>
                  <a:txBody>
                    <a:bodyPr/>
                    <a:lstStyle/>
                    <a:p>
                      <a:pPr indent="0" lvl="0" marL="0" marR="0" rtl="0" algn="l">
                        <a:lnSpc>
                          <a:spcPct val="116667"/>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No missing fields; 416 fully identical rows (0.67%) removed from 61,829</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C3BE"/>
                      </a:solidFill>
                      <a:prstDash val="solid"/>
                      <a:round/>
                      <a:headEnd len="sm" w="sm" type="none"/>
                      <a:tailEnd len="sm" w="sm" type="none"/>
                    </a:lnL>
                    <a:lnR cap="flat" cmpd="sng" w="12700">
                      <a:solidFill>
                        <a:srgbClr val="C4C3BE"/>
                      </a:solidFill>
                      <a:prstDash val="solid"/>
                      <a:round/>
                      <a:headEnd len="sm" w="sm" type="none"/>
                      <a:tailEnd len="sm" w="sm" type="none"/>
                    </a:lnR>
                    <a:lnT cap="flat" cmpd="sng" w="12700">
                      <a:solidFill>
                        <a:srgbClr val="C4C3BE"/>
                      </a:solidFill>
                      <a:prstDash val="solid"/>
                      <a:round/>
                      <a:headEnd len="sm" w="sm" type="none"/>
                      <a:tailEnd len="sm" w="sm" type="none"/>
                    </a:lnT>
                    <a:lnB cap="flat" cmpd="sng" w="12700">
                      <a:solidFill>
                        <a:srgbClr val="C4C3BE"/>
                      </a:solidFill>
                      <a:prstDash val="solid"/>
                      <a:round/>
                      <a:headEnd len="sm" w="sm" type="none"/>
                      <a:tailEnd len="sm" w="sm" type="none"/>
                    </a:lnB>
                  </a:tcPr>
                </a:tc>
              </a:tr>
              <a:tr h="386000">
                <a:tc>
                  <a:txBody>
                    <a:bodyPr/>
                    <a:lstStyle/>
                    <a:p>
                      <a:pPr indent="0" lvl="0" marL="0" marR="0" rtl="0" algn="l">
                        <a:lnSpc>
                          <a:spcPct val="116667"/>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Remove likely bots</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C3BE"/>
                      </a:solidFill>
                      <a:prstDash val="solid"/>
                      <a:round/>
                      <a:headEnd len="sm" w="sm" type="none"/>
                      <a:tailEnd len="sm" w="sm" type="none"/>
                    </a:lnL>
                    <a:lnR cap="flat" cmpd="sng" w="12700">
                      <a:solidFill>
                        <a:srgbClr val="C4C3BE"/>
                      </a:solidFill>
                      <a:prstDash val="solid"/>
                      <a:round/>
                      <a:headEnd len="sm" w="sm" type="none"/>
                      <a:tailEnd len="sm" w="sm" type="none"/>
                    </a:lnR>
                    <a:lnT cap="flat" cmpd="sng" w="12700">
                      <a:solidFill>
                        <a:srgbClr val="C4C3BE"/>
                      </a:solidFill>
                      <a:prstDash val="solid"/>
                      <a:round/>
                      <a:headEnd len="sm" w="sm" type="none"/>
                      <a:tailEnd len="sm" w="sm" type="none"/>
                    </a:lnT>
                    <a:lnB cap="flat" cmpd="sng" w="12700">
                      <a:solidFill>
                        <a:srgbClr val="C4C3BE"/>
                      </a:solidFill>
                      <a:prstDash val="solid"/>
                      <a:round/>
                      <a:headEnd len="sm" w="sm" type="none"/>
                      <a:tailEnd len="sm" w="sm" type="none"/>
                    </a:lnB>
                  </a:tcPr>
                </a:tc>
                <a:tc>
                  <a:txBody>
                    <a:bodyPr/>
                    <a:lstStyle/>
                    <a:p>
                      <a:pPr indent="0" lvl="0" marL="0" marR="0" rtl="0" algn="l">
                        <a:lnSpc>
                          <a:spcPct val="116667"/>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3 wallets with 2,000 or more trades removed (10,636 rows), leaving 50,777</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C3BE"/>
                      </a:solidFill>
                      <a:prstDash val="solid"/>
                      <a:round/>
                      <a:headEnd len="sm" w="sm" type="none"/>
                      <a:tailEnd len="sm" w="sm" type="none"/>
                    </a:lnL>
                    <a:lnR cap="flat" cmpd="sng" w="12700">
                      <a:solidFill>
                        <a:srgbClr val="C4C3BE"/>
                      </a:solidFill>
                      <a:prstDash val="solid"/>
                      <a:round/>
                      <a:headEnd len="sm" w="sm" type="none"/>
                      <a:tailEnd len="sm" w="sm" type="none"/>
                    </a:lnR>
                    <a:lnT cap="flat" cmpd="sng" w="12700">
                      <a:solidFill>
                        <a:srgbClr val="C4C3BE"/>
                      </a:solidFill>
                      <a:prstDash val="solid"/>
                      <a:round/>
                      <a:headEnd len="sm" w="sm" type="none"/>
                      <a:tailEnd len="sm" w="sm" type="none"/>
                    </a:lnT>
                    <a:lnB cap="flat" cmpd="sng" w="12700">
                      <a:solidFill>
                        <a:srgbClr val="C4C3BE"/>
                      </a:solidFill>
                      <a:prstDash val="solid"/>
                      <a:round/>
                      <a:headEnd len="sm" w="sm" type="none"/>
                      <a:tailEnd len="sm" w="sm" type="none"/>
                    </a:lnB>
                  </a:tcPr>
                </a:tc>
              </a:tr>
              <a:tr h="386000">
                <a:tc>
                  <a:txBody>
                    <a:bodyPr/>
                    <a:lstStyle/>
                    <a:p>
                      <a:pPr indent="0" lvl="0" marL="0" marR="0" rtl="0" algn="l">
                        <a:lnSpc>
                          <a:spcPct val="116667"/>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Kept</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C3BE"/>
                      </a:solidFill>
                      <a:prstDash val="solid"/>
                      <a:round/>
                      <a:headEnd len="sm" w="sm" type="none"/>
                      <a:tailEnd len="sm" w="sm" type="none"/>
                    </a:lnL>
                    <a:lnR cap="flat" cmpd="sng" w="12700">
                      <a:solidFill>
                        <a:srgbClr val="C4C3BE"/>
                      </a:solidFill>
                      <a:prstDash val="solid"/>
                      <a:round/>
                      <a:headEnd len="sm" w="sm" type="none"/>
                      <a:tailEnd len="sm" w="sm" type="none"/>
                    </a:lnR>
                    <a:lnT cap="flat" cmpd="sng" w="12700">
                      <a:solidFill>
                        <a:srgbClr val="C4C3BE"/>
                      </a:solidFill>
                      <a:prstDash val="solid"/>
                      <a:round/>
                      <a:headEnd len="sm" w="sm" type="none"/>
                      <a:tailEnd len="sm" w="sm" type="none"/>
                    </a:lnT>
                    <a:lnB cap="flat" cmpd="sng" w="12700">
                      <a:solidFill>
                        <a:srgbClr val="C4C3BE"/>
                      </a:solidFill>
                      <a:prstDash val="solid"/>
                      <a:round/>
                      <a:headEnd len="sm" w="sm" type="none"/>
                      <a:tailEnd len="sm" w="sm" type="none"/>
                    </a:lnB>
                  </a:tcPr>
                </a:tc>
                <a:tc>
                  <a:txBody>
                    <a:bodyPr/>
                    <a:lstStyle/>
                    <a:p>
                      <a:pPr indent="0" lvl="0" marL="0" marR="0" rtl="0" algn="l">
                        <a:lnSpc>
                          <a:spcPct val="116667"/>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Same wallet, market and time with different size or price is real, so it stays</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C3BE"/>
                      </a:solidFill>
                      <a:prstDash val="solid"/>
                      <a:round/>
                      <a:headEnd len="sm" w="sm" type="none"/>
                      <a:tailEnd len="sm" w="sm" type="none"/>
                    </a:lnL>
                    <a:lnR cap="flat" cmpd="sng" w="12700">
                      <a:solidFill>
                        <a:srgbClr val="C4C3BE"/>
                      </a:solidFill>
                      <a:prstDash val="solid"/>
                      <a:round/>
                      <a:headEnd len="sm" w="sm" type="none"/>
                      <a:tailEnd len="sm" w="sm" type="none"/>
                    </a:lnR>
                    <a:lnT cap="flat" cmpd="sng" w="12700">
                      <a:solidFill>
                        <a:srgbClr val="C4C3BE"/>
                      </a:solidFill>
                      <a:prstDash val="solid"/>
                      <a:round/>
                      <a:headEnd len="sm" w="sm" type="none"/>
                      <a:tailEnd len="sm" w="sm" type="none"/>
                    </a:lnT>
                    <a:lnB cap="flat" cmpd="sng" w="12700">
                      <a:solidFill>
                        <a:srgbClr val="C4C3BE"/>
                      </a:solidFill>
                      <a:prstDash val="solid"/>
                      <a:round/>
                      <a:headEnd len="sm" w="sm" type="none"/>
                      <a:tailEnd len="sm" w="sm" type="none"/>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EE"/>
        </a:solidFill>
      </p:bgPr>
    </p:bg>
    <p:spTree>
      <p:nvGrpSpPr>
        <p:cNvPr id="48" name="Shape 48"/>
        <p:cNvGrpSpPr/>
        <p:nvPr/>
      </p:nvGrpSpPr>
      <p:grpSpPr>
        <a:xfrm>
          <a:off x="0" y="0"/>
          <a:ext cx="0" cy="0"/>
          <a:chOff x="0" y="0"/>
          <a:chExt cx="0" cy="0"/>
        </a:xfrm>
      </p:grpSpPr>
      <p:sp>
        <p:nvSpPr>
          <p:cNvPr id="49" name="Google Shape;49;p6"/>
          <p:cNvSpPr/>
          <p:nvPr/>
        </p:nvSpPr>
        <p:spPr>
          <a:xfrm>
            <a:off x="812800" y="812800"/>
            <a:ext cx="10883392" cy="975320"/>
          </a:xfrm>
          <a:prstGeom prst="rect">
            <a:avLst/>
          </a:prstGeom>
          <a:noFill/>
          <a:ln>
            <a:noFill/>
          </a:ln>
        </p:spPr>
        <p:txBody>
          <a:bodyPr anchorCtr="0" anchor="t" bIns="0" lIns="0" spcFirstLastPara="1" rIns="0" wrap="square" tIns="0">
            <a:noAutofit/>
          </a:bodyPr>
          <a:lstStyle/>
          <a:p>
            <a:pPr indent="0" lvl="0" marL="0" marR="0" rtl="0" algn="l">
              <a:lnSpc>
                <a:spcPct val="91667"/>
              </a:lnSpc>
              <a:spcBef>
                <a:spcPts val="0"/>
              </a:spcBef>
              <a:spcAft>
                <a:spcPts val="0"/>
              </a:spcAft>
              <a:buClr>
                <a:srgbClr val="14213D"/>
              </a:buClr>
              <a:buSzPts val="3400"/>
              <a:buFont typeface="EB Garamond"/>
              <a:buNone/>
            </a:pPr>
            <a:r>
              <a:rPr b="0" i="0" lang="en-US" sz="3400" u="none" cap="none" strike="noStrike">
                <a:solidFill>
                  <a:srgbClr val="14213D"/>
                </a:solidFill>
                <a:latin typeface="EB Garamond"/>
                <a:ea typeface="EB Garamond"/>
                <a:cs typeface="EB Garamond"/>
                <a:sym typeface="EB Garamond"/>
              </a:rPr>
              <a:t>Cleaning step: remove likely bots (3 wallets, 41.7% of BUY dollars)</a:t>
            </a:r>
            <a:endParaRPr b="0" i="0" sz="3400" u="none" cap="none" strike="noStrike">
              <a:solidFill>
                <a:schemeClr val="dk1"/>
              </a:solidFill>
              <a:latin typeface="Calibri"/>
              <a:ea typeface="Calibri"/>
              <a:cs typeface="Calibri"/>
              <a:sym typeface="Calibri"/>
            </a:endParaRPr>
          </a:p>
        </p:txBody>
      </p:sp>
      <p:sp>
        <p:nvSpPr>
          <p:cNvPr id="50" name="Google Shape;50;p6"/>
          <p:cNvSpPr/>
          <p:nvPr/>
        </p:nvSpPr>
        <p:spPr>
          <a:xfrm>
            <a:off x="815975" y="2070695"/>
            <a:ext cx="3346450" cy="1591221"/>
          </a:xfrm>
          <a:prstGeom prst="roundRect">
            <a:avLst>
              <a:gd fmla="val 6186" name="adj"/>
            </a:avLst>
          </a:prstGeom>
          <a:solidFill>
            <a:srgbClr val="FFFFFF"/>
          </a:solidFill>
          <a:ln cap="flat" cmpd="sng" w="9525">
            <a:solidFill>
              <a:srgbClr val="DDD9C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6"/>
          <p:cNvSpPr/>
          <p:nvPr/>
        </p:nvSpPr>
        <p:spPr>
          <a:xfrm>
            <a:off x="1073150" y="2327870"/>
            <a:ext cx="2917063" cy="528290"/>
          </a:xfrm>
          <a:prstGeom prst="rect">
            <a:avLst/>
          </a:prstGeom>
          <a:noFill/>
          <a:ln>
            <a:noFill/>
          </a:ln>
        </p:spPr>
        <p:txBody>
          <a:bodyPr anchorCtr="0" anchor="t" bIns="0" lIns="0" spcFirstLastPara="1" rIns="0" wrap="square" tIns="0">
            <a:noAutofit/>
          </a:bodyPr>
          <a:lstStyle/>
          <a:p>
            <a:pPr indent="0" lvl="0" marL="0" marR="0" rtl="0" algn="l">
              <a:lnSpc>
                <a:spcPct val="91667"/>
              </a:lnSpc>
              <a:spcBef>
                <a:spcPts val="0"/>
              </a:spcBef>
              <a:spcAft>
                <a:spcPts val="0"/>
              </a:spcAft>
              <a:buClr>
                <a:srgbClr val="1F7A8C"/>
              </a:buClr>
              <a:buSzPts val="3600"/>
              <a:buFont typeface="IBM Plex Sans"/>
              <a:buNone/>
            </a:pPr>
            <a:r>
              <a:rPr b="1" i="0" lang="en-US" sz="3600" u="none" cap="none" strike="noStrike">
                <a:solidFill>
                  <a:srgbClr val="1F7A8C"/>
                </a:solidFill>
                <a:latin typeface="IBM Plex Sans"/>
                <a:ea typeface="IBM Plex Sans"/>
                <a:cs typeface="IBM Plex Sans"/>
                <a:sym typeface="IBM Plex Sans"/>
              </a:rPr>
              <a:t>3</a:t>
            </a:r>
            <a:endParaRPr b="0" i="0" sz="3600" u="none" cap="none" strike="noStrike">
              <a:solidFill>
                <a:schemeClr val="dk1"/>
              </a:solidFill>
              <a:latin typeface="Calibri"/>
              <a:ea typeface="Calibri"/>
              <a:cs typeface="Calibri"/>
              <a:sym typeface="Calibri"/>
            </a:endParaRPr>
          </a:p>
        </p:txBody>
      </p:sp>
      <p:sp>
        <p:nvSpPr>
          <p:cNvPr id="52" name="Google Shape;52;p6"/>
          <p:cNvSpPr/>
          <p:nvPr/>
        </p:nvSpPr>
        <p:spPr>
          <a:xfrm>
            <a:off x="1073150" y="2906961"/>
            <a:ext cx="2917063" cy="52318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4A5568"/>
              </a:buClr>
              <a:buSzPts val="1400"/>
              <a:buFont typeface="IBM Plex Sans"/>
              <a:buNone/>
            </a:pPr>
            <a:r>
              <a:rPr b="0" i="0" lang="en-US" sz="1400" u="none" cap="none" strike="noStrike">
                <a:solidFill>
                  <a:srgbClr val="4A5568"/>
                </a:solidFill>
                <a:latin typeface="IBM Plex Sans"/>
                <a:ea typeface="IBM Plex Sans"/>
                <a:cs typeface="IBM Plex Sans"/>
                <a:sym typeface="IBM Plex Sans"/>
              </a:rPr>
              <a:t>wallets with 2,000 or more trades; 8 have 1,000 or more</a:t>
            </a:r>
            <a:endParaRPr b="0" i="0" sz="1400" u="none" cap="none" strike="noStrike">
              <a:solidFill>
                <a:schemeClr val="dk1"/>
              </a:solidFill>
              <a:latin typeface="Calibri"/>
              <a:ea typeface="Calibri"/>
              <a:cs typeface="Calibri"/>
              <a:sym typeface="Calibri"/>
            </a:endParaRPr>
          </a:p>
        </p:txBody>
      </p:sp>
      <p:sp>
        <p:nvSpPr>
          <p:cNvPr id="53" name="Google Shape;53;p6"/>
          <p:cNvSpPr/>
          <p:nvPr/>
        </p:nvSpPr>
        <p:spPr>
          <a:xfrm>
            <a:off x="4422775" y="2070695"/>
            <a:ext cx="3346450" cy="1591221"/>
          </a:xfrm>
          <a:prstGeom prst="roundRect">
            <a:avLst>
              <a:gd fmla="val 6186" name="adj"/>
            </a:avLst>
          </a:prstGeom>
          <a:solidFill>
            <a:srgbClr val="FFFFFF"/>
          </a:solidFill>
          <a:ln cap="flat" cmpd="sng" w="9525">
            <a:solidFill>
              <a:srgbClr val="DDD9C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6"/>
          <p:cNvSpPr/>
          <p:nvPr/>
        </p:nvSpPr>
        <p:spPr>
          <a:xfrm>
            <a:off x="4679950" y="2327870"/>
            <a:ext cx="2917063" cy="528290"/>
          </a:xfrm>
          <a:prstGeom prst="rect">
            <a:avLst/>
          </a:prstGeom>
          <a:noFill/>
          <a:ln>
            <a:noFill/>
          </a:ln>
        </p:spPr>
        <p:txBody>
          <a:bodyPr anchorCtr="0" anchor="t" bIns="0" lIns="0" spcFirstLastPara="1" rIns="0" wrap="square" tIns="0">
            <a:noAutofit/>
          </a:bodyPr>
          <a:lstStyle/>
          <a:p>
            <a:pPr indent="0" lvl="0" marL="0" marR="0" rtl="0" algn="l">
              <a:lnSpc>
                <a:spcPct val="91667"/>
              </a:lnSpc>
              <a:spcBef>
                <a:spcPts val="0"/>
              </a:spcBef>
              <a:spcAft>
                <a:spcPts val="0"/>
              </a:spcAft>
              <a:buClr>
                <a:srgbClr val="1F7A8C"/>
              </a:buClr>
              <a:buSzPts val="3600"/>
              <a:buFont typeface="IBM Plex Sans"/>
              <a:buNone/>
            </a:pPr>
            <a:r>
              <a:rPr b="1" i="0" lang="en-US" sz="3600" u="none" cap="none" strike="noStrike">
                <a:solidFill>
                  <a:srgbClr val="1F7A8C"/>
                </a:solidFill>
                <a:latin typeface="IBM Plex Sans"/>
                <a:ea typeface="IBM Plex Sans"/>
                <a:cs typeface="IBM Plex Sans"/>
                <a:sym typeface="IBM Plex Sans"/>
              </a:rPr>
              <a:t>17.3%</a:t>
            </a:r>
            <a:endParaRPr b="0" i="0" sz="3600" u="none" cap="none" strike="noStrike">
              <a:solidFill>
                <a:schemeClr val="dk1"/>
              </a:solidFill>
              <a:latin typeface="Calibri"/>
              <a:ea typeface="Calibri"/>
              <a:cs typeface="Calibri"/>
              <a:sym typeface="Calibri"/>
            </a:endParaRPr>
          </a:p>
        </p:txBody>
      </p:sp>
      <p:sp>
        <p:nvSpPr>
          <p:cNvPr id="55" name="Google Shape;55;p6"/>
          <p:cNvSpPr/>
          <p:nvPr/>
        </p:nvSpPr>
        <p:spPr>
          <a:xfrm>
            <a:off x="4679950" y="2906961"/>
            <a:ext cx="2917063" cy="52318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4A5568"/>
              </a:buClr>
              <a:buSzPts val="1400"/>
              <a:buFont typeface="IBM Plex Sans"/>
              <a:buNone/>
            </a:pPr>
            <a:r>
              <a:rPr b="0" i="0" lang="en-US" sz="1400" u="none" cap="none" strike="noStrike">
                <a:solidFill>
                  <a:srgbClr val="4A5568"/>
                </a:solidFill>
                <a:latin typeface="IBM Plex Sans"/>
                <a:ea typeface="IBM Plex Sans"/>
                <a:cs typeface="IBM Plex Sans"/>
                <a:sym typeface="IBM Plex Sans"/>
              </a:rPr>
              <a:t>of all trade rows (10,636 of 61,413) come from those three</a:t>
            </a:r>
            <a:endParaRPr b="0" i="0" sz="1400" u="none" cap="none" strike="noStrike">
              <a:solidFill>
                <a:schemeClr val="dk1"/>
              </a:solidFill>
              <a:latin typeface="Calibri"/>
              <a:ea typeface="Calibri"/>
              <a:cs typeface="Calibri"/>
              <a:sym typeface="Calibri"/>
            </a:endParaRPr>
          </a:p>
        </p:txBody>
      </p:sp>
      <p:sp>
        <p:nvSpPr>
          <p:cNvPr id="56" name="Google Shape;56;p6"/>
          <p:cNvSpPr/>
          <p:nvPr/>
        </p:nvSpPr>
        <p:spPr>
          <a:xfrm>
            <a:off x="8029575" y="2070695"/>
            <a:ext cx="3346450" cy="1591221"/>
          </a:xfrm>
          <a:prstGeom prst="roundRect">
            <a:avLst>
              <a:gd fmla="val 6186" name="adj"/>
            </a:avLst>
          </a:prstGeom>
          <a:solidFill>
            <a:srgbClr val="FFFFFF"/>
          </a:solidFill>
          <a:ln cap="flat" cmpd="sng" w="9525">
            <a:solidFill>
              <a:srgbClr val="DDD9C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6"/>
          <p:cNvSpPr/>
          <p:nvPr/>
        </p:nvSpPr>
        <p:spPr>
          <a:xfrm>
            <a:off x="8286750" y="2327870"/>
            <a:ext cx="2917063" cy="528290"/>
          </a:xfrm>
          <a:prstGeom prst="rect">
            <a:avLst/>
          </a:prstGeom>
          <a:noFill/>
          <a:ln>
            <a:noFill/>
          </a:ln>
        </p:spPr>
        <p:txBody>
          <a:bodyPr anchorCtr="0" anchor="t" bIns="0" lIns="0" spcFirstLastPara="1" rIns="0" wrap="square" tIns="0">
            <a:noAutofit/>
          </a:bodyPr>
          <a:lstStyle/>
          <a:p>
            <a:pPr indent="0" lvl="0" marL="0" marR="0" rtl="0" algn="l">
              <a:lnSpc>
                <a:spcPct val="91667"/>
              </a:lnSpc>
              <a:spcBef>
                <a:spcPts val="0"/>
              </a:spcBef>
              <a:spcAft>
                <a:spcPts val="0"/>
              </a:spcAft>
              <a:buClr>
                <a:srgbClr val="1F7A8C"/>
              </a:buClr>
              <a:buSzPts val="3600"/>
              <a:buFont typeface="IBM Plex Sans"/>
              <a:buNone/>
            </a:pPr>
            <a:r>
              <a:rPr b="1" i="0" lang="en-US" sz="3600" u="none" cap="none" strike="noStrike">
                <a:solidFill>
                  <a:srgbClr val="1F7A8C"/>
                </a:solidFill>
                <a:latin typeface="IBM Plex Sans"/>
                <a:ea typeface="IBM Plex Sans"/>
                <a:cs typeface="IBM Plex Sans"/>
                <a:sym typeface="IBM Plex Sans"/>
              </a:rPr>
              <a:t>41.7%</a:t>
            </a:r>
            <a:endParaRPr b="0" i="0" sz="3600" u="none" cap="none" strike="noStrike">
              <a:solidFill>
                <a:schemeClr val="dk1"/>
              </a:solidFill>
              <a:latin typeface="Calibri"/>
              <a:ea typeface="Calibri"/>
              <a:cs typeface="Calibri"/>
              <a:sym typeface="Calibri"/>
            </a:endParaRPr>
          </a:p>
        </p:txBody>
      </p:sp>
      <p:sp>
        <p:nvSpPr>
          <p:cNvPr id="58" name="Google Shape;58;p6"/>
          <p:cNvSpPr/>
          <p:nvPr/>
        </p:nvSpPr>
        <p:spPr>
          <a:xfrm>
            <a:off x="8286750" y="2906961"/>
            <a:ext cx="2917063" cy="52318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4A5568"/>
              </a:buClr>
              <a:buSzPts val="1400"/>
              <a:buFont typeface="IBM Plex Sans"/>
              <a:buNone/>
            </a:pPr>
            <a:r>
              <a:rPr b="0" i="0" lang="en-US" sz="1400" u="none" cap="none" strike="noStrike">
                <a:solidFill>
                  <a:srgbClr val="4A5568"/>
                </a:solidFill>
                <a:latin typeface="IBM Plex Sans"/>
                <a:ea typeface="IBM Plex Sans"/>
                <a:cs typeface="IBM Plex Sans"/>
                <a:sym typeface="IBM Plex Sans"/>
              </a:rPr>
              <a:t>of BUY dollars, as in the data-processing screen</a:t>
            </a:r>
            <a:endParaRPr b="0" i="0" sz="1400" u="none" cap="none" strike="noStrike">
              <a:solidFill>
                <a:schemeClr val="dk1"/>
              </a:solidFill>
              <a:latin typeface="Calibri"/>
              <a:ea typeface="Calibri"/>
              <a:cs typeface="Calibri"/>
              <a:sym typeface="Calibri"/>
            </a:endParaRPr>
          </a:p>
        </p:txBody>
      </p:sp>
      <p:sp>
        <p:nvSpPr>
          <p:cNvPr id="59" name="Google Shape;59;p6"/>
          <p:cNvSpPr/>
          <p:nvPr/>
        </p:nvSpPr>
        <p:spPr>
          <a:xfrm>
            <a:off x="812800" y="3969891"/>
            <a:ext cx="9810750" cy="577850"/>
          </a:xfrm>
          <a:prstGeom prst="rect">
            <a:avLst/>
          </a:prstGeom>
          <a:noFill/>
          <a:ln>
            <a:noFill/>
          </a:ln>
        </p:spPr>
        <p:txBody>
          <a:bodyPr anchorCtr="0" anchor="t" bIns="0" lIns="0" spcFirstLastPara="1" rIns="0" wrap="square" tIns="0">
            <a:noAutofit/>
          </a:bodyPr>
          <a:lstStyle/>
          <a:p>
            <a:pPr indent="0" lvl="0" marL="0" marR="0" rtl="0" algn="l">
              <a:lnSpc>
                <a:spcPct val="120833"/>
              </a:lnSpc>
              <a:spcBef>
                <a:spcPts val="0"/>
              </a:spcBef>
              <a:spcAft>
                <a:spcPts val="0"/>
              </a:spcAft>
              <a:buClr>
                <a:srgbClr val="14213D"/>
              </a:buClr>
              <a:buSzPts val="1500"/>
              <a:buFont typeface="IBM Plex Sans"/>
              <a:buNone/>
            </a:pPr>
            <a:r>
              <a:rPr b="0" i="0" lang="en-US" sz="1500" u="none" cap="none" strike="noStrike">
                <a:solidFill>
                  <a:srgbClr val="14213D"/>
                </a:solidFill>
                <a:latin typeface="IBM Plex Sans"/>
                <a:ea typeface="IBM Plex Sans"/>
                <a:cs typeface="IBM Plex Sans"/>
                <a:sym typeface="IBM Plex Sans"/>
              </a:rPr>
              <a:t>The busiest wallets trade in nearly all 15 markets, which looks like market making rather than one-off informed bets.</a:t>
            </a:r>
            <a:endParaRPr b="0" i="0" sz="1500" u="none" cap="none" strike="noStrike">
              <a:solidFill>
                <a:schemeClr val="dk1"/>
              </a:solidFill>
              <a:latin typeface="Calibri"/>
              <a:ea typeface="Calibri"/>
              <a:cs typeface="Calibri"/>
              <a:sym typeface="Calibri"/>
            </a:endParaRPr>
          </a:p>
        </p:txBody>
      </p:sp>
      <p:sp>
        <p:nvSpPr>
          <p:cNvPr id="60" name="Google Shape;60;p6"/>
          <p:cNvSpPr/>
          <p:nvPr/>
        </p:nvSpPr>
        <p:spPr>
          <a:xfrm>
            <a:off x="812800" y="4827141"/>
            <a:ext cx="9810750" cy="52318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5B6472"/>
              </a:buClr>
              <a:buSzPts val="1400"/>
              <a:buFont typeface="IBM Plex Sans"/>
              <a:buNone/>
            </a:pPr>
            <a:r>
              <a:rPr b="0" i="0" lang="en-US" sz="1400" u="none" cap="none" strike="noStrike">
                <a:solidFill>
                  <a:srgbClr val="5B6472"/>
                </a:solidFill>
                <a:latin typeface="IBM Plex Sans"/>
                <a:ea typeface="IBM Plex Sans"/>
                <a:cs typeface="IBM Plex Sans"/>
                <a:sym typeface="IBM Plex Sans"/>
              </a:rPr>
              <a:t>High trade count is a proxy, not proof of a bot. They are removed from every later step: 50,777 trade rows, 9,467 wallet profiles and 11,499 positions remain.</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EE"/>
        </a:solidFill>
      </p:bgPr>
    </p:bg>
    <p:spTree>
      <p:nvGrpSpPr>
        <p:cNvPr id="65" name="Shape 65"/>
        <p:cNvGrpSpPr/>
        <p:nvPr/>
      </p:nvGrpSpPr>
      <p:grpSpPr>
        <a:xfrm>
          <a:off x="0" y="0"/>
          <a:ext cx="0" cy="0"/>
          <a:chOff x="0" y="0"/>
          <a:chExt cx="0" cy="0"/>
        </a:xfrm>
      </p:grpSpPr>
      <p:sp>
        <p:nvSpPr>
          <p:cNvPr id="66" name="Google Shape;66;p7"/>
          <p:cNvSpPr/>
          <p:nvPr/>
        </p:nvSpPr>
        <p:spPr>
          <a:xfrm>
            <a:off x="812800" y="812800"/>
            <a:ext cx="10883392" cy="500360"/>
          </a:xfrm>
          <a:prstGeom prst="rect">
            <a:avLst/>
          </a:prstGeom>
          <a:noFill/>
          <a:ln>
            <a:noFill/>
          </a:ln>
        </p:spPr>
        <p:txBody>
          <a:bodyPr anchorCtr="0" anchor="t" bIns="0" lIns="0" spcFirstLastPara="1" rIns="0" wrap="square" tIns="0">
            <a:noAutofit/>
          </a:bodyPr>
          <a:lstStyle/>
          <a:p>
            <a:pPr indent="0" lvl="0" marL="0" marR="0" rtl="0" algn="l">
              <a:lnSpc>
                <a:spcPct val="91667"/>
              </a:lnSpc>
              <a:spcBef>
                <a:spcPts val="0"/>
              </a:spcBef>
              <a:spcAft>
                <a:spcPts val="0"/>
              </a:spcAft>
              <a:buClr>
                <a:srgbClr val="14213D"/>
              </a:buClr>
              <a:buSzPts val="3400"/>
              <a:buFont typeface="EB Garamond"/>
              <a:buNone/>
            </a:pPr>
            <a:r>
              <a:rPr b="0" i="0" lang="en-US" sz="3400" u="none" cap="none" strike="noStrike">
                <a:solidFill>
                  <a:srgbClr val="14213D"/>
                </a:solidFill>
                <a:latin typeface="EB Garamond"/>
                <a:ea typeface="EB Garamond"/>
                <a:cs typeface="EB Garamond"/>
                <a:sym typeface="EB Garamond"/>
              </a:rPr>
              <a:t>Money is spread unevenly across the 15 markets</a:t>
            </a:r>
            <a:endParaRPr b="0" i="0" sz="3400" u="none" cap="none" strike="noStrike">
              <a:solidFill>
                <a:schemeClr val="dk1"/>
              </a:solidFill>
              <a:latin typeface="Calibri"/>
              <a:ea typeface="Calibri"/>
              <a:cs typeface="Calibri"/>
              <a:sym typeface="Calibri"/>
            </a:endParaRPr>
          </a:p>
        </p:txBody>
      </p:sp>
      <p:pic>
        <p:nvPicPr>
          <p:cNvPr descr="Bar chart of BUY dollars per market, Anthropic highest at 566,914 dollars" id="67" name="Google Shape;67;p7"/>
          <p:cNvPicPr preferRelativeResize="0"/>
          <p:nvPr/>
        </p:nvPicPr>
        <p:blipFill rotWithShape="1">
          <a:blip r:embed="rId3">
            <a:alphaModFix/>
          </a:blip>
          <a:srcRect b="-123" l="0" r="0" t="-123"/>
          <a:stretch/>
        </p:blipFill>
        <p:spPr>
          <a:xfrm>
            <a:off x="209150" y="1313150"/>
            <a:ext cx="7289100" cy="3987300"/>
          </a:xfrm>
          <a:prstGeom prst="roundRect">
            <a:avLst>
              <a:gd fmla="val 2194" name="adj"/>
            </a:avLst>
          </a:prstGeom>
          <a:noFill/>
          <a:ln>
            <a:noFill/>
          </a:ln>
        </p:spPr>
      </p:pic>
      <p:sp>
        <p:nvSpPr>
          <p:cNvPr id="68" name="Google Shape;68;p7"/>
          <p:cNvSpPr/>
          <p:nvPr/>
        </p:nvSpPr>
        <p:spPr>
          <a:xfrm>
            <a:off x="7569200" y="2286645"/>
            <a:ext cx="3924300" cy="82550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14213D"/>
              </a:buClr>
              <a:buSzPts val="1500"/>
              <a:buFont typeface="IBM Plex Sans"/>
              <a:buNone/>
            </a:pPr>
            <a:r>
              <a:rPr b="1" i="0" lang="en-US" sz="1500" u="none" cap="none" strike="noStrike">
                <a:solidFill>
                  <a:srgbClr val="14213D"/>
                </a:solidFill>
                <a:latin typeface="IBM Plex Sans"/>
                <a:ea typeface="IBM Plex Sans"/>
                <a:cs typeface="IBM Plex Sans"/>
                <a:sym typeface="IBM Plex Sans"/>
              </a:rPr>
              <a:t>Anthropic:</a:t>
            </a:r>
            <a:r>
              <a:rPr b="0" i="0" lang="en-US" sz="1500" u="none" cap="none" strike="noStrike">
                <a:solidFill>
                  <a:srgbClr val="4A5568"/>
                </a:solidFill>
                <a:latin typeface="IBM Plex Sans"/>
                <a:ea typeface="IBM Plex Sans"/>
                <a:cs typeface="IBM Plex Sans"/>
                <a:sym typeface="IBM Plex Sans"/>
              </a:rPr>
              <a:t> $566,914 of BUY dollars, the largest market, and the only market that resolved YES.</a:t>
            </a:r>
            <a:endParaRPr b="0" i="0" sz="1500" u="none" cap="none" strike="noStrike">
              <a:solidFill>
                <a:schemeClr val="dk1"/>
              </a:solidFill>
              <a:latin typeface="Calibri"/>
              <a:ea typeface="Calibri"/>
              <a:cs typeface="Calibri"/>
              <a:sym typeface="Calibri"/>
            </a:endParaRPr>
          </a:p>
        </p:txBody>
      </p:sp>
      <p:sp>
        <p:nvSpPr>
          <p:cNvPr id="69" name="Google Shape;69;p7"/>
          <p:cNvSpPr/>
          <p:nvPr/>
        </p:nvSpPr>
        <p:spPr>
          <a:xfrm>
            <a:off x="7569200" y="3772945"/>
            <a:ext cx="3924300" cy="55890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14213D"/>
              </a:buClr>
              <a:buSzPts val="1500"/>
              <a:buFont typeface="IBM Plex Sans"/>
              <a:buNone/>
            </a:pPr>
            <a:r>
              <a:rPr b="1" i="0" lang="en-US" sz="1500" u="none" cap="none" strike="noStrike">
                <a:solidFill>
                  <a:srgbClr val="14213D"/>
                </a:solidFill>
                <a:latin typeface="IBM Plex Sans"/>
                <a:ea typeface="IBM Plex Sans"/>
                <a:cs typeface="IBM Plex Sans"/>
                <a:sym typeface="IBM Plex Sans"/>
              </a:rPr>
              <a:t>xAI, OpenAI, Meta, Google:</a:t>
            </a:r>
            <a:r>
              <a:rPr b="0" i="0" lang="en-US" sz="1500" u="none" cap="none" strike="noStrike">
                <a:solidFill>
                  <a:srgbClr val="4A5568"/>
                </a:solidFill>
                <a:latin typeface="IBM Plex Sans"/>
                <a:ea typeface="IBM Plex Sans"/>
                <a:cs typeface="IBM Plex Sans"/>
                <a:sym typeface="IBM Plex Sans"/>
              </a:rPr>
              <a:t> $125k to $158k each, far below Anthropic.</a:t>
            </a:r>
            <a:endParaRPr b="0" i="0" sz="1500" u="none" cap="none" strike="noStrike">
              <a:solidFill>
                <a:schemeClr val="dk1"/>
              </a:solidFill>
              <a:latin typeface="Calibri"/>
              <a:ea typeface="Calibri"/>
              <a:cs typeface="Calibri"/>
              <a:sym typeface="Calibri"/>
            </a:endParaRPr>
          </a:p>
        </p:txBody>
      </p:sp>
      <p:sp>
        <p:nvSpPr>
          <p:cNvPr id="70" name="Google Shape;70;p7"/>
          <p:cNvSpPr/>
          <p:nvPr/>
        </p:nvSpPr>
        <p:spPr>
          <a:xfrm>
            <a:off x="7569200" y="3975745"/>
            <a:ext cx="3924300" cy="52318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B4540F"/>
              </a:buClr>
              <a:buSzPts val="1400"/>
              <a:buFont typeface="IBM Plex Sans"/>
              <a:buNone/>
            </a:pPr>
            <a:r>
              <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EE"/>
        </a:solidFill>
      </p:bgPr>
    </p:bg>
    <p:spTree>
      <p:nvGrpSpPr>
        <p:cNvPr id="75" name="Shape 75"/>
        <p:cNvGrpSpPr/>
        <p:nvPr/>
      </p:nvGrpSpPr>
      <p:grpSpPr>
        <a:xfrm>
          <a:off x="0" y="0"/>
          <a:ext cx="0" cy="0"/>
          <a:chOff x="0" y="0"/>
          <a:chExt cx="0" cy="0"/>
        </a:xfrm>
      </p:grpSpPr>
      <p:sp>
        <p:nvSpPr>
          <p:cNvPr id="76" name="Google Shape;76;p8"/>
          <p:cNvSpPr/>
          <p:nvPr/>
        </p:nvSpPr>
        <p:spPr>
          <a:xfrm>
            <a:off x="812800" y="812800"/>
            <a:ext cx="10883392" cy="500360"/>
          </a:xfrm>
          <a:prstGeom prst="rect">
            <a:avLst/>
          </a:prstGeom>
          <a:noFill/>
          <a:ln>
            <a:noFill/>
          </a:ln>
        </p:spPr>
        <p:txBody>
          <a:bodyPr anchorCtr="0" anchor="t" bIns="0" lIns="0" spcFirstLastPara="1" rIns="0" wrap="square" tIns="0">
            <a:noAutofit/>
          </a:bodyPr>
          <a:lstStyle/>
          <a:p>
            <a:pPr indent="0" lvl="0" marL="0" marR="0" rtl="0" algn="l">
              <a:lnSpc>
                <a:spcPct val="91667"/>
              </a:lnSpc>
              <a:spcBef>
                <a:spcPts val="0"/>
              </a:spcBef>
              <a:spcAft>
                <a:spcPts val="0"/>
              </a:spcAft>
              <a:buClr>
                <a:srgbClr val="14213D"/>
              </a:buClr>
              <a:buSzPts val="3400"/>
              <a:buFont typeface="EB Garamond"/>
              <a:buNone/>
            </a:pPr>
            <a:r>
              <a:rPr b="0" i="0" lang="en-US" sz="3400" u="none" cap="none" strike="noStrike">
                <a:solidFill>
                  <a:srgbClr val="14213D"/>
                </a:solidFill>
                <a:latin typeface="EB Garamond"/>
                <a:ea typeface="EB Garamond"/>
                <a:cs typeface="EB Garamond"/>
                <a:sym typeface="EB Garamond"/>
              </a:rPr>
              <a:t>A few wallets hold most of the money</a:t>
            </a:r>
            <a:endParaRPr b="0" i="0" sz="3400" u="none" cap="none" strike="noStrike">
              <a:solidFill>
                <a:schemeClr val="dk1"/>
              </a:solidFill>
              <a:latin typeface="Calibri"/>
              <a:ea typeface="Calibri"/>
              <a:cs typeface="Calibri"/>
              <a:sym typeface="Calibri"/>
            </a:endParaRPr>
          </a:p>
        </p:txBody>
      </p:sp>
      <p:pic>
        <p:nvPicPr>
          <p:cNvPr descr="Wallet concentration curve: after removing 3 very active wallets, top 1% of wallets hold 55.3% of BUY dollars, top 5% 77.0%, top 10% 85.3%" id="77" name="Google Shape;77;p8"/>
          <p:cNvPicPr preferRelativeResize="0"/>
          <p:nvPr/>
        </p:nvPicPr>
        <p:blipFill rotWithShape="1">
          <a:blip r:embed="rId3">
            <a:alphaModFix/>
          </a:blip>
          <a:srcRect b="-18" l="0" r="0" t="-18"/>
          <a:stretch/>
        </p:blipFill>
        <p:spPr>
          <a:xfrm>
            <a:off x="812800" y="1643360"/>
            <a:ext cx="5715000" cy="3784600"/>
          </a:xfrm>
          <a:prstGeom prst="roundRect">
            <a:avLst>
              <a:gd fmla="val 2013" name="adj"/>
            </a:avLst>
          </a:prstGeom>
          <a:noFill/>
          <a:ln>
            <a:noFill/>
          </a:ln>
        </p:spPr>
      </p:pic>
      <p:sp>
        <p:nvSpPr>
          <p:cNvPr id="78" name="Google Shape;78;p8"/>
          <p:cNvSpPr/>
          <p:nvPr/>
        </p:nvSpPr>
        <p:spPr>
          <a:xfrm>
            <a:off x="6934200" y="2457450"/>
            <a:ext cx="4578350" cy="29210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14213D"/>
              </a:buClr>
              <a:buSzPts val="1500"/>
              <a:buFont typeface="IBM Plex Sans"/>
              <a:buNone/>
            </a:pPr>
            <a:r>
              <a:rPr b="1" i="0" lang="en-US" sz="1500" u="none" cap="none" strike="noStrike">
                <a:solidFill>
                  <a:srgbClr val="14213D"/>
                </a:solidFill>
                <a:latin typeface="IBM Plex Sans"/>
                <a:ea typeface="IBM Plex Sans"/>
                <a:cs typeface="IBM Plex Sans"/>
                <a:sym typeface="IBM Plex Sans"/>
              </a:rPr>
              <a:t>Top 1% of wallets:</a:t>
            </a:r>
            <a:r>
              <a:rPr b="0" i="0" lang="en-US" sz="1500" u="none" cap="none" strike="noStrike">
                <a:solidFill>
                  <a:srgbClr val="4A5568"/>
                </a:solidFill>
                <a:latin typeface="IBM Plex Sans"/>
                <a:ea typeface="IBM Plex Sans"/>
                <a:cs typeface="IBM Plex Sans"/>
                <a:sym typeface="IBM Plex Sans"/>
              </a:rPr>
              <a:t> 55.3% of BUY dollars</a:t>
            </a:r>
            <a:endParaRPr b="0" i="0" sz="1500" u="none" cap="none" strike="noStrike">
              <a:solidFill>
                <a:schemeClr val="dk1"/>
              </a:solidFill>
              <a:latin typeface="Calibri"/>
              <a:ea typeface="Calibri"/>
              <a:cs typeface="Calibri"/>
              <a:sym typeface="Calibri"/>
            </a:endParaRPr>
          </a:p>
        </p:txBody>
      </p:sp>
      <p:sp>
        <p:nvSpPr>
          <p:cNvPr id="79" name="Google Shape;79;p8"/>
          <p:cNvSpPr/>
          <p:nvPr/>
        </p:nvSpPr>
        <p:spPr>
          <a:xfrm>
            <a:off x="6934200" y="2927350"/>
            <a:ext cx="4578350" cy="29210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14213D"/>
              </a:buClr>
              <a:buSzPts val="1500"/>
              <a:buFont typeface="IBM Plex Sans"/>
              <a:buNone/>
            </a:pPr>
            <a:r>
              <a:rPr b="1" i="0" lang="en-US" sz="1500" u="none" cap="none" strike="noStrike">
                <a:solidFill>
                  <a:srgbClr val="14213D"/>
                </a:solidFill>
                <a:latin typeface="IBM Plex Sans"/>
                <a:ea typeface="IBM Plex Sans"/>
                <a:cs typeface="IBM Plex Sans"/>
                <a:sym typeface="IBM Plex Sans"/>
              </a:rPr>
              <a:t>Top 5%:</a:t>
            </a:r>
            <a:r>
              <a:rPr b="0" i="0" lang="en-US" sz="1500" u="none" cap="none" strike="noStrike">
                <a:solidFill>
                  <a:srgbClr val="4A5568"/>
                </a:solidFill>
                <a:latin typeface="IBM Plex Sans"/>
                <a:ea typeface="IBM Plex Sans"/>
                <a:cs typeface="IBM Plex Sans"/>
                <a:sym typeface="IBM Plex Sans"/>
              </a:rPr>
              <a:t> 77.0%</a:t>
            </a:r>
            <a:endParaRPr b="0" i="0" sz="1500" u="none" cap="none" strike="noStrike">
              <a:solidFill>
                <a:schemeClr val="dk1"/>
              </a:solidFill>
              <a:latin typeface="Calibri"/>
              <a:ea typeface="Calibri"/>
              <a:cs typeface="Calibri"/>
              <a:sym typeface="Calibri"/>
            </a:endParaRPr>
          </a:p>
        </p:txBody>
      </p:sp>
      <p:sp>
        <p:nvSpPr>
          <p:cNvPr id="80" name="Google Shape;80;p8"/>
          <p:cNvSpPr/>
          <p:nvPr/>
        </p:nvSpPr>
        <p:spPr>
          <a:xfrm>
            <a:off x="6934200" y="3397250"/>
            <a:ext cx="4578350" cy="29210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14213D"/>
              </a:buClr>
              <a:buSzPts val="1500"/>
              <a:buFont typeface="IBM Plex Sans"/>
              <a:buNone/>
            </a:pPr>
            <a:r>
              <a:rPr b="1" i="0" lang="en-US" sz="1500" u="none" cap="none" strike="noStrike">
                <a:solidFill>
                  <a:srgbClr val="14213D"/>
                </a:solidFill>
                <a:latin typeface="IBM Plex Sans"/>
                <a:ea typeface="IBM Plex Sans"/>
                <a:cs typeface="IBM Plex Sans"/>
                <a:sym typeface="IBM Plex Sans"/>
              </a:rPr>
              <a:t>Top 10%:</a:t>
            </a:r>
            <a:r>
              <a:rPr b="0" i="0" lang="en-US" sz="1500" u="none" cap="none" strike="noStrike">
                <a:solidFill>
                  <a:srgbClr val="4A5568"/>
                </a:solidFill>
                <a:latin typeface="IBM Plex Sans"/>
                <a:ea typeface="IBM Plex Sans"/>
                <a:cs typeface="IBM Plex Sans"/>
                <a:sym typeface="IBM Plex Sans"/>
              </a:rPr>
              <a:t> 85.3%</a:t>
            </a:r>
            <a:endParaRPr b="0" i="0" sz="1500" u="none" cap="none" strike="noStrike">
              <a:solidFill>
                <a:schemeClr val="dk1"/>
              </a:solidFill>
              <a:latin typeface="Calibri"/>
              <a:ea typeface="Calibri"/>
              <a:cs typeface="Calibri"/>
              <a:sym typeface="Calibri"/>
            </a:endParaRPr>
          </a:p>
        </p:txBody>
      </p:sp>
      <p:sp>
        <p:nvSpPr>
          <p:cNvPr id="81" name="Google Shape;81;p8"/>
          <p:cNvSpPr/>
          <p:nvPr/>
        </p:nvSpPr>
        <p:spPr>
          <a:xfrm>
            <a:off x="6934200" y="3867150"/>
            <a:ext cx="4578350" cy="772071"/>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B4540F"/>
              </a:buClr>
              <a:buSzPts val="1400"/>
              <a:buFont typeface="IBM Plex Sans"/>
              <a:buNone/>
            </a:pPr>
            <a:r>
              <a:rPr b="0" i="0" lang="en-US" sz="1400" u="none" cap="none" strike="noStrike">
                <a:solidFill>
                  <a:srgbClr val="B4540F"/>
                </a:solidFill>
                <a:latin typeface="IBM Plex Sans"/>
                <a:ea typeface="IBM Plex Sans"/>
                <a:cs typeface="IBM Plex Sans"/>
                <a:sym typeface="IBM Plex Sans"/>
              </a:rPr>
              <a:t>Even without the three busiest wallets, any size-based detector will mostly flag whales. That is why we also use timing, price and market-share features.</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EE"/>
        </a:solidFill>
      </p:bgPr>
    </p:bg>
    <p:spTree>
      <p:nvGrpSpPr>
        <p:cNvPr id="86" name="Shape 86"/>
        <p:cNvGrpSpPr/>
        <p:nvPr/>
      </p:nvGrpSpPr>
      <p:grpSpPr>
        <a:xfrm>
          <a:off x="0" y="0"/>
          <a:ext cx="0" cy="0"/>
          <a:chOff x="0" y="0"/>
          <a:chExt cx="0" cy="0"/>
        </a:xfrm>
      </p:grpSpPr>
      <p:pic>
        <p:nvPicPr>
          <p:cNvPr id="87" name="Google Shape;87;p9"/>
          <p:cNvPicPr preferRelativeResize="0"/>
          <p:nvPr/>
        </p:nvPicPr>
        <p:blipFill>
          <a:blip r:embed="rId3">
            <a:alphaModFix/>
          </a:blip>
          <a:stretch>
            <a:fillRect/>
          </a:stretch>
        </p:blipFill>
        <p:spPr>
          <a:xfrm>
            <a:off x="812275" y="1202163"/>
            <a:ext cx="5498900" cy="4972924"/>
          </a:xfrm>
          <a:prstGeom prst="rect">
            <a:avLst/>
          </a:prstGeom>
          <a:noFill/>
          <a:ln>
            <a:noFill/>
          </a:ln>
        </p:spPr>
      </p:pic>
      <p:sp>
        <p:nvSpPr>
          <p:cNvPr id="88" name="Google Shape;88;p9"/>
          <p:cNvSpPr txBox="1"/>
          <p:nvPr/>
        </p:nvSpPr>
        <p:spPr>
          <a:xfrm>
            <a:off x="6875800" y="2140025"/>
            <a:ext cx="4887000" cy="309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900">
                <a:latin typeface="IBM Plex Sans"/>
                <a:ea typeface="IBM Plex Sans"/>
                <a:cs typeface="IBM Plex Sans"/>
                <a:sym typeface="IBM Plex Sans"/>
              </a:rPr>
              <a:t>This suggests that market participation and liquidity were concentrated early in the event.</a:t>
            </a:r>
            <a:endParaRPr sz="1900">
              <a:latin typeface="IBM Plex Sans"/>
              <a:ea typeface="IBM Plex Sans"/>
              <a:cs typeface="IBM Plex Sans"/>
              <a:sym typeface="IBM Plex Sans"/>
            </a:endParaRPr>
          </a:p>
          <a:p>
            <a:pPr indent="0" lvl="0" marL="0" rtl="0" algn="l">
              <a:spcBef>
                <a:spcPts val="0"/>
              </a:spcBef>
              <a:spcAft>
                <a:spcPts val="0"/>
              </a:spcAft>
              <a:buNone/>
            </a:pPr>
            <a:r>
              <a:t/>
            </a:r>
            <a:endParaRPr sz="1900">
              <a:latin typeface="IBM Plex Sans"/>
              <a:ea typeface="IBM Plex Sans"/>
              <a:cs typeface="IBM Plex Sans"/>
              <a:sym typeface="IBM Plex Sans"/>
            </a:endParaRPr>
          </a:p>
          <a:p>
            <a:pPr indent="0" lvl="0" marL="0" rtl="0" algn="l">
              <a:spcBef>
                <a:spcPts val="0"/>
              </a:spcBef>
              <a:spcAft>
                <a:spcPts val="0"/>
              </a:spcAft>
              <a:buNone/>
            </a:pPr>
            <a:r>
              <a:rPr lang="en-US" sz="1900">
                <a:solidFill>
                  <a:schemeClr val="dk1"/>
                </a:solidFill>
                <a:latin typeface="IBM Plex Sans"/>
                <a:ea typeface="IBM Plex Sans"/>
                <a:cs typeface="IBM Plex Sans"/>
                <a:sym typeface="IBM Plex Sans"/>
              </a:rPr>
              <a:t>Daily BUY volume peaked at approximately </a:t>
            </a:r>
            <a:r>
              <a:rPr b="1" lang="en-US" sz="1900">
                <a:solidFill>
                  <a:schemeClr val="dk1"/>
                </a:solidFill>
                <a:latin typeface="IBM Plex Sans"/>
                <a:ea typeface="IBM Plex Sans"/>
                <a:cs typeface="IBM Plex Sans"/>
                <a:sym typeface="IBM Plex Sans"/>
              </a:rPr>
              <a:t>$160k in early June</a:t>
            </a:r>
            <a:r>
              <a:rPr lang="en-US" sz="1900">
                <a:solidFill>
                  <a:schemeClr val="dk1"/>
                </a:solidFill>
                <a:latin typeface="IBM Plex Sans"/>
                <a:ea typeface="IBM Plex Sans"/>
                <a:cs typeface="IBM Plex Sans"/>
                <a:sym typeface="IBM Plex Sans"/>
              </a:rPr>
              <a:t>, followed by a second spike of around </a:t>
            </a:r>
            <a:r>
              <a:rPr b="1" lang="en-US" sz="1900">
                <a:solidFill>
                  <a:schemeClr val="dk1"/>
                </a:solidFill>
                <a:latin typeface="IBM Plex Sans"/>
                <a:ea typeface="IBM Plex Sans"/>
                <a:cs typeface="IBM Plex Sans"/>
                <a:sym typeface="IBM Plex Sans"/>
              </a:rPr>
              <a:t>$110k</a:t>
            </a:r>
            <a:r>
              <a:rPr lang="en-US" sz="1900">
                <a:solidFill>
                  <a:schemeClr val="dk1"/>
                </a:solidFill>
                <a:latin typeface="IBM Plex Sans"/>
                <a:ea typeface="IBM Plex Sans"/>
                <a:cs typeface="IBM Plex Sans"/>
                <a:sym typeface="IBM Plex Sans"/>
              </a:rPr>
              <a:t>. After these peaks, activity gradually declined and became more volatile, reaching its lowest levels in late June before a modest rebound.</a:t>
            </a:r>
            <a:endParaRPr sz="2200">
              <a:latin typeface="IBM Plex Sans"/>
              <a:ea typeface="IBM Plex Sans"/>
              <a:cs typeface="IBM Plex Sans"/>
              <a:sym typeface="IBM Plex Sans"/>
            </a:endParaRPr>
          </a:p>
        </p:txBody>
      </p:sp>
      <p:sp>
        <p:nvSpPr>
          <p:cNvPr id="89" name="Google Shape;89;p9"/>
          <p:cNvSpPr txBox="1"/>
          <p:nvPr/>
        </p:nvSpPr>
        <p:spPr>
          <a:xfrm>
            <a:off x="892950" y="390975"/>
            <a:ext cx="10406100" cy="81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000">
                <a:latin typeface="EB Garamond"/>
                <a:ea typeface="EB Garamond"/>
                <a:cs typeface="EB Garamond"/>
                <a:sym typeface="EB Garamond"/>
              </a:rPr>
              <a:t>Market Participation Was Concentrated Early in the Event</a:t>
            </a:r>
            <a:endParaRPr sz="3000">
              <a:latin typeface="EB Garamond"/>
              <a:ea typeface="EB Garamond"/>
              <a:cs typeface="EB Garamond"/>
              <a:sym typeface="EB Garamon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EE"/>
        </a:solidFill>
      </p:bgPr>
    </p:bg>
    <p:spTree>
      <p:nvGrpSpPr>
        <p:cNvPr id="94" name="Shape 94"/>
        <p:cNvGrpSpPr/>
        <p:nvPr/>
      </p:nvGrpSpPr>
      <p:grpSpPr>
        <a:xfrm>
          <a:off x="0" y="0"/>
          <a:ext cx="0" cy="0"/>
          <a:chOff x="0" y="0"/>
          <a:chExt cx="0" cy="0"/>
        </a:xfrm>
      </p:grpSpPr>
      <p:pic>
        <p:nvPicPr>
          <p:cNvPr id="95" name="Google Shape;95;p10"/>
          <p:cNvPicPr preferRelativeResize="0"/>
          <p:nvPr/>
        </p:nvPicPr>
        <p:blipFill>
          <a:blip r:embed="rId3">
            <a:alphaModFix/>
          </a:blip>
          <a:stretch>
            <a:fillRect/>
          </a:stretch>
        </p:blipFill>
        <p:spPr>
          <a:xfrm>
            <a:off x="141575" y="1222188"/>
            <a:ext cx="6846376" cy="4892576"/>
          </a:xfrm>
          <a:prstGeom prst="rect">
            <a:avLst/>
          </a:prstGeom>
          <a:noFill/>
          <a:ln>
            <a:noFill/>
          </a:ln>
        </p:spPr>
      </p:pic>
      <p:sp>
        <p:nvSpPr>
          <p:cNvPr id="96" name="Google Shape;96;p10"/>
          <p:cNvSpPr txBox="1"/>
          <p:nvPr/>
        </p:nvSpPr>
        <p:spPr>
          <a:xfrm>
            <a:off x="7456200" y="1631750"/>
            <a:ext cx="4366800" cy="3449100"/>
          </a:xfrm>
          <a:prstGeom prst="rect">
            <a:avLst/>
          </a:prstGeom>
          <a:noFill/>
          <a:ln>
            <a:noFill/>
          </a:ln>
        </p:spPr>
        <p:txBody>
          <a:bodyPr anchorCtr="0" anchor="t" bIns="91425" lIns="91425" spcFirstLastPara="1" rIns="91425" wrap="square" tIns="91425">
            <a:noAutofit/>
          </a:bodyPr>
          <a:lstStyle/>
          <a:p>
            <a:pPr indent="-368300" lvl="0" marL="457200" rtl="0" algn="l">
              <a:spcBef>
                <a:spcPts val="0"/>
              </a:spcBef>
              <a:spcAft>
                <a:spcPts val="0"/>
              </a:spcAft>
              <a:buClr>
                <a:schemeClr val="dk1"/>
              </a:buClr>
              <a:buSzPts val="2200"/>
              <a:buFont typeface="IBM Plex Sans"/>
              <a:buChar char="●"/>
            </a:pPr>
            <a:r>
              <a:rPr lang="en-US" sz="2200">
                <a:solidFill>
                  <a:schemeClr val="dk1"/>
                </a:solidFill>
                <a:latin typeface="IBM Plex Sans"/>
                <a:ea typeface="IBM Plex Sans"/>
                <a:cs typeface="IBM Plex Sans"/>
                <a:sym typeface="IBM Plex Sans"/>
              </a:rPr>
              <a:t>Most BUY volume occurred </a:t>
            </a:r>
            <a:r>
              <a:rPr b="1" lang="en-US" sz="2200">
                <a:solidFill>
                  <a:schemeClr val="dk1"/>
                </a:solidFill>
                <a:latin typeface="IBM Plex Sans"/>
                <a:ea typeface="IBM Plex Sans"/>
                <a:cs typeface="IBM Plex Sans"/>
                <a:sym typeface="IBM Plex Sans"/>
              </a:rPr>
              <a:t>more than seven days before</a:t>
            </a:r>
            <a:r>
              <a:rPr lang="en-US" sz="2200">
                <a:solidFill>
                  <a:schemeClr val="dk1"/>
                </a:solidFill>
                <a:latin typeface="IBM Plex Sans"/>
                <a:ea typeface="IBM Plex Sans"/>
                <a:cs typeface="IBM Plex Sans"/>
                <a:sym typeface="IBM Plex Sans"/>
              </a:rPr>
              <a:t> resolution ($2.67M), with very little activity in the final hours. </a:t>
            </a:r>
            <a:endParaRPr sz="2200">
              <a:solidFill>
                <a:schemeClr val="dk1"/>
              </a:solidFill>
              <a:latin typeface="IBM Plex Sans"/>
              <a:ea typeface="IBM Plex Sans"/>
              <a:cs typeface="IBM Plex Sans"/>
              <a:sym typeface="IBM Plex Sans"/>
            </a:endParaRPr>
          </a:p>
          <a:p>
            <a:pPr indent="-368300" lvl="0" marL="457200" rtl="0" algn="l">
              <a:spcBef>
                <a:spcPts val="0"/>
              </a:spcBef>
              <a:spcAft>
                <a:spcPts val="0"/>
              </a:spcAft>
              <a:buClr>
                <a:schemeClr val="dk1"/>
              </a:buClr>
              <a:buSzPts val="2200"/>
              <a:buFont typeface="IBM Plex Sans"/>
              <a:buChar char="●"/>
            </a:pPr>
            <a:r>
              <a:rPr lang="en-US" sz="2200">
                <a:solidFill>
                  <a:schemeClr val="dk1"/>
                </a:solidFill>
                <a:latin typeface="IBM Plex Sans"/>
                <a:ea typeface="IBM Plex Sans"/>
                <a:cs typeface="IBM Plex Sans"/>
                <a:sym typeface="IBM Plex Sans"/>
              </a:rPr>
              <a:t>This suggests trading was concentrated well before settlement rather than immediately before the outcome was known.</a:t>
            </a:r>
            <a:endParaRPr sz="2500">
              <a:latin typeface="IBM Plex Sans"/>
              <a:ea typeface="IBM Plex Sans"/>
              <a:cs typeface="IBM Plex Sans"/>
              <a:sym typeface="IBM Plex Sans"/>
            </a:endParaRPr>
          </a:p>
        </p:txBody>
      </p:sp>
      <p:sp>
        <p:nvSpPr>
          <p:cNvPr id="97" name="Google Shape;97;p10"/>
          <p:cNvSpPr txBox="1"/>
          <p:nvPr/>
        </p:nvSpPr>
        <p:spPr>
          <a:xfrm>
            <a:off x="703100" y="194700"/>
            <a:ext cx="7896600" cy="102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100">
                <a:latin typeface="EB Garamond"/>
                <a:ea typeface="EB Garamond"/>
                <a:cs typeface="EB Garamond"/>
                <a:sym typeface="EB Garamond"/>
              </a:rPr>
              <a:t>Most Trading Occurred More Than Seven Days Before Resolution</a:t>
            </a:r>
            <a:endParaRPr sz="3100">
              <a:latin typeface="EB Garamond"/>
              <a:ea typeface="EB Garamond"/>
              <a:cs typeface="EB Garamond"/>
              <a:sym typeface="EB Garamon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EE"/>
        </a:solidFill>
      </p:bgPr>
    </p:bg>
    <p:spTree>
      <p:nvGrpSpPr>
        <p:cNvPr id="102" name="Shape 102"/>
        <p:cNvGrpSpPr/>
        <p:nvPr/>
      </p:nvGrpSpPr>
      <p:grpSpPr>
        <a:xfrm>
          <a:off x="0" y="0"/>
          <a:ext cx="0" cy="0"/>
          <a:chOff x="0" y="0"/>
          <a:chExt cx="0" cy="0"/>
        </a:xfrm>
      </p:grpSpPr>
      <p:grpSp>
        <p:nvGrpSpPr>
          <p:cNvPr id="103" name="Google Shape;103;p11"/>
          <p:cNvGrpSpPr/>
          <p:nvPr/>
        </p:nvGrpSpPr>
        <p:grpSpPr>
          <a:xfrm>
            <a:off x="812800" y="666750"/>
            <a:ext cx="10553700" cy="523800"/>
            <a:chOff x="0" y="0"/>
            <a:chExt cx="10553700" cy="523800"/>
          </a:xfrm>
        </p:grpSpPr>
        <p:sp>
          <p:nvSpPr>
            <p:cNvPr id="104" name="Google Shape;104;p11"/>
            <p:cNvSpPr/>
            <p:nvPr/>
          </p:nvSpPr>
          <p:spPr>
            <a:xfrm>
              <a:off x="0" y="0"/>
              <a:ext cx="10553700" cy="523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5" name="Google Shape;105;p11"/>
            <p:cNvSpPr txBox="1"/>
            <p:nvPr/>
          </p:nvSpPr>
          <p:spPr>
            <a:xfrm>
              <a:off x="0" y="0"/>
              <a:ext cx="10553700" cy="52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3400">
                  <a:solidFill>
                    <a:srgbClr val="14213D"/>
                  </a:solidFill>
                  <a:latin typeface="EB Garamond"/>
                  <a:ea typeface="EB Garamond"/>
                  <a:cs typeface="EB Garamond"/>
                  <a:sym typeface="EB Garamond"/>
                </a:rPr>
                <a:t>Breakdown by time remaining and direction </a:t>
              </a:r>
              <a:r>
                <a:rPr lang="en-US" sz="3400">
                  <a:solidFill>
                    <a:srgbClr val="14213D"/>
                  </a:solidFill>
                  <a:latin typeface="EB Garamond"/>
                  <a:ea typeface="EB Garamond"/>
                  <a:cs typeface="EB Garamond"/>
                  <a:sym typeface="EB Garamond"/>
                </a:rPr>
                <a:t>in Anthropic</a:t>
              </a:r>
              <a:endParaRPr sz="3400">
                <a:solidFill>
                  <a:srgbClr val="14213D"/>
                </a:solidFill>
                <a:latin typeface="EB Garamond"/>
                <a:ea typeface="EB Garamond"/>
                <a:cs typeface="EB Garamond"/>
                <a:sym typeface="EB Garamond"/>
              </a:endParaRPr>
            </a:p>
          </p:txBody>
        </p:sp>
      </p:grpSp>
      <p:graphicFrame>
        <p:nvGraphicFramePr>
          <p:cNvPr id="106" name="Google Shape;106;p11"/>
          <p:cNvGraphicFramePr/>
          <p:nvPr/>
        </p:nvGraphicFramePr>
        <p:xfrm>
          <a:off x="812800" y="1428750"/>
          <a:ext cx="3000000" cy="3000000"/>
        </p:xfrm>
        <a:graphic>
          <a:graphicData uri="http://schemas.openxmlformats.org/drawingml/2006/table">
            <a:tbl>
              <a:tblPr>
                <a:noFill/>
                <a:tableStyleId>{9755984B-8548-4C51-B8A4-67813B0B79D8}</a:tableStyleId>
              </a:tblPr>
              <a:tblGrid>
                <a:gridCol w="1938425"/>
                <a:gridCol w="1292300"/>
                <a:gridCol w="2153825"/>
                <a:gridCol w="1615350"/>
                <a:gridCol w="1615350"/>
                <a:gridCol w="1938450"/>
              </a:tblGrid>
              <a:tr h="529400">
                <a:tc>
                  <a:txBody>
                    <a:bodyPr/>
                    <a:lstStyle/>
                    <a:p>
                      <a:pPr indent="0" lvl="0" marL="0" rtl="0" algn="l">
                        <a:spcBef>
                          <a:spcPts val="0"/>
                        </a:spcBef>
                        <a:spcAft>
                          <a:spcPts val="0"/>
                        </a:spcAft>
                        <a:buNone/>
                      </a:pPr>
                      <a:r>
                        <a:rPr b="1" lang="en-US" sz="1300">
                          <a:solidFill>
                            <a:srgbClr val="14213D"/>
                          </a:solidFill>
                          <a:highlight>
                            <a:srgbClr val="E4E2DC"/>
                          </a:highlight>
                        </a:rPr>
                        <a:t>Time remaining</a:t>
                      </a:r>
                      <a:endParaRPr b="1" sz="1300">
                        <a:solidFill>
                          <a:srgbClr val="14213D"/>
                        </a:solidFill>
                        <a:highlight>
                          <a:srgbClr val="E4E2DC"/>
                        </a:highlight>
                      </a:endParaRPr>
                    </a:p>
                  </a:txBody>
                  <a:tcPr marT="95250" marB="95250" marR="152400" marL="152400">
                    <a:lnL cap="flat" cmpd="sng" w="9525">
                      <a:solidFill>
                        <a:srgbClr val="C4C3BE"/>
                      </a:solidFill>
                      <a:prstDash val="solid"/>
                      <a:round/>
                      <a:headEnd len="sm" w="sm" type="none"/>
                      <a:tailEnd len="sm" w="sm" type="none"/>
                    </a:lnL>
                    <a:lnR cap="flat" cmpd="sng" w="9525">
                      <a:solidFill>
                        <a:srgbClr val="C4C3BE"/>
                      </a:solidFill>
                      <a:prstDash val="solid"/>
                      <a:round/>
                      <a:headEnd len="sm" w="sm" type="none"/>
                      <a:tailEnd len="sm" w="sm" type="none"/>
                    </a:lnR>
                    <a:lnT cap="flat" cmpd="sng" w="9525">
                      <a:solidFill>
                        <a:srgbClr val="C4C3BE"/>
                      </a:solidFill>
                      <a:prstDash val="solid"/>
                      <a:round/>
                      <a:headEnd len="sm" w="sm" type="none"/>
                      <a:tailEnd len="sm" w="sm" type="none"/>
                    </a:lnT>
                    <a:lnB cap="flat" cmpd="sng" w="9525">
                      <a:solidFill>
                        <a:srgbClr val="E2E8F0"/>
                      </a:solidFill>
                      <a:prstDash val="solid"/>
                      <a:round/>
                      <a:headEnd len="sm" w="sm" type="none"/>
                      <a:tailEnd len="sm" w="sm" type="none"/>
                    </a:lnB>
                    <a:solidFill>
                      <a:srgbClr val="E4E2DC"/>
                    </a:solidFill>
                  </a:tcPr>
                </a:tc>
                <a:tc>
                  <a:txBody>
                    <a:bodyPr/>
                    <a:lstStyle/>
                    <a:p>
                      <a:pPr indent="0" lvl="0" marL="0" rtl="0" algn="ctr">
                        <a:spcBef>
                          <a:spcPts val="0"/>
                        </a:spcBef>
                        <a:spcAft>
                          <a:spcPts val="0"/>
                        </a:spcAft>
                        <a:buNone/>
                      </a:pPr>
                      <a:r>
                        <a:rPr b="1" lang="en-US" sz="1300">
                          <a:solidFill>
                            <a:srgbClr val="14213D"/>
                          </a:solidFill>
                          <a:highlight>
                            <a:srgbClr val="E4E2DC"/>
                          </a:highlight>
                        </a:rPr>
                        <a:t>Direction</a:t>
                      </a:r>
                      <a:endParaRPr b="1" sz="1300">
                        <a:solidFill>
                          <a:srgbClr val="14213D"/>
                        </a:solidFill>
                        <a:highlight>
                          <a:srgbClr val="E4E2DC"/>
                        </a:highlight>
                      </a:endParaRPr>
                    </a:p>
                  </a:txBody>
                  <a:tcPr marT="95250" marB="95250" marR="152400" marL="152400">
                    <a:lnL cap="flat" cmpd="sng" w="9525">
                      <a:solidFill>
                        <a:srgbClr val="C4C3BE"/>
                      </a:solidFill>
                      <a:prstDash val="solid"/>
                      <a:round/>
                      <a:headEnd len="sm" w="sm" type="none"/>
                      <a:tailEnd len="sm" w="sm" type="none"/>
                    </a:lnL>
                    <a:lnR cap="flat" cmpd="sng" w="9525">
                      <a:solidFill>
                        <a:srgbClr val="C4C3BE"/>
                      </a:solidFill>
                      <a:prstDash val="solid"/>
                      <a:round/>
                      <a:headEnd len="sm" w="sm" type="none"/>
                      <a:tailEnd len="sm" w="sm" type="none"/>
                    </a:lnR>
                    <a:lnT cap="flat" cmpd="sng" w="9525">
                      <a:solidFill>
                        <a:srgbClr val="C4C3BE"/>
                      </a:solidFill>
                      <a:prstDash val="solid"/>
                      <a:round/>
                      <a:headEnd len="sm" w="sm" type="none"/>
                      <a:tailEnd len="sm" w="sm" type="none"/>
                    </a:lnT>
                    <a:lnB cap="flat" cmpd="sng" w="9525">
                      <a:solidFill>
                        <a:srgbClr val="E2E8F0"/>
                      </a:solidFill>
                      <a:prstDash val="solid"/>
                      <a:round/>
                      <a:headEnd len="sm" w="sm" type="none"/>
                      <a:tailEnd len="sm" w="sm" type="none"/>
                    </a:lnB>
                    <a:solidFill>
                      <a:srgbClr val="E4E2DC"/>
                    </a:solidFill>
                  </a:tcPr>
                </a:tc>
                <a:tc>
                  <a:txBody>
                    <a:bodyPr/>
                    <a:lstStyle/>
                    <a:p>
                      <a:pPr indent="0" lvl="0" marL="0" rtl="0" algn="r">
                        <a:spcBef>
                          <a:spcPts val="0"/>
                        </a:spcBef>
                        <a:spcAft>
                          <a:spcPts val="0"/>
                        </a:spcAft>
                        <a:buNone/>
                      </a:pPr>
                      <a:r>
                        <a:rPr b="1" lang="en-US" sz="1300">
                          <a:solidFill>
                            <a:srgbClr val="14213D"/>
                          </a:solidFill>
                          <a:highlight>
                            <a:srgbClr val="E4E2DC"/>
                          </a:highlight>
                        </a:rPr>
                        <a:t>BUY dollars</a:t>
                      </a:r>
                      <a:endParaRPr b="1" sz="1300">
                        <a:solidFill>
                          <a:srgbClr val="14213D"/>
                        </a:solidFill>
                        <a:highlight>
                          <a:srgbClr val="E4E2DC"/>
                        </a:highlight>
                      </a:endParaRPr>
                    </a:p>
                  </a:txBody>
                  <a:tcPr marT="95250" marB="95250" marR="152400" marL="152400">
                    <a:lnL cap="flat" cmpd="sng" w="9525">
                      <a:solidFill>
                        <a:srgbClr val="C4C3BE"/>
                      </a:solidFill>
                      <a:prstDash val="solid"/>
                      <a:round/>
                      <a:headEnd len="sm" w="sm" type="none"/>
                      <a:tailEnd len="sm" w="sm" type="none"/>
                    </a:lnL>
                    <a:lnR cap="flat" cmpd="sng" w="9525">
                      <a:solidFill>
                        <a:srgbClr val="C4C3BE"/>
                      </a:solidFill>
                      <a:prstDash val="solid"/>
                      <a:round/>
                      <a:headEnd len="sm" w="sm" type="none"/>
                      <a:tailEnd len="sm" w="sm" type="none"/>
                    </a:lnR>
                    <a:lnT cap="flat" cmpd="sng" w="9525">
                      <a:solidFill>
                        <a:srgbClr val="C4C3BE"/>
                      </a:solidFill>
                      <a:prstDash val="solid"/>
                      <a:round/>
                      <a:headEnd len="sm" w="sm" type="none"/>
                      <a:tailEnd len="sm" w="sm" type="none"/>
                    </a:lnT>
                    <a:lnB cap="flat" cmpd="sng" w="9525">
                      <a:solidFill>
                        <a:srgbClr val="E2E8F0"/>
                      </a:solidFill>
                      <a:prstDash val="solid"/>
                      <a:round/>
                      <a:headEnd len="sm" w="sm" type="none"/>
                      <a:tailEnd len="sm" w="sm" type="none"/>
                    </a:lnB>
                    <a:solidFill>
                      <a:srgbClr val="E4E2DC"/>
                    </a:solidFill>
                  </a:tcPr>
                </a:tc>
                <a:tc>
                  <a:txBody>
                    <a:bodyPr/>
                    <a:lstStyle/>
                    <a:p>
                      <a:pPr indent="0" lvl="0" marL="0" rtl="0" algn="r">
                        <a:spcBef>
                          <a:spcPts val="0"/>
                        </a:spcBef>
                        <a:spcAft>
                          <a:spcPts val="0"/>
                        </a:spcAft>
                        <a:buNone/>
                      </a:pPr>
                      <a:r>
                        <a:rPr b="1" lang="en-US" sz="1300">
                          <a:solidFill>
                            <a:srgbClr val="14213D"/>
                          </a:solidFill>
                          <a:highlight>
                            <a:srgbClr val="E4E2DC"/>
                          </a:highlight>
                        </a:rPr>
                        <a:t>Trades</a:t>
                      </a:r>
                      <a:endParaRPr b="1" sz="1300">
                        <a:solidFill>
                          <a:srgbClr val="14213D"/>
                        </a:solidFill>
                        <a:highlight>
                          <a:srgbClr val="E4E2DC"/>
                        </a:highlight>
                      </a:endParaRPr>
                    </a:p>
                  </a:txBody>
                  <a:tcPr marT="95250" marB="95250" marR="152400" marL="152400">
                    <a:lnL cap="flat" cmpd="sng" w="9525">
                      <a:solidFill>
                        <a:srgbClr val="C4C3BE"/>
                      </a:solidFill>
                      <a:prstDash val="solid"/>
                      <a:round/>
                      <a:headEnd len="sm" w="sm" type="none"/>
                      <a:tailEnd len="sm" w="sm" type="none"/>
                    </a:lnL>
                    <a:lnR cap="flat" cmpd="sng" w="9525">
                      <a:solidFill>
                        <a:srgbClr val="C4C3BE"/>
                      </a:solidFill>
                      <a:prstDash val="solid"/>
                      <a:round/>
                      <a:headEnd len="sm" w="sm" type="none"/>
                      <a:tailEnd len="sm" w="sm" type="none"/>
                    </a:lnR>
                    <a:lnT cap="flat" cmpd="sng" w="9525">
                      <a:solidFill>
                        <a:srgbClr val="C4C3BE"/>
                      </a:solidFill>
                      <a:prstDash val="solid"/>
                      <a:round/>
                      <a:headEnd len="sm" w="sm" type="none"/>
                      <a:tailEnd len="sm" w="sm" type="none"/>
                    </a:lnT>
                    <a:lnB cap="flat" cmpd="sng" w="9525">
                      <a:solidFill>
                        <a:srgbClr val="E2E8F0"/>
                      </a:solidFill>
                      <a:prstDash val="solid"/>
                      <a:round/>
                      <a:headEnd len="sm" w="sm" type="none"/>
                      <a:tailEnd len="sm" w="sm" type="none"/>
                    </a:lnB>
                    <a:solidFill>
                      <a:srgbClr val="E4E2DC"/>
                    </a:solidFill>
                  </a:tcPr>
                </a:tc>
                <a:tc>
                  <a:txBody>
                    <a:bodyPr/>
                    <a:lstStyle/>
                    <a:p>
                      <a:pPr indent="0" lvl="0" marL="0" rtl="0" algn="r">
                        <a:spcBef>
                          <a:spcPts val="0"/>
                        </a:spcBef>
                        <a:spcAft>
                          <a:spcPts val="0"/>
                        </a:spcAft>
                        <a:buNone/>
                      </a:pPr>
                      <a:r>
                        <a:rPr b="1" lang="en-US" sz="1300">
                          <a:solidFill>
                            <a:srgbClr val="14213D"/>
                          </a:solidFill>
                          <a:highlight>
                            <a:srgbClr val="E4E2DC"/>
                          </a:highlight>
                        </a:rPr>
                        <a:t>Wallets</a:t>
                      </a:r>
                      <a:endParaRPr b="1" sz="1300">
                        <a:solidFill>
                          <a:srgbClr val="14213D"/>
                        </a:solidFill>
                        <a:highlight>
                          <a:srgbClr val="E4E2DC"/>
                        </a:highlight>
                      </a:endParaRPr>
                    </a:p>
                  </a:txBody>
                  <a:tcPr marT="95250" marB="95250" marR="152400" marL="152400">
                    <a:lnL cap="flat" cmpd="sng" w="9525">
                      <a:solidFill>
                        <a:srgbClr val="C4C3BE"/>
                      </a:solidFill>
                      <a:prstDash val="solid"/>
                      <a:round/>
                      <a:headEnd len="sm" w="sm" type="none"/>
                      <a:tailEnd len="sm" w="sm" type="none"/>
                    </a:lnL>
                    <a:lnR cap="flat" cmpd="sng" w="9525">
                      <a:solidFill>
                        <a:srgbClr val="C4C3BE"/>
                      </a:solidFill>
                      <a:prstDash val="solid"/>
                      <a:round/>
                      <a:headEnd len="sm" w="sm" type="none"/>
                      <a:tailEnd len="sm" w="sm" type="none"/>
                    </a:lnR>
                    <a:lnT cap="flat" cmpd="sng" w="9525">
                      <a:solidFill>
                        <a:srgbClr val="C4C3BE"/>
                      </a:solidFill>
                      <a:prstDash val="solid"/>
                      <a:round/>
                      <a:headEnd len="sm" w="sm" type="none"/>
                      <a:tailEnd len="sm" w="sm" type="none"/>
                    </a:lnT>
                    <a:lnB cap="flat" cmpd="sng" w="9525">
                      <a:solidFill>
                        <a:srgbClr val="E2E8F0"/>
                      </a:solidFill>
                      <a:prstDash val="solid"/>
                      <a:round/>
                      <a:headEnd len="sm" w="sm" type="none"/>
                      <a:tailEnd len="sm" w="sm" type="none"/>
                    </a:lnB>
                    <a:solidFill>
                      <a:srgbClr val="E4E2DC"/>
                    </a:solidFill>
                  </a:tcPr>
                </a:tc>
                <a:tc>
                  <a:txBody>
                    <a:bodyPr/>
                    <a:lstStyle/>
                    <a:p>
                      <a:pPr indent="0" lvl="0" marL="0" rtl="0" algn="r">
                        <a:spcBef>
                          <a:spcPts val="0"/>
                        </a:spcBef>
                        <a:spcAft>
                          <a:spcPts val="0"/>
                        </a:spcAft>
                        <a:buNone/>
                      </a:pPr>
                      <a:r>
                        <a:rPr b="1" lang="en-US" sz="1300">
                          <a:solidFill>
                            <a:srgbClr val="14213D"/>
                          </a:solidFill>
                          <a:highlight>
                            <a:srgbClr val="E4E2DC"/>
                          </a:highlight>
                        </a:rPr>
                        <a:t>Share</a:t>
                      </a:r>
                      <a:endParaRPr b="1" sz="1300">
                        <a:solidFill>
                          <a:srgbClr val="14213D"/>
                        </a:solidFill>
                        <a:highlight>
                          <a:srgbClr val="E4E2DC"/>
                        </a:highlight>
                      </a:endParaRPr>
                    </a:p>
                  </a:txBody>
                  <a:tcPr marT="95250" marB="95250" marR="152400" marL="152400">
                    <a:lnL cap="flat" cmpd="sng" w="9525">
                      <a:solidFill>
                        <a:srgbClr val="C4C3BE"/>
                      </a:solidFill>
                      <a:prstDash val="solid"/>
                      <a:round/>
                      <a:headEnd len="sm" w="sm" type="none"/>
                      <a:tailEnd len="sm" w="sm" type="none"/>
                    </a:lnL>
                    <a:lnR cap="flat" cmpd="sng" w="9525">
                      <a:solidFill>
                        <a:srgbClr val="C4C3BE"/>
                      </a:solidFill>
                      <a:prstDash val="solid"/>
                      <a:round/>
                      <a:headEnd len="sm" w="sm" type="none"/>
                      <a:tailEnd len="sm" w="sm" type="none"/>
                    </a:lnR>
                    <a:lnT cap="flat" cmpd="sng" w="9525">
                      <a:solidFill>
                        <a:srgbClr val="C4C3BE"/>
                      </a:solidFill>
                      <a:prstDash val="solid"/>
                      <a:round/>
                      <a:headEnd len="sm" w="sm" type="none"/>
                      <a:tailEnd len="sm" w="sm" type="none"/>
                    </a:lnT>
                    <a:lnB cap="flat" cmpd="sng" w="9525">
                      <a:solidFill>
                        <a:srgbClr val="E2E8F0"/>
                      </a:solidFill>
                      <a:prstDash val="solid"/>
                      <a:round/>
                      <a:headEnd len="sm" w="sm" type="none"/>
                      <a:tailEnd len="sm" w="sm" type="none"/>
                    </a:lnB>
                    <a:solidFill>
                      <a:srgbClr val="E4E2DC"/>
                    </a:solidFill>
                  </a:tcPr>
                </a:tc>
              </a:tr>
              <a:tr h="505325">
                <a:tc>
                  <a:txBody>
                    <a:bodyPr/>
                    <a:lstStyle/>
                    <a:p>
                      <a:pPr indent="0" lvl="0" marL="0" rtl="0" algn="l">
                        <a:spcBef>
                          <a:spcPts val="0"/>
                        </a:spcBef>
                        <a:spcAft>
                          <a:spcPts val="0"/>
                        </a:spcAft>
                        <a:buNone/>
                      </a:pPr>
                      <a:r>
                        <a:rPr lang="en-US" sz="1300">
                          <a:solidFill>
                            <a:srgbClr val="14213D"/>
                          </a:solidFill>
                          <a:highlight>
                            <a:srgbClr val="FFFFFF"/>
                          </a:highlight>
                        </a:rPr>
                        <a:t>0–1h</a:t>
                      </a:r>
                      <a:endParaRPr sz="1300">
                        <a:solidFill>
                          <a:srgbClr val="14213D"/>
                        </a:solidFill>
                        <a:highlight>
                          <a:srgbClr val="FFFFFF"/>
                        </a:highlight>
                      </a:endParaRPr>
                    </a:p>
                  </a:txBody>
                  <a:tcPr marT="76200" marB="76200" marR="152400" marL="15240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b="1" lang="en-US" sz="1300">
                          <a:solidFill>
                            <a:schemeClr val="dk1"/>
                          </a:solidFill>
                          <a:highlight>
                            <a:srgbClr val="FFFFFF"/>
                          </a:highlight>
                        </a:rPr>
                        <a:t>YES</a:t>
                      </a:r>
                      <a:endParaRPr b="1" sz="1300">
                        <a:solidFill>
                          <a:schemeClr val="dk1"/>
                        </a:solidFill>
                        <a:highlight>
                          <a:srgbClr val="FFFFFF"/>
                        </a:highlight>
                      </a:endParaRPr>
                    </a:p>
                  </a:txBody>
                  <a:tcPr marT="76200" marB="76200" marR="152400" marL="15240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rtl="0" algn="r">
                        <a:spcBef>
                          <a:spcPts val="0"/>
                        </a:spcBef>
                        <a:spcAft>
                          <a:spcPts val="0"/>
                        </a:spcAft>
                        <a:buNone/>
                      </a:pPr>
                      <a:r>
                        <a:rPr lang="en-US" sz="1300">
                          <a:solidFill>
                            <a:srgbClr val="14213D"/>
                          </a:solidFill>
                          <a:highlight>
                            <a:srgbClr val="FFFFFF"/>
                          </a:highlight>
                        </a:rPr>
                        <a:t>$109.44</a:t>
                      </a:r>
                      <a:endParaRPr sz="1300">
                        <a:solidFill>
                          <a:srgbClr val="14213D"/>
                        </a:solidFill>
                        <a:highlight>
                          <a:srgbClr val="FFFFFF"/>
                        </a:highlight>
                      </a:endParaRPr>
                    </a:p>
                  </a:txBody>
                  <a:tcPr marT="76200" marB="76200" marR="152400" marL="15240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rtl="0" algn="r">
                        <a:spcBef>
                          <a:spcPts val="0"/>
                        </a:spcBef>
                        <a:spcAft>
                          <a:spcPts val="0"/>
                        </a:spcAft>
                        <a:buNone/>
                      </a:pPr>
                      <a:r>
                        <a:rPr lang="en-US" sz="1300">
                          <a:solidFill>
                            <a:srgbClr val="14213D"/>
                          </a:solidFill>
                          <a:highlight>
                            <a:srgbClr val="FFFFFF"/>
                          </a:highlight>
                        </a:rPr>
                        <a:t>9</a:t>
                      </a:r>
                      <a:endParaRPr sz="1300">
                        <a:solidFill>
                          <a:srgbClr val="14213D"/>
                        </a:solidFill>
                        <a:highlight>
                          <a:srgbClr val="FFFFFF"/>
                        </a:highlight>
                      </a:endParaRPr>
                    </a:p>
                  </a:txBody>
                  <a:tcPr marT="76200" marB="76200" marR="152400" marL="15240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rtl="0" algn="r">
                        <a:spcBef>
                          <a:spcPts val="0"/>
                        </a:spcBef>
                        <a:spcAft>
                          <a:spcPts val="0"/>
                        </a:spcAft>
                        <a:buNone/>
                      </a:pPr>
                      <a:r>
                        <a:rPr lang="en-US" sz="1300">
                          <a:solidFill>
                            <a:srgbClr val="14213D"/>
                          </a:solidFill>
                          <a:highlight>
                            <a:srgbClr val="FFFFFF"/>
                          </a:highlight>
                        </a:rPr>
                        <a:t>9</a:t>
                      </a:r>
                      <a:endParaRPr sz="1300">
                        <a:solidFill>
                          <a:srgbClr val="14213D"/>
                        </a:solidFill>
                        <a:highlight>
                          <a:srgbClr val="FFFFFF"/>
                        </a:highlight>
                      </a:endParaRPr>
                    </a:p>
                  </a:txBody>
                  <a:tcPr marT="76200" marB="76200" marR="152400" marL="15240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rtl="0" algn="r">
                        <a:spcBef>
                          <a:spcPts val="0"/>
                        </a:spcBef>
                        <a:spcAft>
                          <a:spcPts val="0"/>
                        </a:spcAft>
                        <a:buNone/>
                      </a:pPr>
                      <a:r>
                        <a:rPr b="0" lang="en-US" sz="1300">
                          <a:solidFill>
                            <a:srgbClr val="14213D"/>
                          </a:solidFill>
                          <a:highlight>
                            <a:srgbClr val="FFFFFF"/>
                          </a:highlight>
                        </a:rPr>
                        <a:t>100.0%</a:t>
                      </a:r>
                      <a:endParaRPr b="0" sz="1300">
                        <a:solidFill>
                          <a:srgbClr val="14213D"/>
                        </a:solidFill>
                        <a:highlight>
                          <a:srgbClr val="FFFFFF"/>
                        </a:highlight>
                      </a:endParaRPr>
                    </a:p>
                  </a:txBody>
                  <a:tcPr marT="76200" marB="76200" marR="152400" marL="15240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r>
              <a:tr h="505325">
                <a:tc>
                  <a:txBody>
                    <a:bodyPr/>
                    <a:lstStyle/>
                    <a:p>
                      <a:pPr indent="0" lvl="0" marL="0" rtl="0" algn="l">
                        <a:spcBef>
                          <a:spcPts val="0"/>
                        </a:spcBef>
                        <a:spcAft>
                          <a:spcPts val="0"/>
                        </a:spcAft>
                        <a:buNone/>
                      </a:pPr>
                      <a:r>
                        <a:rPr lang="en-US" sz="1300">
                          <a:solidFill>
                            <a:srgbClr val="14213D"/>
                          </a:solidFill>
                          <a:highlight>
                            <a:srgbClr val="FBFBFA"/>
                          </a:highlight>
                        </a:rPr>
                        <a:t>1–6h</a:t>
                      </a:r>
                      <a:endParaRPr sz="1300">
                        <a:solidFill>
                          <a:srgbClr val="14213D"/>
                        </a:solidFill>
                        <a:highlight>
                          <a:srgbClr val="FBFBFA"/>
                        </a:highlight>
                      </a:endParaRPr>
                    </a:p>
                  </a:txBody>
                  <a:tcPr marT="76200" marB="76200" marR="152400" marL="15240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BFBFA"/>
                    </a:solidFill>
                  </a:tcPr>
                </a:tc>
                <a:tc>
                  <a:txBody>
                    <a:bodyPr/>
                    <a:lstStyle/>
                    <a:p>
                      <a:pPr indent="0" lvl="0" marL="0" rtl="0" algn="ctr">
                        <a:spcBef>
                          <a:spcPts val="0"/>
                        </a:spcBef>
                        <a:spcAft>
                          <a:spcPts val="0"/>
                        </a:spcAft>
                        <a:buNone/>
                      </a:pPr>
                      <a:r>
                        <a:rPr b="1" lang="en-US" sz="1300">
                          <a:solidFill>
                            <a:schemeClr val="dk1"/>
                          </a:solidFill>
                          <a:highlight>
                            <a:srgbClr val="FBFBFA"/>
                          </a:highlight>
                        </a:rPr>
                        <a:t>YES</a:t>
                      </a:r>
                      <a:endParaRPr b="1" sz="1300">
                        <a:solidFill>
                          <a:schemeClr val="dk1"/>
                        </a:solidFill>
                        <a:highlight>
                          <a:srgbClr val="FBFBFA"/>
                        </a:highlight>
                      </a:endParaRPr>
                    </a:p>
                  </a:txBody>
                  <a:tcPr marT="76200" marB="76200" marR="152400" marL="15240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BFBFA"/>
                    </a:solidFill>
                  </a:tcPr>
                </a:tc>
                <a:tc>
                  <a:txBody>
                    <a:bodyPr/>
                    <a:lstStyle/>
                    <a:p>
                      <a:pPr indent="0" lvl="0" marL="0" rtl="0" algn="r">
                        <a:spcBef>
                          <a:spcPts val="0"/>
                        </a:spcBef>
                        <a:spcAft>
                          <a:spcPts val="0"/>
                        </a:spcAft>
                        <a:buNone/>
                      </a:pPr>
                      <a:r>
                        <a:rPr lang="en-US" sz="1300">
                          <a:solidFill>
                            <a:srgbClr val="14213D"/>
                          </a:solidFill>
                          <a:highlight>
                            <a:srgbClr val="FBFBFA"/>
                          </a:highlight>
                        </a:rPr>
                        <a:t>$1,389.73</a:t>
                      </a:r>
                      <a:endParaRPr sz="1300">
                        <a:solidFill>
                          <a:srgbClr val="14213D"/>
                        </a:solidFill>
                        <a:highlight>
                          <a:srgbClr val="FBFBFA"/>
                        </a:highlight>
                      </a:endParaRPr>
                    </a:p>
                  </a:txBody>
                  <a:tcPr marT="76200" marB="76200" marR="152400" marL="15240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BFBFA"/>
                    </a:solidFill>
                  </a:tcPr>
                </a:tc>
                <a:tc>
                  <a:txBody>
                    <a:bodyPr/>
                    <a:lstStyle/>
                    <a:p>
                      <a:pPr indent="0" lvl="0" marL="0" rtl="0" algn="r">
                        <a:spcBef>
                          <a:spcPts val="0"/>
                        </a:spcBef>
                        <a:spcAft>
                          <a:spcPts val="0"/>
                        </a:spcAft>
                        <a:buNone/>
                      </a:pPr>
                      <a:r>
                        <a:rPr lang="en-US" sz="1300">
                          <a:solidFill>
                            <a:srgbClr val="14213D"/>
                          </a:solidFill>
                          <a:highlight>
                            <a:srgbClr val="FBFBFA"/>
                          </a:highlight>
                        </a:rPr>
                        <a:t>71</a:t>
                      </a:r>
                      <a:endParaRPr sz="1300">
                        <a:solidFill>
                          <a:srgbClr val="14213D"/>
                        </a:solidFill>
                        <a:highlight>
                          <a:srgbClr val="FBFBFA"/>
                        </a:highlight>
                      </a:endParaRPr>
                    </a:p>
                  </a:txBody>
                  <a:tcPr marT="76200" marB="76200" marR="152400" marL="15240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BFBFA"/>
                    </a:solidFill>
                  </a:tcPr>
                </a:tc>
                <a:tc>
                  <a:txBody>
                    <a:bodyPr/>
                    <a:lstStyle/>
                    <a:p>
                      <a:pPr indent="0" lvl="0" marL="0" rtl="0" algn="r">
                        <a:spcBef>
                          <a:spcPts val="0"/>
                        </a:spcBef>
                        <a:spcAft>
                          <a:spcPts val="0"/>
                        </a:spcAft>
                        <a:buNone/>
                      </a:pPr>
                      <a:r>
                        <a:rPr lang="en-US" sz="1300">
                          <a:solidFill>
                            <a:srgbClr val="14213D"/>
                          </a:solidFill>
                          <a:highlight>
                            <a:srgbClr val="FBFBFA"/>
                          </a:highlight>
                        </a:rPr>
                        <a:t>67</a:t>
                      </a:r>
                      <a:endParaRPr sz="1300">
                        <a:solidFill>
                          <a:srgbClr val="14213D"/>
                        </a:solidFill>
                        <a:highlight>
                          <a:srgbClr val="FBFBFA"/>
                        </a:highlight>
                      </a:endParaRPr>
                    </a:p>
                  </a:txBody>
                  <a:tcPr marT="76200" marB="76200" marR="152400" marL="15240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BFBFA"/>
                    </a:solidFill>
                  </a:tcPr>
                </a:tc>
                <a:tc>
                  <a:txBody>
                    <a:bodyPr/>
                    <a:lstStyle/>
                    <a:p>
                      <a:pPr indent="0" lvl="0" marL="0" rtl="0" algn="r">
                        <a:spcBef>
                          <a:spcPts val="0"/>
                        </a:spcBef>
                        <a:spcAft>
                          <a:spcPts val="0"/>
                        </a:spcAft>
                        <a:buNone/>
                      </a:pPr>
                      <a:r>
                        <a:rPr b="0" lang="en-US" sz="1300">
                          <a:solidFill>
                            <a:srgbClr val="14213D"/>
                          </a:solidFill>
                          <a:highlight>
                            <a:srgbClr val="FBFBFA"/>
                          </a:highlight>
                        </a:rPr>
                        <a:t>100.0%</a:t>
                      </a:r>
                      <a:endParaRPr b="0" sz="1300">
                        <a:solidFill>
                          <a:srgbClr val="14213D"/>
                        </a:solidFill>
                        <a:highlight>
                          <a:srgbClr val="FBFBFA"/>
                        </a:highlight>
                      </a:endParaRPr>
                    </a:p>
                  </a:txBody>
                  <a:tcPr marT="76200" marB="76200" marR="152400" marL="15240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BFBFA"/>
                    </a:solidFill>
                  </a:tcPr>
                </a:tc>
              </a:tr>
              <a:tr h="505325">
                <a:tc>
                  <a:txBody>
                    <a:bodyPr/>
                    <a:lstStyle/>
                    <a:p>
                      <a:pPr indent="0" lvl="0" marL="0" rtl="0" algn="l">
                        <a:spcBef>
                          <a:spcPts val="0"/>
                        </a:spcBef>
                        <a:spcAft>
                          <a:spcPts val="0"/>
                        </a:spcAft>
                        <a:buNone/>
                      </a:pPr>
                      <a:r>
                        <a:rPr lang="en-US" sz="1300">
                          <a:solidFill>
                            <a:srgbClr val="14213D"/>
                          </a:solidFill>
                          <a:highlight>
                            <a:srgbClr val="FFFFFF"/>
                          </a:highlight>
                        </a:rPr>
                        <a:t>6–24h</a:t>
                      </a:r>
                      <a:endParaRPr sz="1300">
                        <a:solidFill>
                          <a:srgbClr val="14213D"/>
                        </a:solidFill>
                        <a:highlight>
                          <a:srgbClr val="FFFFFF"/>
                        </a:highlight>
                      </a:endParaRPr>
                    </a:p>
                  </a:txBody>
                  <a:tcPr marT="76200" marB="76200" marR="152400" marL="15240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b="1" lang="en-US" sz="1300">
                          <a:solidFill>
                            <a:schemeClr val="dk1"/>
                          </a:solidFill>
                          <a:highlight>
                            <a:srgbClr val="00FFFF"/>
                          </a:highlight>
                        </a:rPr>
                        <a:t>NO</a:t>
                      </a:r>
                      <a:endParaRPr b="1" sz="1300">
                        <a:solidFill>
                          <a:schemeClr val="dk1"/>
                        </a:solidFill>
                        <a:highlight>
                          <a:srgbClr val="00FFFF"/>
                        </a:highlight>
                      </a:endParaRPr>
                    </a:p>
                  </a:txBody>
                  <a:tcPr marT="76200" marB="76200" marR="152400" marL="15240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rtl="0" algn="r">
                        <a:spcBef>
                          <a:spcPts val="0"/>
                        </a:spcBef>
                        <a:spcAft>
                          <a:spcPts val="0"/>
                        </a:spcAft>
                        <a:buNone/>
                      </a:pPr>
                      <a:r>
                        <a:rPr lang="en-US" sz="1300">
                          <a:solidFill>
                            <a:srgbClr val="14213D"/>
                          </a:solidFill>
                          <a:highlight>
                            <a:srgbClr val="FFFFFF"/>
                          </a:highlight>
                        </a:rPr>
                        <a:t>$24.71</a:t>
                      </a:r>
                      <a:endParaRPr sz="1300">
                        <a:solidFill>
                          <a:srgbClr val="14213D"/>
                        </a:solidFill>
                        <a:highlight>
                          <a:srgbClr val="FFFFFF"/>
                        </a:highlight>
                      </a:endParaRPr>
                    </a:p>
                  </a:txBody>
                  <a:tcPr marT="76200" marB="76200" marR="152400" marL="15240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rtl="0" algn="r">
                        <a:spcBef>
                          <a:spcPts val="0"/>
                        </a:spcBef>
                        <a:spcAft>
                          <a:spcPts val="0"/>
                        </a:spcAft>
                        <a:buNone/>
                      </a:pPr>
                      <a:r>
                        <a:rPr lang="en-US" sz="1300">
                          <a:solidFill>
                            <a:srgbClr val="14213D"/>
                          </a:solidFill>
                          <a:highlight>
                            <a:srgbClr val="FFFFFF"/>
                          </a:highlight>
                        </a:rPr>
                        <a:t>6</a:t>
                      </a:r>
                      <a:endParaRPr sz="1300">
                        <a:solidFill>
                          <a:srgbClr val="14213D"/>
                        </a:solidFill>
                        <a:highlight>
                          <a:srgbClr val="FFFFFF"/>
                        </a:highlight>
                      </a:endParaRPr>
                    </a:p>
                  </a:txBody>
                  <a:tcPr marT="76200" marB="76200" marR="152400" marL="15240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rtl="0" algn="r">
                        <a:spcBef>
                          <a:spcPts val="0"/>
                        </a:spcBef>
                        <a:spcAft>
                          <a:spcPts val="0"/>
                        </a:spcAft>
                        <a:buNone/>
                      </a:pPr>
                      <a:r>
                        <a:rPr lang="en-US" sz="1300">
                          <a:solidFill>
                            <a:srgbClr val="14213D"/>
                          </a:solidFill>
                          <a:highlight>
                            <a:srgbClr val="FFFFFF"/>
                          </a:highlight>
                        </a:rPr>
                        <a:t>2</a:t>
                      </a:r>
                      <a:endParaRPr sz="1300">
                        <a:solidFill>
                          <a:srgbClr val="14213D"/>
                        </a:solidFill>
                        <a:highlight>
                          <a:srgbClr val="FFFFFF"/>
                        </a:highlight>
                      </a:endParaRPr>
                    </a:p>
                  </a:txBody>
                  <a:tcPr marT="76200" marB="76200" marR="152400" marL="15240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rtl="0" algn="r">
                        <a:spcBef>
                          <a:spcPts val="0"/>
                        </a:spcBef>
                        <a:spcAft>
                          <a:spcPts val="0"/>
                        </a:spcAft>
                        <a:buNone/>
                      </a:pPr>
                      <a:r>
                        <a:rPr b="1" lang="en-US" sz="1300">
                          <a:solidFill>
                            <a:srgbClr val="14213D"/>
                          </a:solidFill>
                          <a:highlight>
                            <a:srgbClr val="FFFFFF"/>
                          </a:highlight>
                        </a:rPr>
                        <a:t>0.1%</a:t>
                      </a:r>
                      <a:endParaRPr b="1" sz="1300">
                        <a:solidFill>
                          <a:srgbClr val="14213D"/>
                        </a:solidFill>
                        <a:highlight>
                          <a:srgbClr val="FFFFFF"/>
                        </a:highlight>
                      </a:endParaRPr>
                    </a:p>
                  </a:txBody>
                  <a:tcPr marT="76200" marB="76200" marR="152400" marL="15240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r>
              <a:tr h="505325">
                <a:tc>
                  <a:txBody>
                    <a:bodyPr/>
                    <a:lstStyle/>
                    <a:p>
                      <a:pPr indent="0" lvl="0" marL="0" rtl="0" algn="l">
                        <a:spcBef>
                          <a:spcPts val="0"/>
                        </a:spcBef>
                        <a:spcAft>
                          <a:spcPts val="0"/>
                        </a:spcAft>
                        <a:buNone/>
                      </a:pPr>
                      <a:r>
                        <a:rPr lang="en-US" sz="1300">
                          <a:solidFill>
                            <a:srgbClr val="14213D"/>
                          </a:solidFill>
                          <a:highlight>
                            <a:srgbClr val="FBFBFA"/>
                          </a:highlight>
                        </a:rPr>
                        <a:t>6–24h</a:t>
                      </a:r>
                      <a:endParaRPr sz="1300">
                        <a:solidFill>
                          <a:srgbClr val="14213D"/>
                        </a:solidFill>
                        <a:highlight>
                          <a:srgbClr val="FBFBFA"/>
                        </a:highlight>
                      </a:endParaRPr>
                    </a:p>
                  </a:txBody>
                  <a:tcPr marT="76200" marB="76200" marR="152400" marL="15240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BFBFA"/>
                    </a:solidFill>
                  </a:tcPr>
                </a:tc>
                <a:tc>
                  <a:txBody>
                    <a:bodyPr/>
                    <a:lstStyle/>
                    <a:p>
                      <a:pPr indent="0" lvl="0" marL="0" rtl="0" algn="ctr">
                        <a:spcBef>
                          <a:spcPts val="0"/>
                        </a:spcBef>
                        <a:spcAft>
                          <a:spcPts val="0"/>
                        </a:spcAft>
                        <a:buNone/>
                      </a:pPr>
                      <a:r>
                        <a:rPr b="1" lang="en-US" sz="1300">
                          <a:solidFill>
                            <a:schemeClr val="dk1"/>
                          </a:solidFill>
                          <a:highlight>
                            <a:srgbClr val="FBFBFA"/>
                          </a:highlight>
                        </a:rPr>
                        <a:t>YES</a:t>
                      </a:r>
                      <a:endParaRPr b="1" sz="1300">
                        <a:solidFill>
                          <a:schemeClr val="dk1"/>
                        </a:solidFill>
                        <a:highlight>
                          <a:srgbClr val="FBFBFA"/>
                        </a:highlight>
                      </a:endParaRPr>
                    </a:p>
                  </a:txBody>
                  <a:tcPr marT="76200" marB="76200" marR="152400" marL="15240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BFBFA"/>
                    </a:solidFill>
                  </a:tcPr>
                </a:tc>
                <a:tc>
                  <a:txBody>
                    <a:bodyPr/>
                    <a:lstStyle/>
                    <a:p>
                      <a:pPr indent="0" lvl="0" marL="0" rtl="0" algn="r">
                        <a:spcBef>
                          <a:spcPts val="0"/>
                        </a:spcBef>
                        <a:spcAft>
                          <a:spcPts val="0"/>
                        </a:spcAft>
                        <a:buNone/>
                      </a:pPr>
                      <a:r>
                        <a:rPr lang="en-US" sz="1300">
                          <a:solidFill>
                            <a:srgbClr val="14213D"/>
                          </a:solidFill>
                          <a:highlight>
                            <a:srgbClr val="FBFBFA"/>
                          </a:highlight>
                        </a:rPr>
                        <a:t>$23,401.62</a:t>
                      </a:r>
                      <a:endParaRPr sz="1300">
                        <a:solidFill>
                          <a:srgbClr val="14213D"/>
                        </a:solidFill>
                        <a:highlight>
                          <a:srgbClr val="FBFBFA"/>
                        </a:highlight>
                      </a:endParaRPr>
                    </a:p>
                  </a:txBody>
                  <a:tcPr marT="76200" marB="76200" marR="152400" marL="15240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BFBFA"/>
                    </a:solidFill>
                  </a:tcPr>
                </a:tc>
                <a:tc>
                  <a:txBody>
                    <a:bodyPr/>
                    <a:lstStyle/>
                    <a:p>
                      <a:pPr indent="0" lvl="0" marL="0" rtl="0" algn="r">
                        <a:spcBef>
                          <a:spcPts val="0"/>
                        </a:spcBef>
                        <a:spcAft>
                          <a:spcPts val="0"/>
                        </a:spcAft>
                        <a:buNone/>
                      </a:pPr>
                      <a:r>
                        <a:rPr lang="en-US" sz="1300">
                          <a:solidFill>
                            <a:srgbClr val="14213D"/>
                          </a:solidFill>
                          <a:highlight>
                            <a:srgbClr val="FBFBFA"/>
                          </a:highlight>
                        </a:rPr>
                        <a:t>1,345</a:t>
                      </a:r>
                      <a:endParaRPr sz="1300">
                        <a:solidFill>
                          <a:srgbClr val="14213D"/>
                        </a:solidFill>
                        <a:highlight>
                          <a:srgbClr val="FBFBFA"/>
                        </a:highlight>
                      </a:endParaRPr>
                    </a:p>
                  </a:txBody>
                  <a:tcPr marT="76200" marB="76200" marR="152400" marL="15240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BFBFA"/>
                    </a:solidFill>
                  </a:tcPr>
                </a:tc>
                <a:tc>
                  <a:txBody>
                    <a:bodyPr/>
                    <a:lstStyle/>
                    <a:p>
                      <a:pPr indent="0" lvl="0" marL="0" rtl="0" algn="r">
                        <a:spcBef>
                          <a:spcPts val="0"/>
                        </a:spcBef>
                        <a:spcAft>
                          <a:spcPts val="0"/>
                        </a:spcAft>
                        <a:buNone/>
                      </a:pPr>
                      <a:r>
                        <a:rPr lang="en-US" sz="1300">
                          <a:solidFill>
                            <a:srgbClr val="14213D"/>
                          </a:solidFill>
                          <a:highlight>
                            <a:srgbClr val="FBFBFA"/>
                          </a:highlight>
                        </a:rPr>
                        <a:t>1,263</a:t>
                      </a:r>
                      <a:endParaRPr sz="1300">
                        <a:solidFill>
                          <a:srgbClr val="14213D"/>
                        </a:solidFill>
                        <a:highlight>
                          <a:srgbClr val="FBFBFA"/>
                        </a:highlight>
                      </a:endParaRPr>
                    </a:p>
                  </a:txBody>
                  <a:tcPr marT="76200" marB="76200" marR="152400" marL="15240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BFBFA"/>
                    </a:solidFill>
                  </a:tcPr>
                </a:tc>
                <a:tc>
                  <a:txBody>
                    <a:bodyPr/>
                    <a:lstStyle/>
                    <a:p>
                      <a:pPr indent="0" lvl="0" marL="0" rtl="0" algn="r">
                        <a:spcBef>
                          <a:spcPts val="0"/>
                        </a:spcBef>
                        <a:spcAft>
                          <a:spcPts val="0"/>
                        </a:spcAft>
                        <a:buNone/>
                      </a:pPr>
                      <a:r>
                        <a:rPr b="0" lang="en-US" sz="1300">
                          <a:solidFill>
                            <a:srgbClr val="14213D"/>
                          </a:solidFill>
                          <a:highlight>
                            <a:srgbClr val="FBFBFA"/>
                          </a:highlight>
                        </a:rPr>
                        <a:t>99.9%</a:t>
                      </a:r>
                      <a:endParaRPr b="0" sz="1300">
                        <a:solidFill>
                          <a:srgbClr val="14213D"/>
                        </a:solidFill>
                        <a:highlight>
                          <a:srgbClr val="FBFBFA"/>
                        </a:highlight>
                      </a:endParaRPr>
                    </a:p>
                  </a:txBody>
                  <a:tcPr marT="76200" marB="76200" marR="152400" marL="15240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BFBFA"/>
                    </a:solidFill>
                  </a:tcPr>
                </a:tc>
              </a:tr>
              <a:tr h="505325">
                <a:tc>
                  <a:txBody>
                    <a:bodyPr/>
                    <a:lstStyle/>
                    <a:p>
                      <a:pPr indent="0" lvl="0" marL="0" rtl="0" algn="l">
                        <a:spcBef>
                          <a:spcPts val="0"/>
                        </a:spcBef>
                        <a:spcAft>
                          <a:spcPts val="0"/>
                        </a:spcAft>
                        <a:buNone/>
                      </a:pPr>
                      <a:r>
                        <a:rPr lang="en-US" sz="1300">
                          <a:solidFill>
                            <a:srgbClr val="14213D"/>
                          </a:solidFill>
                          <a:highlight>
                            <a:srgbClr val="FFFFFF"/>
                          </a:highlight>
                        </a:rPr>
                        <a:t>1–3d</a:t>
                      </a:r>
                      <a:endParaRPr sz="1300">
                        <a:solidFill>
                          <a:srgbClr val="14213D"/>
                        </a:solidFill>
                        <a:highlight>
                          <a:srgbClr val="FFFFFF"/>
                        </a:highlight>
                      </a:endParaRPr>
                    </a:p>
                  </a:txBody>
                  <a:tcPr marT="76200" marB="76200" marR="152400" marL="15240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b="1" lang="en-US" sz="1300">
                          <a:solidFill>
                            <a:schemeClr val="dk1"/>
                          </a:solidFill>
                          <a:highlight>
                            <a:srgbClr val="00FFFF"/>
                          </a:highlight>
                        </a:rPr>
                        <a:t>NO</a:t>
                      </a:r>
                      <a:endParaRPr b="1" sz="1300">
                        <a:solidFill>
                          <a:schemeClr val="dk1"/>
                        </a:solidFill>
                        <a:highlight>
                          <a:srgbClr val="00FFFF"/>
                        </a:highlight>
                      </a:endParaRPr>
                    </a:p>
                  </a:txBody>
                  <a:tcPr marT="76200" marB="76200" marR="152400" marL="15240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rtl="0" algn="r">
                        <a:spcBef>
                          <a:spcPts val="0"/>
                        </a:spcBef>
                        <a:spcAft>
                          <a:spcPts val="0"/>
                        </a:spcAft>
                        <a:buNone/>
                      </a:pPr>
                      <a:r>
                        <a:rPr lang="en-US" sz="1300">
                          <a:solidFill>
                            <a:srgbClr val="14213D"/>
                          </a:solidFill>
                          <a:highlight>
                            <a:srgbClr val="FFFFFF"/>
                          </a:highlight>
                        </a:rPr>
                        <a:t>$17.00</a:t>
                      </a:r>
                      <a:endParaRPr sz="1300">
                        <a:solidFill>
                          <a:srgbClr val="14213D"/>
                        </a:solidFill>
                        <a:highlight>
                          <a:srgbClr val="FFFFFF"/>
                        </a:highlight>
                      </a:endParaRPr>
                    </a:p>
                  </a:txBody>
                  <a:tcPr marT="76200" marB="76200" marR="152400" marL="15240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rtl="0" algn="r">
                        <a:spcBef>
                          <a:spcPts val="0"/>
                        </a:spcBef>
                        <a:spcAft>
                          <a:spcPts val="0"/>
                        </a:spcAft>
                        <a:buNone/>
                      </a:pPr>
                      <a:r>
                        <a:rPr lang="en-US" sz="1300">
                          <a:solidFill>
                            <a:srgbClr val="14213D"/>
                          </a:solidFill>
                          <a:highlight>
                            <a:srgbClr val="FFFFFF"/>
                          </a:highlight>
                        </a:rPr>
                        <a:t>11</a:t>
                      </a:r>
                      <a:endParaRPr sz="1300">
                        <a:solidFill>
                          <a:srgbClr val="14213D"/>
                        </a:solidFill>
                        <a:highlight>
                          <a:srgbClr val="FFFFFF"/>
                        </a:highlight>
                      </a:endParaRPr>
                    </a:p>
                  </a:txBody>
                  <a:tcPr marT="76200" marB="76200" marR="152400" marL="15240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rtl="0" algn="r">
                        <a:spcBef>
                          <a:spcPts val="0"/>
                        </a:spcBef>
                        <a:spcAft>
                          <a:spcPts val="0"/>
                        </a:spcAft>
                        <a:buNone/>
                      </a:pPr>
                      <a:r>
                        <a:rPr lang="en-US" sz="1300">
                          <a:solidFill>
                            <a:srgbClr val="14213D"/>
                          </a:solidFill>
                          <a:highlight>
                            <a:srgbClr val="FFFFFF"/>
                          </a:highlight>
                        </a:rPr>
                        <a:t>8</a:t>
                      </a:r>
                      <a:endParaRPr sz="1300">
                        <a:solidFill>
                          <a:srgbClr val="14213D"/>
                        </a:solidFill>
                        <a:highlight>
                          <a:srgbClr val="FFFFFF"/>
                        </a:highlight>
                      </a:endParaRPr>
                    </a:p>
                  </a:txBody>
                  <a:tcPr marT="76200" marB="76200" marR="152400" marL="15240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rtl="0" algn="r">
                        <a:spcBef>
                          <a:spcPts val="0"/>
                        </a:spcBef>
                        <a:spcAft>
                          <a:spcPts val="0"/>
                        </a:spcAft>
                        <a:buNone/>
                      </a:pPr>
                      <a:r>
                        <a:rPr b="1" lang="en-US" sz="1300">
                          <a:solidFill>
                            <a:srgbClr val="14213D"/>
                          </a:solidFill>
                          <a:highlight>
                            <a:srgbClr val="FFFFFF"/>
                          </a:highlight>
                        </a:rPr>
                        <a:t>0.0%</a:t>
                      </a:r>
                      <a:endParaRPr b="1" sz="1300">
                        <a:solidFill>
                          <a:srgbClr val="14213D"/>
                        </a:solidFill>
                        <a:highlight>
                          <a:srgbClr val="FFFFFF"/>
                        </a:highlight>
                      </a:endParaRPr>
                    </a:p>
                  </a:txBody>
                  <a:tcPr marT="76200" marB="76200" marR="152400" marL="15240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r>
              <a:tr h="505325">
                <a:tc>
                  <a:txBody>
                    <a:bodyPr/>
                    <a:lstStyle/>
                    <a:p>
                      <a:pPr indent="0" lvl="0" marL="0" rtl="0" algn="l">
                        <a:spcBef>
                          <a:spcPts val="0"/>
                        </a:spcBef>
                        <a:spcAft>
                          <a:spcPts val="0"/>
                        </a:spcAft>
                        <a:buNone/>
                      </a:pPr>
                      <a:r>
                        <a:rPr lang="en-US" sz="1300">
                          <a:solidFill>
                            <a:srgbClr val="14213D"/>
                          </a:solidFill>
                          <a:highlight>
                            <a:srgbClr val="FBFBFA"/>
                          </a:highlight>
                        </a:rPr>
                        <a:t>1–3d</a:t>
                      </a:r>
                      <a:endParaRPr sz="1300">
                        <a:solidFill>
                          <a:srgbClr val="14213D"/>
                        </a:solidFill>
                        <a:highlight>
                          <a:srgbClr val="FBFBFA"/>
                        </a:highlight>
                      </a:endParaRPr>
                    </a:p>
                  </a:txBody>
                  <a:tcPr marT="76200" marB="76200" marR="152400" marL="15240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BFBFA"/>
                    </a:solidFill>
                  </a:tcPr>
                </a:tc>
                <a:tc>
                  <a:txBody>
                    <a:bodyPr/>
                    <a:lstStyle/>
                    <a:p>
                      <a:pPr indent="0" lvl="0" marL="0" rtl="0" algn="ctr">
                        <a:spcBef>
                          <a:spcPts val="0"/>
                        </a:spcBef>
                        <a:spcAft>
                          <a:spcPts val="0"/>
                        </a:spcAft>
                        <a:buNone/>
                      </a:pPr>
                      <a:r>
                        <a:rPr b="1" lang="en-US" sz="1300">
                          <a:solidFill>
                            <a:schemeClr val="dk1"/>
                          </a:solidFill>
                          <a:highlight>
                            <a:srgbClr val="FBFBFA"/>
                          </a:highlight>
                        </a:rPr>
                        <a:t>YES</a:t>
                      </a:r>
                      <a:endParaRPr b="1" sz="1300">
                        <a:solidFill>
                          <a:schemeClr val="dk1"/>
                        </a:solidFill>
                        <a:highlight>
                          <a:srgbClr val="FBFBFA"/>
                        </a:highlight>
                      </a:endParaRPr>
                    </a:p>
                  </a:txBody>
                  <a:tcPr marT="76200" marB="76200" marR="152400" marL="15240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BFBFA"/>
                    </a:solidFill>
                  </a:tcPr>
                </a:tc>
                <a:tc>
                  <a:txBody>
                    <a:bodyPr/>
                    <a:lstStyle/>
                    <a:p>
                      <a:pPr indent="0" lvl="0" marL="0" rtl="0" algn="r">
                        <a:spcBef>
                          <a:spcPts val="0"/>
                        </a:spcBef>
                        <a:spcAft>
                          <a:spcPts val="0"/>
                        </a:spcAft>
                        <a:buNone/>
                      </a:pPr>
                      <a:r>
                        <a:rPr lang="en-US" sz="1300">
                          <a:solidFill>
                            <a:srgbClr val="14213D"/>
                          </a:solidFill>
                          <a:highlight>
                            <a:srgbClr val="FBFBFA"/>
                          </a:highlight>
                        </a:rPr>
                        <a:t>$34,236.07</a:t>
                      </a:r>
                      <a:endParaRPr sz="1300">
                        <a:solidFill>
                          <a:srgbClr val="14213D"/>
                        </a:solidFill>
                        <a:highlight>
                          <a:srgbClr val="FBFBFA"/>
                        </a:highlight>
                      </a:endParaRPr>
                    </a:p>
                  </a:txBody>
                  <a:tcPr marT="76200" marB="76200" marR="152400" marL="15240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BFBFA"/>
                    </a:solidFill>
                  </a:tcPr>
                </a:tc>
                <a:tc>
                  <a:txBody>
                    <a:bodyPr/>
                    <a:lstStyle/>
                    <a:p>
                      <a:pPr indent="0" lvl="0" marL="0" rtl="0" algn="r">
                        <a:spcBef>
                          <a:spcPts val="0"/>
                        </a:spcBef>
                        <a:spcAft>
                          <a:spcPts val="0"/>
                        </a:spcAft>
                        <a:buNone/>
                      </a:pPr>
                      <a:r>
                        <a:rPr lang="en-US" sz="1300">
                          <a:solidFill>
                            <a:srgbClr val="14213D"/>
                          </a:solidFill>
                          <a:highlight>
                            <a:srgbClr val="FBFBFA"/>
                          </a:highlight>
                        </a:rPr>
                        <a:t>1,370</a:t>
                      </a:r>
                      <a:endParaRPr sz="1300">
                        <a:solidFill>
                          <a:srgbClr val="14213D"/>
                        </a:solidFill>
                        <a:highlight>
                          <a:srgbClr val="FBFBFA"/>
                        </a:highlight>
                      </a:endParaRPr>
                    </a:p>
                  </a:txBody>
                  <a:tcPr marT="76200" marB="76200" marR="152400" marL="15240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BFBFA"/>
                    </a:solidFill>
                  </a:tcPr>
                </a:tc>
                <a:tc>
                  <a:txBody>
                    <a:bodyPr/>
                    <a:lstStyle/>
                    <a:p>
                      <a:pPr indent="0" lvl="0" marL="0" rtl="0" algn="r">
                        <a:spcBef>
                          <a:spcPts val="0"/>
                        </a:spcBef>
                        <a:spcAft>
                          <a:spcPts val="0"/>
                        </a:spcAft>
                        <a:buNone/>
                      </a:pPr>
                      <a:r>
                        <a:rPr lang="en-US" sz="1300">
                          <a:solidFill>
                            <a:srgbClr val="14213D"/>
                          </a:solidFill>
                          <a:highlight>
                            <a:srgbClr val="FBFBFA"/>
                          </a:highlight>
                        </a:rPr>
                        <a:t>1,101</a:t>
                      </a:r>
                      <a:endParaRPr sz="1300">
                        <a:solidFill>
                          <a:srgbClr val="14213D"/>
                        </a:solidFill>
                        <a:highlight>
                          <a:srgbClr val="FBFBFA"/>
                        </a:highlight>
                      </a:endParaRPr>
                    </a:p>
                  </a:txBody>
                  <a:tcPr marT="76200" marB="76200" marR="152400" marL="15240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BFBFA"/>
                    </a:solidFill>
                  </a:tcPr>
                </a:tc>
                <a:tc>
                  <a:txBody>
                    <a:bodyPr/>
                    <a:lstStyle/>
                    <a:p>
                      <a:pPr indent="0" lvl="0" marL="0" rtl="0" algn="r">
                        <a:spcBef>
                          <a:spcPts val="0"/>
                        </a:spcBef>
                        <a:spcAft>
                          <a:spcPts val="0"/>
                        </a:spcAft>
                        <a:buNone/>
                      </a:pPr>
                      <a:r>
                        <a:rPr b="0" lang="en-US" sz="1300">
                          <a:solidFill>
                            <a:srgbClr val="14213D"/>
                          </a:solidFill>
                          <a:highlight>
                            <a:srgbClr val="FBFBFA"/>
                          </a:highlight>
                        </a:rPr>
                        <a:t>100.0%</a:t>
                      </a:r>
                      <a:endParaRPr b="0" sz="1300">
                        <a:solidFill>
                          <a:srgbClr val="14213D"/>
                        </a:solidFill>
                        <a:highlight>
                          <a:srgbClr val="FBFBFA"/>
                        </a:highlight>
                      </a:endParaRPr>
                    </a:p>
                  </a:txBody>
                  <a:tcPr marT="76200" marB="76200" marR="152400" marL="15240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BFBFA"/>
                    </a:solidFill>
                  </a:tcPr>
                </a:tc>
              </a:tr>
              <a:tr h="505325">
                <a:tc>
                  <a:txBody>
                    <a:bodyPr/>
                    <a:lstStyle/>
                    <a:p>
                      <a:pPr indent="0" lvl="0" marL="0" rtl="0" algn="l">
                        <a:spcBef>
                          <a:spcPts val="0"/>
                        </a:spcBef>
                        <a:spcAft>
                          <a:spcPts val="0"/>
                        </a:spcAft>
                        <a:buNone/>
                      </a:pPr>
                      <a:r>
                        <a:rPr lang="en-US" sz="1300">
                          <a:solidFill>
                            <a:srgbClr val="14213D"/>
                          </a:solidFill>
                          <a:highlight>
                            <a:srgbClr val="FFFFFF"/>
                          </a:highlight>
                        </a:rPr>
                        <a:t>3–7d</a:t>
                      </a:r>
                      <a:endParaRPr sz="1300">
                        <a:solidFill>
                          <a:srgbClr val="14213D"/>
                        </a:solidFill>
                        <a:highlight>
                          <a:srgbClr val="FFFFFF"/>
                        </a:highlight>
                      </a:endParaRPr>
                    </a:p>
                  </a:txBody>
                  <a:tcPr marT="76200" marB="76200" marR="152400" marL="15240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b="1" lang="en-US" sz="1300">
                          <a:solidFill>
                            <a:schemeClr val="dk1"/>
                          </a:solidFill>
                          <a:highlight>
                            <a:srgbClr val="00FFFF"/>
                          </a:highlight>
                        </a:rPr>
                        <a:t>NO</a:t>
                      </a:r>
                      <a:endParaRPr b="1" sz="1300">
                        <a:solidFill>
                          <a:schemeClr val="dk1"/>
                        </a:solidFill>
                        <a:highlight>
                          <a:srgbClr val="00FFFF"/>
                        </a:highlight>
                      </a:endParaRPr>
                    </a:p>
                  </a:txBody>
                  <a:tcPr marT="76200" marB="76200" marR="152400" marL="15240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rtl="0" algn="r">
                        <a:spcBef>
                          <a:spcPts val="0"/>
                        </a:spcBef>
                        <a:spcAft>
                          <a:spcPts val="0"/>
                        </a:spcAft>
                        <a:buNone/>
                      </a:pPr>
                      <a:r>
                        <a:rPr lang="en-US" sz="1300">
                          <a:solidFill>
                            <a:srgbClr val="14213D"/>
                          </a:solidFill>
                          <a:highlight>
                            <a:srgbClr val="FFFFFF"/>
                          </a:highlight>
                        </a:rPr>
                        <a:t>$1,029.79</a:t>
                      </a:r>
                      <a:endParaRPr sz="1300">
                        <a:solidFill>
                          <a:srgbClr val="14213D"/>
                        </a:solidFill>
                        <a:highlight>
                          <a:srgbClr val="FFFFFF"/>
                        </a:highlight>
                      </a:endParaRPr>
                    </a:p>
                  </a:txBody>
                  <a:tcPr marT="76200" marB="76200" marR="152400" marL="15240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rtl="0" algn="r">
                        <a:spcBef>
                          <a:spcPts val="0"/>
                        </a:spcBef>
                        <a:spcAft>
                          <a:spcPts val="0"/>
                        </a:spcAft>
                        <a:buNone/>
                      </a:pPr>
                      <a:r>
                        <a:rPr lang="en-US" sz="1300">
                          <a:solidFill>
                            <a:srgbClr val="14213D"/>
                          </a:solidFill>
                          <a:highlight>
                            <a:srgbClr val="FFFFFF"/>
                          </a:highlight>
                        </a:rPr>
                        <a:t>98</a:t>
                      </a:r>
                      <a:endParaRPr sz="1300">
                        <a:solidFill>
                          <a:srgbClr val="14213D"/>
                        </a:solidFill>
                        <a:highlight>
                          <a:srgbClr val="FFFFFF"/>
                        </a:highlight>
                      </a:endParaRPr>
                    </a:p>
                  </a:txBody>
                  <a:tcPr marT="76200" marB="76200" marR="152400" marL="15240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rtl="0" algn="r">
                        <a:spcBef>
                          <a:spcPts val="0"/>
                        </a:spcBef>
                        <a:spcAft>
                          <a:spcPts val="0"/>
                        </a:spcAft>
                        <a:buNone/>
                      </a:pPr>
                      <a:r>
                        <a:rPr lang="en-US" sz="1300">
                          <a:solidFill>
                            <a:srgbClr val="14213D"/>
                          </a:solidFill>
                          <a:highlight>
                            <a:srgbClr val="FFFFFF"/>
                          </a:highlight>
                        </a:rPr>
                        <a:t>50</a:t>
                      </a:r>
                      <a:endParaRPr sz="1300">
                        <a:solidFill>
                          <a:srgbClr val="14213D"/>
                        </a:solidFill>
                        <a:highlight>
                          <a:srgbClr val="FFFFFF"/>
                        </a:highlight>
                      </a:endParaRPr>
                    </a:p>
                  </a:txBody>
                  <a:tcPr marT="76200" marB="76200" marR="152400" marL="15240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rtl="0" algn="r">
                        <a:spcBef>
                          <a:spcPts val="0"/>
                        </a:spcBef>
                        <a:spcAft>
                          <a:spcPts val="0"/>
                        </a:spcAft>
                        <a:buNone/>
                      </a:pPr>
                      <a:r>
                        <a:rPr b="1" lang="en-US" sz="1300">
                          <a:solidFill>
                            <a:srgbClr val="14213D"/>
                          </a:solidFill>
                          <a:highlight>
                            <a:srgbClr val="FFFFFF"/>
                          </a:highlight>
                        </a:rPr>
                        <a:t>1.6%</a:t>
                      </a:r>
                      <a:endParaRPr b="1" sz="1300">
                        <a:solidFill>
                          <a:srgbClr val="14213D"/>
                        </a:solidFill>
                        <a:highlight>
                          <a:srgbClr val="FFFFFF"/>
                        </a:highlight>
                      </a:endParaRPr>
                    </a:p>
                  </a:txBody>
                  <a:tcPr marT="76200" marB="76200" marR="152400" marL="15240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r>
              <a:tr h="505325">
                <a:tc>
                  <a:txBody>
                    <a:bodyPr/>
                    <a:lstStyle/>
                    <a:p>
                      <a:pPr indent="0" lvl="0" marL="0" rtl="0" algn="l">
                        <a:spcBef>
                          <a:spcPts val="0"/>
                        </a:spcBef>
                        <a:spcAft>
                          <a:spcPts val="0"/>
                        </a:spcAft>
                        <a:buNone/>
                      </a:pPr>
                      <a:r>
                        <a:rPr lang="en-US" sz="1300">
                          <a:solidFill>
                            <a:srgbClr val="14213D"/>
                          </a:solidFill>
                          <a:highlight>
                            <a:srgbClr val="FBFBFA"/>
                          </a:highlight>
                        </a:rPr>
                        <a:t>3–7d</a:t>
                      </a:r>
                      <a:endParaRPr sz="1300">
                        <a:solidFill>
                          <a:srgbClr val="14213D"/>
                        </a:solidFill>
                        <a:highlight>
                          <a:srgbClr val="FBFBFA"/>
                        </a:highlight>
                      </a:endParaRPr>
                    </a:p>
                  </a:txBody>
                  <a:tcPr marT="76200" marB="76200" marR="152400" marL="15240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BFBFA"/>
                    </a:solidFill>
                  </a:tcPr>
                </a:tc>
                <a:tc>
                  <a:txBody>
                    <a:bodyPr/>
                    <a:lstStyle/>
                    <a:p>
                      <a:pPr indent="0" lvl="0" marL="0" rtl="0" algn="ctr">
                        <a:spcBef>
                          <a:spcPts val="0"/>
                        </a:spcBef>
                        <a:spcAft>
                          <a:spcPts val="0"/>
                        </a:spcAft>
                        <a:buNone/>
                      </a:pPr>
                      <a:r>
                        <a:rPr b="1" lang="en-US" sz="1300">
                          <a:solidFill>
                            <a:schemeClr val="dk1"/>
                          </a:solidFill>
                          <a:highlight>
                            <a:srgbClr val="FBFBFA"/>
                          </a:highlight>
                        </a:rPr>
                        <a:t>YES</a:t>
                      </a:r>
                      <a:endParaRPr b="1" sz="1300">
                        <a:solidFill>
                          <a:schemeClr val="dk1"/>
                        </a:solidFill>
                        <a:highlight>
                          <a:srgbClr val="FBFBFA"/>
                        </a:highlight>
                      </a:endParaRPr>
                    </a:p>
                  </a:txBody>
                  <a:tcPr marT="76200" marB="76200" marR="152400" marL="15240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BFBFA"/>
                    </a:solidFill>
                  </a:tcPr>
                </a:tc>
                <a:tc>
                  <a:txBody>
                    <a:bodyPr/>
                    <a:lstStyle/>
                    <a:p>
                      <a:pPr indent="0" lvl="0" marL="0" rtl="0" algn="r">
                        <a:spcBef>
                          <a:spcPts val="0"/>
                        </a:spcBef>
                        <a:spcAft>
                          <a:spcPts val="0"/>
                        </a:spcAft>
                        <a:buNone/>
                      </a:pPr>
                      <a:r>
                        <a:rPr lang="en-US" sz="1300">
                          <a:solidFill>
                            <a:srgbClr val="14213D"/>
                          </a:solidFill>
                          <a:highlight>
                            <a:srgbClr val="FBFBFA"/>
                          </a:highlight>
                        </a:rPr>
                        <a:t>$61,494.02</a:t>
                      </a:r>
                      <a:endParaRPr sz="1300">
                        <a:solidFill>
                          <a:srgbClr val="14213D"/>
                        </a:solidFill>
                        <a:highlight>
                          <a:srgbClr val="FBFBFA"/>
                        </a:highlight>
                      </a:endParaRPr>
                    </a:p>
                  </a:txBody>
                  <a:tcPr marT="76200" marB="76200" marR="152400" marL="15240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BFBFA"/>
                    </a:solidFill>
                  </a:tcPr>
                </a:tc>
                <a:tc>
                  <a:txBody>
                    <a:bodyPr/>
                    <a:lstStyle/>
                    <a:p>
                      <a:pPr indent="0" lvl="0" marL="0" rtl="0" algn="r">
                        <a:spcBef>
                          <a:spcPts val="0"/>
                        </a:spcBef>
                        <a:spcAft>
                          <a:spcPts val="0"/>
                        </a:spcAft>
                        <a:buNone/>
                      </a:pPr>
                      <a:r>
                        <a:rPr lang="en-US" sz="1300">
                          <a:solidFill>
                            <a:srgbClr val="14213D"/>
                          </a:solidFill>
                          <a:highlight>
                            <a:srgbClr val="FBFBFA"/>
                          </a:highlight>
                        </a:rPr>
                        <a:t>463</a:t>
                      </a:r>
                      <a:endParaRPr sz="1300">
                        <a:solidFill>
                          <a:srgbClr val="14213D"/>
                        </a:solidFill>
                        <a:highlight>
                          <a:srgbClr val="FBFBFA"/>
                        </a:highlight>
                      </a:endParaRPr>
                    </a:p>
                  </a:txBody>
                  <a:tcPr marT="76200" marB="76200" marR="152400" marL="15240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BFBFA"/>
                    </a:solidFill>
                  </a:tcPr>
                </a:tc>
                <a:tc>
                  <a:txBody>
                    <a:bodyPr/>
                    <a:lstStyle/>
                    <a:p>
                      <a:pPr indent="0" lvl="0" marL="0" rtl="0" algn="r">
                        <a:spcBef>
                          <a:spcPts val="0"/>
                        </a:spcBef>
                        <a:spcAft>
                          <a:spcPts val="0"/>
                        </a:spcAft>
                        <a:buNone/>
                      </a:pPr>
                      <a:r>
                        <a:rPr lang="en-US" sz="1300">
                          <a:solidFill>
                            <a:srgbClr val="14213D"/>
                          </a:solidFill>
                          <a:highlight>
                            <a:srgbClr val="FBFBFA"/>
                          </a:highlight>
                        </a:rPr>
                        <a:t>380</a:t>
                      </a:r>
                      <a:endParaRPr sz="1300">
                        <a:solidFill>
                          <a:srgbClr val="14213D"/>
                        </a:solidFill>
                        <a:highlight>
                          <a:srgbClr val="FBFBFA"/>
                        </a:highlight>
                      </a:endParaRPr>
                    </a:p>
                  </a:txBody>
                  <a:tcPr marT="76200" marB="76200" marR="152400" marL="15240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BFBFA"/>
                    </a:solidFill>
                  </a:tcPr>
                </a:tc>
                <a:tc>
                  <a:txBody>
                    <a:bodyPr/>
                    <a:lstStyle/>
                    <a:p>
                      <a:pPr indent="0" lvl="0" marL="0" rtl="0" algn="r">
                        <a:spcBef>
                          <a:spcPts val="0"/>
                        </a:spcBef>
                        <a:spcAft>
                          <a:spcPts val="0"/>
                        </a:spcAft>
                        <a:buNone/>
                      </a:pPr>
                      <a:r>
                        <a:rPr b="0" lang="en-US" sz="1300">
                          <a:solidFill>
                            <a:srgbClr val="14213D"/>
                          </a:solidFill>
                          <a:highlight>
                            <a:srgbClr val="FBFBFA"/>
                          </a:highlight>
                        </a:rPr>
                        <a:t>98.4%</a:t>
                      </a:r>
                      <a:endParaRPr b="0" sz="1300">
                        <a:solidFill>
                          <a:srgbClr val="14213D"/>
                        </a:solidFill>
                        <a:highlight>
                          <a:srgbClr val="FBFBFA"/>
                        </a:highlight>
                      </a:endParaRPr>
                    </a:p>
                  </a:txBody>
                  <a:tcPr marT="76200" marB="76200" marR="152400" marL="15240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BFBFA"/>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EE"/>
        </a:solidFill>
      </p:bgPr>
    </p:bg>
    <p:spTree>
      <p:nvGrpSpPr>
        <p:cNvPr id="111" name="Shape 111"/>
        <p:cNvGrpSpPr/>
        <p:nvPr/>
      </p:nvGrpSpPr>
      <p:grpSpPr>
        <a:xfrm>
          <a:off x="0" y="0"/>
          <a:ext cx="0" cy="0"/>
          <a:chOff x="0" y="0"/>
          <a:chExt cx="0" cy="0"/>
        </a:xfrm>
      </p:grpSpPr>
      <p:sp>
        <p:nvSpPr>
          <p:cNvPr id="112" name="Google Shape;112;p12"/>
          <p:cNvSpPr/>
          <p:nvPr/>
        </p:nvSpPr>
        <p:spPr>
          <a:xfrm>
            <a:off x="812800" y="812800"/>
            <a:ext cx="10883392" cy="500360"/>
          </a:xfrm>
          <a:prstGeom prst="rect">
            <a:avLst/>
          </a:prstGeom>
          <a:noFill/>
          <a:ln>
            <a:noFill/>
          </a:ln>
        </p:spPr>
        <p:txBody>
          <a:bodyPr anchorCtr="0" anchor="t" bIns="0" lIns="0" spcFirstLastPara="1" rIns="0" wrap="square" tIns="0">
            <a:noAutofit/>
          </a:bodyPr>
          <a:lstStyle/>
          <a:p>
            <a:pPr indent="0" lvl="0" marL="0" marR="0" rtl="0" algn="l">
              <a:lnSpc>
                <a:spcPct val="91667"/>
              </a:lnSpc>
              <a:spcBef>
                <a:spcPts val="0"/>
              </a:spcBef>
              <a:spcAft>
                <a:spcPts val="0"/>
              </a:spcAft>
              <a:buClr>
                <a:srgbClr val="14213D"/>
              </a:buClr>
              <a:buSzPts val="3400"/>
              <a:buFont typeface="EB Garamond"/>
              <a:buNone/>
            </a:pPr>
            <a:r>
              <a:rPr b="0" i="0" lang="en-US" sz="3400" u="none" cap="none" strike="noStrike">
                <a:solidFill>
                  <a:srgbClr val="14213D"/>
                </a:solidFill>
                <a:latin typeface="EB Garamond"/>
                <a:ea typeface="EB Garamond"/>
                <a:cs typeface="EB Garamond"/>
                <a:sym typeface="EB Garamond"/>
              </a:rPr>
              <a:t>The Anthropic market is the odd one out</a:t>
            </a:r>
            <a:endParaRPr b="0" i="0" sz="3400" u="none" cap="none" strike="noStrike">
              <a:solidFill>
                <a:schemeClr val="dk1"/>
              </a:solidFill>
              <a:latin typeface="Calibri"/>
              <a:ea typeface="Calibri"/>
              <a:cs typeface="Calibri"/>
              <a:sym typeface="Calibri"/>
            </a:endParaRPr>
          </a:p>
        </p:txBody>
      </p:sp>
      <p:sp>
        <p:nvSpPr>
          <p:cNvPr id="113" name="Google Shape;113;p12"/>
          <p:cNvSpPr/>
          <p:nvPr/>
        </p:nvSpPr>
        <p:spPr>
          <a:xfrm>
            <a:off x="815975" y="1595735"/>
            <a:ext cx="3346450" cy="1591221"/>
          </a:xfrm>
          <a:prstGeom prst="roundRect">
            <a:avLst>
              <a:gd fmla="val 6186" name="adj"/>
            </a:avLst>
          </a:prstGeom>
          <a:solidFill>
            <a:srgbClr val="FFFFFF"/>
          </a:solidFill>
          <a:ln cap="flat" cmpd="sng" w="9525">
            <a:solidFill>
              <a:srgbClr val="DDD9C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2"/>
          <p:cNvSpPr/>
          <p:nvPr/>
        </p:nvSpPr>
        <p:spPr>
          <a:xfrm>
            <a:off x="1073150" y="1852910"/>
            <a:ext cx="2917063" cy="528290"/>
          </a:xfrm>
          <a:prstGeom prst="rect">
            <a:avLst/>
          </a:prstGeom>
          <a:noFill/>
          <a:ln>
            <a:noFill/>
          </a:ln>
        </p:spPr>
        <p:txBody>
          <a:bodyPr anchorCtr="0" anchor="t" bIns="0" lIns="0" spcFirstLastPara="1" rIns="0" wrap="square" tIns="0">
            <a:noAutofit/>
          </a:bodyPr>
          <a:lstStyle/>
          <a:p>
            <a:pPr indent="0" lvl="0" marL="0" marR="0" rtl="0" algn="l">
              <a:lnSpc>
                <a:spcPct val="91667"/>
              </a:lnSpc>
              <a:spcBef>
                <a:spcPts val="0"/>
              </a:spcBef>
              <a:spcAft>
                <a:spcPts val="0"/>
              </a:spcAft>
              <a:buClr>
                <a:srgbClr val="1F7A8C"/>
              </a:buClr>
              <a:buSzPts val="3600"/>
              <a:buFont typeface="IBM Plex Sans"/>
              <a:buNone/>
            </a:pPr>
            <a:r>
              <a:rPr b="1" i="0" lang="en-US" sz="3600" u="none" cap="none" strike="noStrike">
                <a:solidFill>
                  <a:srgbClr val="1F7A8C"/>
                </a:solidFill>
                <a:latin typeface="IBM Plex Sans"/>
                <a:ea typeface="IBM Plex Sans"/>
                <a:cs typeface="IBM Plex Sans"/>
                <a:sym typeface="IBM Plex Sans"/>
              </a:rPr>
              <a:t>96%</a:t>
            </a:r>
            <a:endParaRPr b="0" i="0" sz="3600" u="none" cap="none" strike="noStrike">
              <a:solidFill>
                <a:schemeClr val="dk1"/>
              </a:solidFill>
              <a:latin typeface="Calibri"/>
              <a:ea typeface="Calibri"/>
              <a:cs typeface="Calibri"/>
              <a:sym typeface="Calibri"/>
            </a:endParaRPr>
          </a:p>
        </p:txBody>
      </p:sp>
      <p:sp>
        <p:nvSpPr>
          <p:cNvPr id="115" name="Google Shape;115;p12"/>
          <p:cNvSpPr/>
          <p:nvPr/>
        </p:nvSpPr>
        <p:spPr>
          <a:xfrm>
            <a:off x="1073150" y="2432000"/>
            <a:ext cx="2917063" cy="52318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4A5568"/>
              </a:buClr>
              <a:buSzPts val="1400"/>
              <a:buFont typeface="IBM Plex Sans"/>
              <a:buNone/>
            </a:pPr>
            <a:r>
              <a:rPr b="0" i="0" lang="en-US" sz="1400" u="none" cap="none" strike="noStrike">
                <a:solidFill>
                  <a:srgbClr val="4A5568"/>
                </a:solidFill>
                <a:latin typeface="IBM Plex Sans"/>
                <a:ea typeface="IBM Plex Sans"/>
                <a:cs typeface="IBM Plex Sans"/>
                <a:sym typeface="IBM Plex Sans"/>
              </a:rPr>
              <a:t>of its BUY dollars were on YES; other markets are 0.0% to 17.4%</a:t>
            </a:r>
            <a:endParaRPr b="0" i="0" sz="1400" u="none" cap="none" strike="noStrike">
              <a:solidFill>
                <a:schemeClr val="dk1"/>
              </a:solidFill>
              <a:latin typeface="Calibri"/>
              <a:ea typeface="Calibri"/>
              <a:cs typeface="Calibri"/>
              <a:sym typeface="Calibri"/>
            </a:endParaRPr>
          </a:p>
        </p:txBody>
      </p:sp>
      <p:sp>
        <p:nvSpPr>
          <p:cNvPr id="116" name="Google Shape;116;p12"/>
          <p:cNvSpPr/>
          <p:nvPr/>
        </p:nvSpPr>
        <p:spPr>
          <a:xfrm>
            <a:off x="4422775" y="1595735"/>
            <a:ext cx="3346450" cy="1591221"/>
          </a:xfrm>
          <a:prstGeom prst="roundRect">
            <a:avLst>
              <a:gd fmla="val 6186" name="adj"/>
            </a:avLst>
          </a:prstGeom>
          <a:solidFill>
            <a:srgbClr val="FFFFFF"/>
          </a:solidFill>
          <a:ln cap="flat" cmpd="sng" w="9525">
            <a:solidFill>
              <a:srgbClr val="DDD9C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2"/>
          <p:cNvSpPr/>
          <p:nvPr/>
        </p:nvSpPr>
        <p:spPr>
          <a:xfrm>
            <a:off x="4679950" y="1852910"/>
            <a:ext cx="2917063" cy="528290"/>
          </a:xfrm>
          <a:prstGeom prst="rect">
            <a:avLst/>
          </a:prstGeom>
          <a:noFill/>
          <a:ln>
            <a:noFill/>
          </a:ln>
        </p:spPr>
        <p:txBody>
          <a:bodyPr anchorCtr="0" anchor="t" bIns="0" lIns="0" spcFirstLastPara="1" rIns="0" wrap="square" tIns="0">
            <a:noAutofit/>
          </a:bodyPr>
          <a:lstStyle/>
          <a:p>
            <a:pPr indent="0" lvl="0" marL="0" marR="0" rtl="0" algn="l">
              <a:lnSpc>
                <a:spcPct val="91667"/>
              </a:lnSpc>
              <a:spcBef>
                <a:spcPts val="0"/>
              </a:spcBef>
              <a:spcAft>
                <a:spcPts val="0"/>
              </a:spcAft>
              <a:buClr>
                <a:srgbClr val="1F7A8C"/>
              </a:buClr>
              <a:buSzPts val="3600"/>
              <a:buFont typeface="IBM Plex Sans"/>
              <a:buNone/>
            </a:pPr>
            <a:r>
              <a:rPr b="1" i="0" lang="en-US" sz="3600" u="none" cap="none" strike="noStrike">
                <a:solidFill>
                  <a:srgbClr val="1F7A8C"/>
                </a:solidFill>
                <a:latin typeface="IBM Plex Sans"/>
                <a:ea typeface="IBM Plex Sans"/>
                <a:cs typeface="IBM Plex Sans"/>
                <a:sym typeface="IBM Plex Sans"/>
              </a:rPr>
              <a:t>23.1%</a:t>
            </a:r>
            <a:endParaRPr b="0" i="0" sz="3600" u="none" cap="none" strike="noStrike">
              <a:solidFill>
                <a:schemeClr val="dk1"/>
              </a:solidFill>
              <a:latin typeface="Calibri"/>
              <a:ea typeface="Calibri"/>
              <a:cs typeface="Calibri"/>
              <a:sym typeface="Calibri"/>
            </a:endParaRPr>
          </a:p>
        </p:txBody>
      </p:sp>
      <p:sp>
        <p:nvSpPr>
          <p:cNvPr id="118" name="Google Shape;118;p12"/>
          <p:cNvSpPr/>
          <p:nvPr/>
        </p:nvSpPr>
        <p:spPr>
          <a:xfrm>
            <a:off x="4679950" y="2432000"/>
            <a:ext cx="2917063" cy="52318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4A5568"/>
              </a:buClr>
              <a:buSzPts val="1400"/>
              <a:buFont typeface="IBM Plex Sans"/>
              <a:buNone/>
            </a:pPr>
            <a:r>
              <a:rPr b="0" i="0" lang="en-US" sz="1400" u="none" cap="none" strike="noStrike">
                <a:solidFill>
                  <a:srgbClr val="4A5568"/>
                </a:solidFill>
                <a:latin typeface="IBM Plex Sans"/>
                <a:ea typeface="IBM Plex Sans"/>
                <a:cs typeface="IBM Plex Sans"/>
                <a:sym typeface="IBM Plex Sans"/>
              </a:rPr>
              <a:t>held by its top-10 wallets, against 35.9% to 70.0% elsewhere</a:t>
            </a:r>
            <a:endParaRPr b="0" i="0" sz="1400" u="none" cap="none" strike="noStrike">
              <a:solidFill>
                <a:schemeClr val="dk1"/>
              </a:solidFill>
              <a:latin typeface="Calibri"/>
              <a:ea typeface="Calibri"/>
              <a:cs typeface="Calibri"/>
              <a:sym typeface="Calibri"/>
            </a:endParaRPr>
          </a:p>
        </p:txBody>
      </p:sp>
      <p:sp>
        <p:nvSpPr>
          <p:cNvPr id="119" name="Google Shape;119;p12"/>
          <p:cNvSpPr/>
          <p:nvPr/>
        </p:nvSpPr>
        <p:spPr>
          <a:xfrm>
            <a:off x="8029575" y="1595735"/>
            <a:ext cx="3346450" cy="1591221"/>
          </a:xfrm>
          <a:prstGeom prst="roundRect">
            <a:avLst>
              <a:gd fmla="val 6186" name="adj"/>
            </a:avLst>
          </a:prstGeom>
          <a:solidFill>
            <a:srgbClr val="FFFFFF"/>
          </a:solidFill>
          <a:ln cap="flat" cmpd="sng" w="9525">
            <a:solidFill>
              <a:srgbClr val="DDD9C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2"/>
          <p:cNvSpPr/>
          <p:nvPr/>
        </p:nvSpPr>
        <p:spPr>
          <a:xfrm>
            <a:off x="8286750" y="1852910"/>
            <a:ext cx="2917063" cy="528290"/>
          </a:xfrm>
          <a:prstGeom prst="rect">
            <a:avLst/>
          </a:prstGeom>
          <a:noFill/>
          <a:ln>
            <a:noFill/>
          </a:ln>
        </p:spPr>
        <p:txBody>
          <a:bodyPr anchorCtr="0" anchor="t" bIns="0" lIns="0" spcFirstLastPara="1" rIns="0" wrap="square" tIns="0">
            <a:noAutofit/>
          </a:bodyPr>
          <a:lstStyle/>
          <a:p>
            <a:pPr indent="0" lvl="0" marL="0" marR="0" rtl="0" algn="l">
              <a:lnSpc>
                <a:spcPct val="91667"/>
              </a:lnSpc>
              <a:spcBef>
                <a:spcPts val="0"/>
              </a:spcBef>
              <a:spcAft>
                <a:spcPts val="0"/>
              </a:spcAft>
              <a:buClr>
                <a:srgbClr val="1F7A8C"/>
              </a:buClr>
              <a:buSzPts val="3600"/>
              <a:buFont typeface="IBM Plex Sans"/>
              <a:buNone/>
            </a:pPr>
            <a:r>
              <a:rPr b="1" i="0" lang="en-US" sz="3600" u="none" cap="none" strike="noStrike">
                <a:solidFill>
                  <a:srgbClr val="1F7A8C"/>
                </a:solidFill>
                <a:latin typeface="IBM Plex Sans"/>
                <a:ea typeface="IBM Plex Sans"/>
                <a:cs typeface="IBM Plex Sans"/>
                <a:sym typeface="IBM Plex Sans"/>
              </a:rPr>
              <a:t>5,369</a:t>
            </a:r>
            <a:endParaRPr b="0" i="0" sz="3600" u="none" cap="none" strike="noStrike">
              <a:solidFill>
                <a:schemeClr val="dk1"/>
              </a:solidFill>
              <a:latin typeface="Calibri"/>
              <a:ea typeface="Calibri"/>
              <a:cs typeface="Calibri"/>
              <a:sym typeface="Calibri"/>
            </a:endParaRPr>
          </a:p>
        </p:txBody>
      </p:sp>
      <p:sp>
        <p:nvSpPr>
          <p:cNvPr id="121" name="Google Shape;121;p12"/>
          <p:cNvSpPr/>
          <p:nvPr/>
        </p:nvSpPr>
        <p:spPr>
          <a:xfrm>
            <a:off x="8286750" y="2432000"/>
            <a:ext cx="2917063" cy="52318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4A5568"/>
              </a:buClr>
              <a:buSzPts val="1400"/>
              <a:buFont typeface="IBM Plex Sans"/>
              <a:buNone/>
            </a:pPr>
            <a:r>
              <a:rPr b="0" i="0" lang="en-US" sz="1400" u="none" cap="none" strike="noStrike">
                <a:solidFill>
                  <a:srgbClr val="4A5568"/>
                </a:solidFill>
                <a:latin typeface="IBM Plex Sans"/>
                <a:ea typeface="IBM Plex Sans"/>
                <a:cs typeface="IBM Plex Sans"/>
                <a:sym typeface="IBM Plex Sans"/>
              </a:rPr>
              <a:t>wallets, the most of any market, with $566,914 in BUY dollars</a:t>
            </a:r>
            <a:endParaRPr b="0" i="0" sz="1400" u="none" cap="none" strike="noStrike">
              <a:solidFill>
                <a:schemeClr val="dk1"/>
              </a:solidFill>
              <a:latin typeface="Calibri"/>
              <a:ea typeface="Calibri"/>
              <a:cs typeface="Calibri"/>
              <a:sym typeface="Calibri"/>
            </a:endParaRPr>
          </a:p>
        </p:txBody>
      </p:sp>
      <p:sp>
        <p:nvSpPr>
          <p:cNvPr id="122" name="Google Shape;122;p12"/>
          <p:cNvSpPr/>
          <p:nvPr/>
        </p:nvSpPr>
        <p:spPr>
          <a:xfrm>
            <a:off x="812800" y="3494931"/>
            <a:ext cx="9810750" cy="577850"/>
          </a:xfrm>
          <a:prstGeom prst="rect">
            <a:avLst/>
          </a:prstGeom>
          <a:noFill/>
          <a:ln>
            <a:noFill/>
          </a:ln>
        </p:spPr>
        <p:txBody>
          <a:bodyPr anchorCtr="0" anchor="t" bIns="0" lIns="0" spcFirstLastPara="1" rIns="0" wrap="square" tIns="0">
            <a:noAutofit/>
          </a:bodyPr>
          <a:lstStyle/>
          <a:p>
            <a:pPr indent="0" lvl="0" marL="0" marR="0" rtl="0" algn="l">
              <a:lnSpc>
                <a:spcPct val="120833"/>
              </a:lnSpc>
              <a:spcBef>
                <a:spcPts val="0"/>
              </a:spcBef>
              <a:spcAft>
                <a:spcPts val="0"/>
              </a:spcAft>
              <a:buClr>
                <a:srgbClr val="14213D"/>
              </a:buClr>
              <a:buSzPts val="1500"/>
              <a:buFont typeface="IBM Plex Sans"/>
              <a:buNone/>
            </a:pPr>
            <a:r>
              <a:rPr b="0" i="0" lang="en-US" sz="1500" u="none" cap="none" strike="noStrike">
                <a:solidFill>
                  <a:srgbClr val="14213D"/>
                </a:solidFill>
                <a:latin typeface="IBM Plex Sans"/>
                <a:ea typeface="IBM Plex Sans"/>
                <a:cs typeface="IBM Plex Sans"/>
                <a:sym typeface="IBM Plex Sans"/>
              </a:rPr>
              <a:t>It was the one market that resolved YES, and the crowd leaned that way. Broad participation on the winning side is the opposite of a few informed wallets, so concentration alone does not point to insiders here.</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EE"/>
        </a:solidFill>
      </p:bgPr>
    </p:bg>
    <p:spTree>
      <p:nvGrpSpPr>
        <p:cNvPr id="127" name="Shape 127"/>
        <p:cNvGrpSpPr/>
        <p:nvPr/>
      </p:nvGrpSpPr>
      <p:grpSpPr>
        <a:xfrm>
          <a:off x="0" y="0"/>
          <a:ext cx="0" cy="0"/>
          <a:chOff x="0" y="0"/>
          <a:chExt cx="0" cy="0"/>
        </a:xfrm>
      </p:grpSpPr>
      <p:sp>
        <p:nvSpPr>
          <p:cNvPr id="128" name="Google Shape;128;p13"/>
          <p:cNvSpPr/>
          <p:nvPr/>
        </p:nvSpPr>
        <p:spPr>
          <a:xfrm>
            <a:off x="812800" y="812800"/>
            <a:ext cx="10883392" cy="500360"/>
          </a:xfrm>
          <a:prstGeom prst="rect">
            <a:avLst/>
          </a:prstGeom>
          <a:noFill/>
          <a:ln>
            <a:noFill/>
          </a:ln>
        </p:spPr>
        <p:txBody>
          <a:bodyPr anchorCtr="0" anchor="t" bIns="0" lIns="0" spcFirstLastPara="1" rIns="0" wrap="square" tIns="0">
            <a:noAutofit/>
          </a:bodyPr>
          <a:lstStyle/>
          <a:p>
            <a:pPr indent="0" lvl="0" marL="0" marR="0" rtl="0" algn="l">
              <a:lnSpc>
                <a:spcPct val="91667"/>
              </a:lnSpc>
              <a:spcBef>
                <a:spcPts val="0"/>
              </a:spcBef>
              <a:spcAft>
                <a:spcPts val="0"/>
              </a:spcAft>
              <a:buClr>
                <a:srgbClr val="14213D"/>
              </a:buClr>
              <a:buSzPts val="3400"/>
              <a:buFont typeface="EB Garamond"/>
              <a:buNone/>
            </a:pPr>
            <a:r>
              <a:rPr lang="en-US" sz="3400">
                <a:solidFill>
                  <a:srgbClr val="14213D"/>
                </a:solidFill>
                <a:latin typeface="EB Garamond"/>
                <a:ea typeface="EB Garamond"/>
                <a:cs typeface="EB Garamond"/>
                <a:sym typeface="EB Garamond"/>
              </a:rPr>
              <a:t>Six</a:t>
            </a:r>
            <a:r>
              <a:rPr b="0" i="0" lang="en-US" sz="3400" u="none" cap="none" strike="noStrike">
                <a:solidFill>
                  <a:srgbClr val="14213D"/>
                </a:solidFill>
                <a:latin typeface="EB Garamond"/>
                <a:ea typeface="EB Garamond"/>
                <a:cs typeface="EB Garamond"/>
                <a:sym typeface="EB Garamond"/>
              </a:rPr>
              <a:t> behavioural features per wallet f</a:t>
            </a:r>
            <a:r>
              <a:rPr lang="en-US" sz="3400">
                <a:solidFill>
                  <a:srgbClr val="14213D"/>
                </a:solidFill>
                <a:latin typeface="EB Garamond"/>
                <a:ea typeface="EB Garamond"/>
                <a:cs typeface="EB Garamond"/>
                <a:sym typeface="EB Garamond"/>
              </a:rPr>
              <a:t>rom demo idea</a:t>
            </a:r>
            <a:endParaRPr b="0" i="0" sz="3400" u="none" cap="none" strike="noStrike">
              <a:solidFill>
                <a:schemeClr val="dk1"/>
              </a:solidFill>
              <a:latin typeface="Calibri"/>
              <a:ea typeface="Calibri"/>
              <a:cs typeface="Calibri"/>
              <a:sym typeface="Calibri"/>
            </a:endParaRPr>
          </a:p>
        </p:txBody>
      </p:sp>
      <p:graphicFrame>
        <p:nvGraphicFramePr>
          <p:cNvPr id="129" name="Google Shape;129;p13"/>
          <p:cNvGraphicFramePr/>
          <p:nvPr/>
        </p:nvGraphicFramePr>
        <p:xfrm>
          <a:off x="825500" y="1605260"/>
          <a:ext cx="3000000" cy="3000000"/>
        </p:xfrm>
        <a:graphic>
          <a:graphicData uri="http://schemas.openxmlformats.org/drawingml/2006/table">
            <a:tbl>
              <a:tblPr>
                <a:noFill/>
                <a:tableStyleId>{9755984B-8548-4C51-B8A4-67813B0B79D8}</a:tableStyleId>
              </a:tblPr>
              <a:tblGrid>
                <a:gridCol w="3166100"/>
                <a:gridCol w="7387600"/>
              </a:tblGrid>
              <a:tr h="386000">
                <a:tc>
                  <a:txBody>
                    <a:bodyPr/>
                    <a:lstStyle/>
                    <a:p>
                      <a:pPr indent="0" lvl="0" marL="0" marR="0" rtl="0" algn="l">
                        <a:lnSpc>
                          <a:spcPct val="116667"/>
                        </a:lnSpc>
                        <a:spcBef>
                          <a:spcPts val="0"/>
                        </a:spcBef>
                        <a:spcAft>
                          <a:spcPts val="0"/>
                        </a:spcAft>
                        <a:buClr>
                          <a:srgbClr val="14213D"/>
                        </a:buClr>
                        <a:buSzPts val="1400"/>
                        <a:buFont typeface="IBM Plex Sans"/>
                        <a:buNone/>
                      </a:pPr>
                      <a:r>
                        <a:rPr b="1" lang="en-US" sz="1400" u="none" cap="none" strike="noStrike">
                          <a:solidFill>
                            <a:srgbClr val="14213D"/>
                          </a:solidFill>
                          <a:latin typeface="IBM Plex Sans"/>
                          <a:ea typeface="IBM Plex Sans"/>
                          <a:cs typeface="IBM Plex Sans"/>
                          <a:sym typeface="IBM Plex Sans"/>
                        </a:rPr>
                        <a:t>Feature</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C3BE"/>
                      </a:solidFill>
                      <a:prstDash val="solid"/>
                      <a:round/>
                      <a:headEnd len="sm" w="sm" type="none"/>
                      <a:tailEnd len="sm" w="sm" type="none"/>
                    </a:lnL>
                    <a:lnR cap="flat" cmpd="sng" w="12700">
                      <a:solidFill>
                        <a:srgbClr val="B6B5B0"/>
                      </a:solidFill>
                      <a:prstDash val="solid"/>
                      <a:round/>
                      <a:headEnd len="sm" w="sm" type="none"/>
                      <a:tailEnd len="sm" w="sm" type="none"/>
                    </a:lnR>
                    <a:lnT cap="flat" cmpd="sng" w="12700">
                      <a:solidFill>
                        <a:srgbClr val="C4C3BE"/>
                      </a:solidFill>
                      <a:prstDash val="solid"/>
                      <a:round/>
                      <a:headEnd len="sm" w="sm" type="none"/>
                      <a:tailEnd len="sm" w="sm" type="none"/>
                    </a:lnT>
                    <a:lnB cap="flat" cmpd="sng" w="12700">
                      <a:solidFill>
                        <a:srgbClr val="B6B5B0"/>
                      </a:solidFill>
                      <a:prstDash val="solid"/>
                      <a:round/>
                      <a:headEnd len="sm" w="sm" type="none"/>
                      <a:tailEnd len="sm" w="sm" type="none"/>
                    </a:lnB>
                    <a:solidFill>
                      <a:srgbClr val="E4E2DC"/>
                    </a:solidFill>
                  </a:tcPr>
                </a:tc>
                <a:tc>
                  <a:txBody>
                    <a:bodyPr/>
                    <a:lstStyle/>
                    <a:p>
                      <a:pPr indent="0" lvl="0" marL="0" marR="0" rtl="0" algn="l">
                        <a:lnSpc>
                          <a:spcPct val="116667"/>
                        </a:lnSpc>
                        <a:spcBef>
                          <a:spcPts val="0"/>
                        </a:spcBef>
                        <a:spcAft>
                          <a:spcPts val="0"/>
                        </a:spcAft>
                        <a:buClr>
                          <a:srgbClr val="14213D"/>
                        </a:buClr>
                        <a:buSzPts val="1400"/>
                        <a:buFont typeface="IBM Plex Sans"/>
                        <a:buNone/>
                      </a:pPr>
                      <a:r>
                        <a:rPr b="1" lang="en-US">
                          <a:solidFill>
                            <a:srgbClr val="14213D"/>
                          </a:solidFill>
                          <a:latin typeface="IBM Plex Sans"/>
                          <a:ea typeface="IBM Plex Sans"/>
                          <a:cs typeface="IBM Plex Sans"/>
                          <a:sym typeface="IBM Plex Sans"/>
                        </a:rPr>
                        <a:t>Idea</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B6B5B0"/>
                      </a:solidFill>
                      <a:prstDash val="solid"/>
                      <a:round/>
                      <a:headEnd len="sm" w="sm" type="none"/>
                      <a:tailEnd len="sm" w="sm" type="none"/>
                    </a:lnL>
                    <a:lnR cap="flat" cmpd="sng" w="12700">
                      <a:solidFill>
                        <a:srgbClr val="B6B5B0"/>
                      </a:solidFill>
                      <a:prstDash val="solid"/>
                      <a:round/>
                      <a:headEnd len="sm" w="sm" type="none"/>
                      <a:tailEnd len="sm" w="sm" type="none"/>
                    </a:lnR>
                    <a:lnT cap="flat" cmpd="sng" w="12700">
                      <a:solidFill>
                        <a:srgbClr val="C4C3BE"/>
                      </a:solidFill>
                      <a:prstDash val="solid"/>
                      <a:round/>
                      <a:headEnd len="sm" w="sm" type="none"/>
                      <a:tailEnd len="sm" w="sm" type="none"/>
                    </a:lnT>
                    <a:lnB cap="flat" cmpd="sng" w="12700">
                      <a:solidFill>
                        <a:srgbClr val="B6B5B0"/>
                      </a:solidFill>
                      <a:prstDash val="solid"/>
                      <a:round/>
                      <a:headEnd len="sm" w="sm" type="none"/>
                      <a:tailEnd len="sm" w="sm" type="none"/>
                    </a:lnB>
                    <a:solidFill>
                      <a:srgbClr val="E4E2DC"/>
                    </a:solidFill>
                  </a:tcPr>
                </a:tc>
              </a:tr>
              <a:tr h="386000">
                <a:tc>
                  <a:txBody>
                    <a:bodyPr/>
                    <a:lstStyle/>
                    <a:p>
                      <a:pPr indent="0" lvl="0" marL="0" marR="0" rtl="0" algn="l">
                        <a:lnSpc>
                          <a:spcPct val="116667"/>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Position anomaly ratio</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C3BE"/>
                      </a:solidFill>
                      <a:prstDash val="solid"/>
                      <a:round/>
                      <a:headEnd len="sm" w="sm" type="none"/>
                      <a:tailEnd len="sm" w="sm" type="none"/>
                    </a:lnL>
                    <a:lnR cap="flat" cmpd="sng" w="12700">
                      <a:solidFill>
                        <a:srgbClr val="C4C3BE"/>
                      </a:solidFill>
                      <a:prstDash val="solid"/>
                      <a:round/>
                      <a:headEnd len="sm" w="sm" type="none"/>
                      <a:tailEnd len="sm" w="sm" type="none"/>
                    </a:lnR>
                    <a:lnT cap="flat" cmpd="sng" w="12700">
                      <a:solidFill>
                        <a:srgbClr val="B6B5B0"/>
                      </a:solidFill>
                      <a:prstDash val="solid"/>
                      <a:round/>
                      <a:headEnd len="sm" w="sm" type="none"/>
                      <a:tailEnd len="sm" w="sm" type="none"/>
                    </a:lnT>
                    <a:lnB cap="flat" cmpd="sng" w="12700">
                      <a:solidFill>
                        <a:srgbClr val="C4C3BE"/>
                      </a:solidFill>
                      <a:prstDash val="solid"/>
                      <a:round/>
                      <a:headEnd len="sm" w="sm" type="none"/>
                      <a:tailEnd len="sm" w="sm" type="none"/>
                    </a:lnB>
                  </a:tcPr>
                </a:tc>
                <a:tc>
                  <a:txBody>
                    <a:bodyPr/>
                    <a:lstStyle/>
                    <a:p>
                      <a:pPr indent="0" lvl="0" marL="0" marR="0" rtl="0" algn="l">
                        <a:lnSpc>
                          <a:spcPct val="116667"/>
                        </a:lnSpc>
                        <a:spcBef>
                          <a:spcPts val="0"/>
                        </a:spcBef>
                        <a:spcAft>
                          <a:spcPts val="0"/>
                        </a:spcAft>
                        <a:buClr>
                          <a:srgbClr val="14213D"/>
                        </a:buClr>
                        <a:buSzPts val="1400"/>
                        <a:buFont typeface="IBM Plex Sans"/>
                        <a:buNone/>
                      </a:pPr>
                      <a:r>
                        <a:rPr lang="en-US">
                          <a:solidFill>
                            <a:srgbClr val="14213D"/>
                          </a:solidFill>
                          <a:latin typeface="IBM Plex Sans"/>
                          <a:ea typeface="IBM Plex Sans"/>
                          <a:cs typeface="IBM Plex Sans"/>
                          <a:sym typeface="IBM Plex Sans"/>
                        </a:rPr>
                        <a:t>How large the wallet’s biggest trade was compared with its usual average spending per market. </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C3BE"/>
                      </a:solidFill>
                      <a:prstDash val="solid"/>
                      <a:round/>
                      <a:headEnd len="sm" w="sm" type="none"/>
                      <a:tailEnd len="sm" w="sm" type="none"/>
                    </a:lnL>
                    <a:lnR cap="flat" cmpd="sng" w="12700">
                      <a:solidFill>
                        <a:srgbClr val="C4C3BE"/>
                      </a:solidFill>
                      <a:prstDash val="solid"/>
                      <a:round/>
                      <a:headEnd len="sm" w="sm" type="none"/>
                      <a:tailEnd len="sm" w="sm" type="none"/>
                    </a:lnR>
                    <a:lnT cap="flat" cmpd="sng" w="12700">
                      <a:solidFill>
                        <a:srgbClr val="B6B5B0"/>
                      </a:solidFill>
                      <a:prstDash val="solid"/>
                      <a:round/>
                      <a:headEnd len="sm" w="sm" type="none"/>
                      <a:tailEnd len="sm" w="sm" type="none"/>
                    </a:lnT>
                    <a:lnB cap="flat" cmpd="sng" w="12700">
                      <a:solidFill>
                        <a:srgbClr val="C4C3BE"/>
                      </a:solidFill>
                      <a:prstDash val="solid"/>
                      <a:round/>
                      <a:headEnd len="sm" w="sm" type="none"/>
                      <a:tailEnd len="sm" w="sm" type="none"/>
                    </a:lnB>
                  </a:tcPr>
                </a:tc>
              </a:tr>
              <a:tr h="386000">
                <a:tc>
                  <a:txBody>
                    <a:bodyPr/>
                    <a:lstStyle/>
                    <a:p>
                      <a:pPr indent="0" lvl="0" marL="0" marR="0" rtl="0" algn="l">
                        <a:lnSpc>
                          <a:spcPct val="116667"/>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Market notional ratio</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C3BE"/>
                      </a:solidFill>
                      <a:prstDash val="solid"/>
                      <a:round/>
                      <a:headEnd len="sm" w="sm" type="none"/>
                      <a:tailEnd len="sm" w="sm" type="none"/>
                    </a:lnL>
                    <a:lnR cap="flat" cmpd="sng" w="12700">
                      <a:solidFill>
                        <a:srgbClr val="C4C3BE"/>
                      </a:solidFill>
                      <a:prstDash val="solid"/>
                      <a:round/>
                      <a:headEnd len="sm" w="sm" type="none"/>
                      <a:tailEnd len="sm" w="sm" type="none"/>
                    </a:lnR>
                    <a:lnT cap="flat" cmpd="sng" w="12700">
                      <a:solidFill>
                        <a:srgbClr val="C4C3BE"/>
                      </a:solidFill>
                      <a:prstDash val="solid"/>
                      <a:round/>
                      <a:headEnd len="sm" w="sm" type="none"/>
                      <a:tailEnd len="sm" w="sm" type="none"/>
                    </a:lnT>
                    <a:lnB cap="flat" cmpd="sng" w="12700">
                      <a:solidFill>
                        <a:srgbClr val="C4C3BE"/>
                      </a:solidFill>
                      <a:prstDash val="solid"/>
                      <a:round/>
                      <a:headEnd len="sm" w="sm" type="none"/>
                      <a:tailEnd len="sm" w="sm" type="none"/>
                    </a:lnB>
                  </a:tcPr>
                </a:tc>
                <a:tc>
                  <a:txBody>
                    <a:bodyPr/>
                    <a:lstStyle/>
                    <a:p>
                      <a:pPr indent="0" lvl="0" marL="0" marR="0" rtl="0" algn="l">
                        <a:lnSpc>
                          <a:spcPct val="116667"/>
                        </a:lnSpc>
                        <a:spcBef>
                          <a:spcPts val="0"/>
                        </a:spcBef>
                        <a:spcAft>
                          <a:spcPts val="0"/>
                        </a:spcAft>
                        <a:buClr>
                          <a:srgbClr val="14213D"/>
                        </a:buClr>
                        <a:buSzPts val="1400"/>
                        <a:buFont typeface="IBM Plex Sans"/>
                        <a:buNone/>
                      </a:pPr>
                      <a:r>
                        <a:rPr lang="en-US">
                          <a:solidFill>
                            <a:srgbClr val="14213D"/>
                          </a:solidFill>
                          <a:latin typeface="IBM Plex Sans"/>
                          <a:ea typeface="IBM Plex Sans"/>
                          <a:cs typeface="IBM Plex Sans"/>
                          <a:sym typeface="IBM Plex Sans"/>
                        </a:rPr>
                        <a:t>The wallet’s trading amount as a share of the total trading amount in that market. </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C3BE"/>
                      </a:solidFill>
                      <a:prstDash val="solid"/>
                      <a:round/>
                      <a:headEnd len="sm" w="sm" type="none"/>
                      <a:tailEnd len="sm" w="sm" type="none"/>
                    </a:lnL>
                    <a:lnR cap="flat" cmpd="sng" w="12700">
                      <a:solidFill>
                        <a:srgbClr val="C4C3BE"/>
                      </a:solidFill>
                      <a:prstDash val="solid"/>
                      <a:round/>
                      <a:headEnd len="sm" w="sm" type="none"/>
                      <a:tailEnd len="sm" w="sm" type="none"/>
                    </a:lnR>
                    <a:lnT cap="flat" cmpd="sng" w="12700">
                      <a:solidFill>
                        <a:srgbClr val="C4C3BE"/>
                      </a:solidFill>
                      <a:prstDash val="solid"/>
                      <a:round/>
                      <a:headEnd len="sm" w="sm" type="none"/>
                      <a:tailEnd len="sm" w="sm" type="none"/>
                    </a:lnT>
                    <a:lnB cap="flat" cmpd="sng" w="12700">
                      <a:solidFill>
                        <a:srgbClr val="C4C3BE"/>
                      </a:solidFill>
                      <a:prstDash val="solid"/>
                      <a:round/>
                      <a:headEnd len="sm" w="sm" type="none"/>
                      <a:tailEnd len="sm" w="sm" type="none"/>
                    </a:lnB>
                  </a:tcPr>
                </a:tc>
              </a:tr>
              <a:tr h="386000">
                <a:tc>
                  <a:txBody>
                    <a:bodyPr/>
                    <a:lstStyle/>
                    <a:p>
                      <a:pPr indent="0" lvl="0" marL="0" marR="0" rtl="0" algn="l">
                        <a:lnSpc>
                          <a:spcPct val="116667"/>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Average buy price</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C3BE"/>
                      </a:solidFill>
                      <a:prstDash val="solid"/>
                      <a:round/>
                      <a:headEnd len="sm" w="sm" type="none"/>
                      <a:tailEnd len="sm" w="sm" type="none"/>
                    </a:lnL>
                    <a:lnR cap="flat" cmpd="sng" w="12700">
                      <a:solidFill>
                        <a:srgbClr val="C4C3BE"/>
                      </a:solidFill>
                      <a:prstDash val="solid"/>
                      <a:round/>
                      <a:headEnd len="sm" w="sm" type="none"/>
                      <a:tailEnd len="sm" w="sm" type="none"/>
                    </a:lnR>
                    <a:lnT cap="flat" cmpd="sng" w="12700">
                      <a:solidFill>
                        <a:srgbClr val="C4C3BE"/>
                      </a:solidFill>
                      <a:prstDash val="solid"/>
                      <a:round/>
                      <a:headEnd len="sm" w="sm" type="none"/>
                      <a:tailEnd len="sm" w="sm" type="none"/>
                    </a:lnT>
                    <a:lnB cap="flat" cmpd="sng" w="12700">
                      <a:solidFill>
                        <a:srgbClr val="C4C3BE"/>
                      </a:solidFill>
                      <a:prstDash val="solid"/>
                      <a:round/>
                      <a:headEnd len="sm" w="sm" type="none"/>
                      <a:tailEnd len="sm" w="sm" type="none"/>
                    </a:lnB>
                  </a:tcPr>
                </a:tc>
                <a:tc>
                  <a:txBody>
                    <a:bodyPr/>
                    <a:lstStyle/>
                    <a:p>
                      <a:pPr indent="0" lvl="0" marL="0" marR="0" rtl="0" algn="l">
                        <a:lnSpc>
                          <a:spcPct val="116667"/>
                        </a:lnSpc>
                        <a:spcBef>
                          <a:spcPts val="0"/>
                        </a:spcBef>
                        <a:spcAft>
                          <a:spcPts val="0"/>
                        </a:spcAft>
                        <a:buClr>
                          <a:srgbClr val="14213D"/>
                        </a:buClr>
                        <a:buSzPts val="1400"/>
                        <a:buFont typeface="IBM Plex Sans"/>
                        <a:buNone/>
                      </a:pPr>
                      <a:r>
                        <a:rPr lang="en-US">
                          <a:solidFill>
                            <a:srgbClr val="14213D"/>
                          </a:solidFill>
                          <a:latin typeface="IBM Plex Sans"/>
                          <a:ea typeface="IBM Plex Sans"/>
                          <a:cs typeface="IBM Plex Sans"/>
                          <a:sym typeface="IBM Plex Sans"/>
                        </a:rPr>
                        <a:t>The average price the wallet paid when buying. </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C3BE"/>
                      </a:solidFill>
                      <a:prstDash val="solid"/>
                      <a:round/>
                      <a:headEnd len="sm" w="sm" type="none"/>
                      <a:tailEnd len="sm" w="sm" type="none"/>
                    </a:lnL>
                    <a:lnR cap="flat" cmpd="sng" w="12700">
                      <a:solidFill>
                        <a:srgbClr val="C4C3BE"/>
                      </a:solidFill>
                      <a:prstDash val="solid"/>
                      <a:round/>
                      <a:headEnd len="sm" w="sm" type="none"/>
                      <a:tailEnd len="sm" w="sm" type="none"/>
                    </a:lnR>
                    <a:lnT cap="flat" cmpd="sng" w="12700">
                      <a:solidFill>
                        <a:srgbClr val="C4C3BE"/>
                      </a:solidFill>
                      <a:prstDash val="solid"/>
                      <a:round/>
                      <a:headEnd len="sm" w="sm" type="none"/>
                      <a:tailEnd len="sm" w="sm" type="none"/>
                    </a:lnT>
                    <a:lnB cap="flat" cmpd="sng" w="12700">
                      <a:solidFill>
                        <a:srgbClr val="C4C3BE"/>
                      </a:solidFill>
                      <a:prstDash val="solid"/>
                      <a:round/>
                      <a:headEnd len="sm" w="sm" type="none"/>
                      <a:tailEnd len="sm" w="sm" type="none"/>
                    </a:lnB>
                  </a:tcPr>
                </a:tc>
              </a:tr>
              <a:tr h="386000">
                <a:tc>
                  <a:txBody>
                    <a:bodyPr/>
                    <a:lstStyle/>
                    <a:p>
                      <a:pPr indent="0" lvl="0" marL="0" marR="0" rtl="0" algn="l">
                        <a:lnSpc>
                          <a:spcPct val="116667"/>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Concentration</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C3BE"/>
                      </a:solidFill>
                      <a:prstDash val="solid"/>
                      <a:round/>
                      <a:headEnd len="sm" w="sm" type="none"/>
                      <a:tailEnd len="sm" w="sm" type="none"/>
                    </a:lnL>
                    <a:lnR cap="flat" cmpd="sng" w="12700">
                      <a:solidFill>
                        <a:srgbClr val="C4C3BE"/>
                      </a:solidFill>
                      <a:prstDash val="solid"/>
                      <a:round/>
                      <a:headEnd len="sm" w="sm" type="none"/>
                      <a:tailEnd len="sm" w="sm" type="none"/>
                    </a:lnR>
                    <a:lnT cap="flat" cmpd="sng" w="12700">
                      <a:solidFill>
                        <a:srgbClr val="C4C3BE"/>
                      </a:solidFill>
                      <a:prstDash val="solid"/>
                      <a:round/>
                      <a:headEnd len="sm" w="sm" type="none"/>
                      <a:tailEnd len="sm" w="sm" type="none"/>
                    </a:lnT>
                    <a:lnB cap="flat" cmpd="sng" w="12700">
                      <a:solidFill>
                        <a:srgbClr val="C4C3BE"/>
                      </a:solidFill>
                      <a:prstDash val="solid"/>
                      <a:round/>
                      <a:headEnd len="sm" w="sm" type="none"/>
                      <a:tailEnd len="sm" w="sm" type="none"/>
                    </a:lnB>
                  </a:tcPr>
                </a:tc>
                <a:tc>
                  <a:txBody>
                    <a:bodyPr/>
                    <a:lstStyle/>
                    <a:p>
                      <a:pPr indent="0" lvl="0" marL="0" marR="0" rtl="0" algn="l">
                        <a:lnSpc>
                          <a:spcPct val="116667"/>
                        </a:lnSpc>
                        <a:spcBef>
                          <a:spcPts val="0"/>
                        </a:spcBef>
                        <a:spcAft>
                          <a:spcPts val="0"/>
                        </a:spcAft>
                        <a:buClr>
                          <a:srgbClr val="14213D"/>
                        </a:buClr>
                        <a:buSzPts val="1400"/>
                        <a:buFont typeface="IBM Plex Sans"/>
                        <a:buNone/>
                      </a:pPr>
                      <a:r>
                        <a:rPr lang="en-US">
                          <a:solidFill>
                            <a:srgbClr val="14213D"/>
                          </a:solidFill>
                          <a:latin typeface="IBM Plex Sans"/>
                          <a:ea typeface="IBM Plex Sans"/>
                          <a:cs typeface="IBM Plex Sans"/>
                          <a:sym typeface="IBM Plex Sans"/>
                        </a:rPr>
                        <a:t>How much the wallet focused its spending on one market. </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C3BE"/>
                      </a:solidFill>
                      <a:prstDash val="solid"/>
                      <a:round/>
                      <a:headEnd len="sm" w="sm" type="none"/>
                      <a:tailEnd len="sm" w="sm" type="none"/>
                    </a:lnL>
                    <a:lnR cap="flat" cmpd="sng" w="12700">
                      <a:solidFill>
                        <a:srgbClr val="C4C3BE"/>
                      </a:solidFill>
                      <a:prstDash val="solid"/>
                      <a:round/>
                      <a:headEnd len="sm" w="sm" type="none"/>
                      <a:tailEnd len="sm" w="sm" type="none"/>
                    </a:lnR>
                    <a:lnT cap="flat" cmpd="sng" w="12700">
                      <a:solidFill>
                        <a:srgbClr val="C4C3BE"/>
                      </a:solidFill>
                      <a:prstDash val="solid"/>
                      <a:round/>
                      <a:headEnd len="sm" w="sm" type="none"/>
                      <a:tailEnd len="sm" w="sm" type="none"/>
                    </a:lnT>
                    <a:lnB cap="flat" cmpd="sng" w="12700">
                      <a:solidFill>
                        <a:srgbClr val="C4C3BE"/>
                      </a:solidFill>
                      <a:prstDash val="solid"/>
                      <a:round/>
                      <a:headEnd len="sm" w="sm" type="none"/>
                      <a:tailEnd len="sm" w="sm" type="none"/>
                    </a:lnB>
                  </a:tcPr>
                </a:tc>
              </a:tr>
              <a:tr h="386000">
                <a:tc>
                  <a:txBody>
                    <a:bodyPr/>
                    <a:lstStyle/>
                    <a:p>
                      <a:pPr indent="0" lvl="0" marL="0" marR="0" rtl="0" algn="l">
                        <a:lnSpc>
                          <a:spcPct val="116667"/>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Wallet age (days)</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C3BE"/>
                      </a:solidFill>
                      <a:prstDash val="solid"/>
                      <a:round/>
                      <a:headEnd len="sm" w="sm" type="none"/>
                      <a:tailEnd len="sm" w="sm" type="none"/>
                    </a:lnL>
                    <a:lnR cap="flat" cmpd="sng" w="12700">
                      <a:solidFill>
                        <a:srgbClr val="C4C3BE"/>
                      </a:solidFill>
                      <a:prstDash val="solid"/>
                      <a:round/>
                      <a:headEnd len="sm" w="sm" type="none"/>
                      <a:tailEnd len="sm" w="sm" type="none"/>
                    </a:lnR>
                    <a:lnT cap="flat" cmpd="sng" w="12700">
                      <a:solidFill>
                        <a:srgbClr val="C4C3BE"/>
                      </a:solidFill>
                      <a:prstDash val="solid"/>
                      <a:round/>
                      <a:headEnd len="sm" w="sm" type="none"/>
                      <a:tailEnd len="sm" w="sm" type="none"/>
                    </a:lnT>
                    <a:lnB cap="flat" cmpd="sng" w="12700">
                      <a:solidFill>
                        <a:srgbClr val="C4C3BE"/>
                      </a:solidFill>
                      <a:prstDash val="solid"/>
                      <a:round/>
                      <a:headEnd len="sm" w="sm" type="none"/>
                      <a:tailEnd len="sm" w="sm" type="none"/>
                    </a:lnB>
                  </a:tcPr>
                </a:tc>
                <a:tc>
                  <a:txBody>
                    <a:bodyPr/>
                    <a:lstStyle/>
                    <a:p>
                      <a:pPr indent="0" lvl="0" marL="0" marR="0" rtl="0" algn="l">
                        <a:lnSpc>
                          <a:spcPct val="116667"/>
                        </a:lnSpc>
                        <a:spcBef>
                          <a:spcPts val="0"/>
                        </a:spcBef>
                        <a:spcAft>
                          <a:spcPts val="0"/>
                        </a:spcAft>
                        <a:buClr>
                          <a:srgbClr val="14213D"/>
                        </a:buClr>
                        <a:buSzPts val="1400"/>
                        <a:buFont typeface="IBM Plex Sans"/>
                        <a:buNone/>
                      </a:pPr>
                      <a:r>
                        <a:rPr lang="en-US">
                          <a:solidFill>
                            <a:srgbClr val="14213D"/>
                          </a:solidFill>
                          <a:latin typeface="IBM Plex Sans"/>
                          <a:ea typeface="IBM Plex Sans"/>
                          <a:cs typeface="IBM Plex Sans"/>
                          <a:sym typeface="IBM Plex Sans"/>
                        </a:rPr>
                        <a:t>The number of days between the wallet’s first and last observed trades.</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C3BE"/>
                      </a:solidFill>
                      <a:prstDash val="solid"/>
                      <a:round/>
                      <a:headEnd len="sm" w="sm" type="none"/>
                      <a:tailEnd len="sm" w="sm" type="none"/>
                    </a:lnL>
                    <a:lnR cap="flat" cmpd="sng" w="12700">
                      <a:solidFill>
                        <a:srgbClr val="C4C3BE"/>
                      </a:solidFill>
                      <a:prstDash val="solid"/>
                      <a:round/>
                      <a:headEnd len="sm" w="sm" type="none"/>
                      <a:tailEnd len="sm" w="sm" type="none"/>
                    </a:lnR>
                    <a:lnT cap="flat" cmpd="sng" w="12700">
                      <a:solidFill>
                        <a:srgbClr val="C4C3BE"/>
                      </a:solidFill>
                      <a:prstDash val="solid"/>
                      <a:round/>
                      <a:headEnd len="sm" w="sm" type="none"/>
                      <a:tailEnd len="sm" w="sm" type="none"/>
                    </a:lnT>
                    <a:lnB cap="flat" cmpd="sng" w="12700">
                      <a:solidFill>
                        <a:srgbClr val="C4C3BE"/>
                      </a:solidFill>
                      <a:prstDash val="solid"/>
                      <a:round/>
                      <a:headEnd len="sm" w="sm" type="none"/>
                      <a:tailEnd len="sm" w="sm" type="none"/>
                    </a:lnB>
                  </a:tcPr>
                </a:tc>
              </a:tr>
              <a:tr h="386000">
                <a:tc>
                  <a:txBody>
                    <a:bodyPr/>
                    <a:lstStyle/>
                    <a:p>
                      <a:pPr indent="0" lvl="0" marL="0" marR="0" rtl="0" algn="l">
                        <a:lnSpc>
                          <a:spcPct val="116667"/>
                        </a:lnSpc>
                        <a:spcBef>
                          <a:spcPts val="0"/>
                        </a:spcBef>
                        <a:spcAft>
                          <a:spcPts val="0"/>
                        </a:spcAft>
                        <a:buClr>
                          <a:srgbClr val="14213D"/>
                        </a:buClr>
                        <a:buSzPts val="1400"/>
                        <a:buFont typeface="IBM Plex Sans"/>
                        <a:buNone/>
                      </a:pPr>
                      <a:r>
                        <a:rPr lang="en-US" sz="1400" u="none" cap="none" strike="noStrike">
                          <a:solidFill>
                            <a:srgbClr val="14213D"/>
                          </a:solidFill>
                          <a:latin typeface="IBM Plex Sans"/>
                          <a:ea typeface="IBM Plex Sans"/>
                          <a:cs typeface="IBM Plex Sans"/>
                          <a:sym typeface="IBM Plex Sans"/>
                        </a:rPr>
                        <a:t>Unique markets</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C3BE"/>
                      </a:solidFill>
                      <a:prstDash val="solid"/>
                      <a:round/>
                      <a:headEnd len="sm" w="sm" type="none"/>
                      <a:tailEnd len="sm" w="sm" type="none"/>
                    </a:lnL>
                    <a:lnR cap="flat" cmpd="sng" w="12700">
                      <a:solidFill>
                        <a:srgbClr val="C4C3BE"/>
                      </a:solidFill>
                      <a:prstDash val="solid"/>
                      <a:round/>
                      <a:headEnd len="sm" w="sm" type="none"/>
                      <a:tailEnd len="sm" w="sm" type="none"/>
                    </a:lnR>
                    <a:lnT cap="flat" cmpd="sng" w="12700">
                      <a:solidFill>
                        <a:srgbClr val="C4C3BE"/>
                      </a:solidFill>
                      <a:prstDash val="solid"/>
                      <a:round/>
                      <a:headEnd len="sm" w="sm" type="none"/>
                      <a:tailEnd len="sm" w="sm" type="none"/>
                    </a:lnT>
                    <a:lnB cap="flat" cmpd="sng" w="12700">
                      <a:solidFill>
                        <a:srgbClr val="C4C3BE"/>
                      </a:solidFill>
                      <a:prstDash val="solid"/>
                      <a:round/>
                      <a:headEnd len="sm" w="sm" type="none"/>
                      <a:tailEnd len="sm" w="sm" type="none"/>
                    </a:lnB>
                  </a:tcPr>
                </a:tc>
                <a:tc>
                  <a:txBody>
                    <a:bodyPr/>
                    <a:lstStyle/>
                    <a:p>
                      <a:pPr indent="0" lvl="0" marL="0" marR="0" rtl="0" algn="l">
                        <a:lnSpc>
                          <a:spcPct val="116667"/>
                        </a:lnSpc>
                        <a:spcBef>
                          <a:spcPts val="0"/>
                        </a:spcBef>
                        <a:spcAft>
                          <a:spcPts val="0"/>
                        </a:spcAft>
                        <a:buClr>
                          <a:srgbClr val="14213D"/>
                        </a:buClr>
                        <a:buSzPts val="1400"/>
                        <a:buFont typeface="IBM Plex Sans"/>
                        <a:buNone/>
                      </a:pPr>
                      <a:r>
                        <a:rPr lang="en-US">
                          <a:solidFill>
                            <a:srgbClr val="14213D"/>
                          </a:solidFill>
                          <a:latin typeface="IBM Plex Sans"/>
                          <a:ea typeface="IBM Plex Sans"/>
                          <a:cs typeface="IBM Plex Sans"/>
                          <a:sym typeface="IBM Plex Sans"/>
                        </a:rPr>
                        <a:t>The number of different markets the wallet participated in.</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C3BE"/>
                      </a:solidFill>
                      <a:prstDash val="solid"/>
                      <a:round/>
                      <a:headEnd len="sm" w="sm" type="none"/>
                      <a:tailEnd len="sm" w="sm" type="none"/>
                    </a:lnL>
                    <a:lnR cap="flat" cmpd="sng" w="12700">
                      <a:solidFill>
                        <a:srgbClr val="C4C3BE"/>
                      </a:solidFill>
                      <a:prstDash val="solid"/>
                      <a:round/>
                      <a:headEnd len="sm" w="sm" type="none"/>
                      <a:tailEnd len="sm" w="sm" type="none"/>
                    </a:lnR>
                    <a:lnT cap="flat" cmpd="sng" w="12700">
                      <a:solidFill>
                        <a:srgbClr val="C4C3BE"/>
                      </a:solidFill>
                      <a:prstDash val="solid"/>
                      <a:round/>
                      <a:headEnd len="sm" w="sm" type="none"/>
                      <a:tailEnd len="sm" w="sm" type="none"/>
                    </a:lnT>
                    <a:lnB cap="flat" cmpd="sng" w="12700">
                      <a:solidFill>
                        <a:srgbClr val="C4C3BE"/>
                      </a:solidFill>
                      <a:prstDash val="solid"/>
                      <a:round/>
                      <a:headEnd len="sm" w="sm" type="none"/>
                      <a:tailEnd len="sm" w="sm" type="none"/>
                    </a:lnB>
                  </a:tcPr>
                </a:tc>
              </a:tr>
            </a:tbl>
          </a:graphicData>
        </a:graphic>
      </p:graphicFrame>
      <p:sp>
        <p:nvSpPr>
          <p:cNvPr id="130" name="Google Shape;130;p13"/>
          <p:cNvSpPr/>
          <p:nvPr/>
        </p:nvSpPr>
        <p:spPr>
          <a:xfrm>
            <a:off x="812800" y="4612134"/>
            <a:ext cx="10883392" cy="27429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4A5568"/>
              </a:buClr>
              <a:buSzPts val="1400"/>
              <a:buFont typeface="IBM Plex Sans"/>
              <a:buNone/>
            </a:pPr>
            <a:r>
              <a:rPr b="0" i="0" lang="en-US" sz="1400" u="none" cap="none" strike="noStrike">
                <a:solidFill>
                  <a:srgbClr val="4A5568"/>
                </a:solidFill>
                <a:latin typeface="IBM Plex Sans"/>
                <a:ea typeface="IBM Plex Sans"/>
                <a:cs typeface="IBM Plex Sans"/>
                <a:sym typeface="IBM Plex Sans"/>
              </a:rPr>
              <a:t>Pipeline: remove likely bots (2,000 or more trades), log-transform the skewed features, StandardScaler, then Isolation Forest.</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EE"/>
        </a:solidFill>
      </p:bgPr>
    </p:bg>
    <p:spTree>
      <p:nvGrpSpPr>
        <p:cNvPr id="135" name="Shape 135"/>
        <p:cNvGrpSpPr/>
        <p:nvPr/>
      </p:nvGrpSpPr>
      <p:grpSpPr>
        <a:xfrm>
          <a:off x="0" y="0"/>
          <a:ext cx="0" cy="0"/>
          <a:chOff x="0" y="0"/>
          <a:chExt cx="0" cy="0"/>
        </a:xfrm>
      </p:grpSpPr>
      <p:sp>
        <p:nvSpPr>
          <p:cNvPr id="136" name="Google Shape;136;p14"/>
          <p:cNvSpPr/>
          <p:nvPr/>
        </p:nvSpPr>
        <p:spPr>
          <a:xfrm>
            <a:off x="812800" y="812800"/>
            <a:ext cx="10883392" cy="500360"/>
          </a:xfrm>
          <a:prstGeom prst="rect">
            <a:avLst/>
          </a:prstGeom>
          <a:noFill/>
          <a:ln>
            <a:noFill/>
          </a:ln>
        </p:spPr>
        <p:txBody>
          <a:bodyPr anchorCtr="0" anchor="t" bIns="0" lIns="0" spcFirstLastPara="1" rIns="0" wrap="square" tIns="0">
            <a:noAutofit/>
          </a:bodyPr>
          <a:lstStyle/>
          <a:p>
            <a:pPr indent="0" lvl="0" marL="0" marR="0" rtl="0" algn="l">
              <a:lnSpc>
                <a:spcPct val="91667"/>
              </a:lnSpc>
              <a:spcBef>
                <a:spcPts val="0"/>
              </a:spcBef>
              <a:spcAft>
                <a:spcPts val="0"/>
              </a:spcAft>
              <a:buClr>
                <a:srgbClr val="14213D"/>
              </a:buClr>
              <a:buSzPts val="3400"/>
              <a:buFont typeface="EB Garamond"/>
              <a:buNone/>
            </a:pPr>
            <a:r>
              <a:rPr b="0" i="0" lang="en-US" sz="3400" u="none" cap="none" strike="noStrike">
                <a:solidFill>
                  <a:srgbClr val="14213D"/>
                </a:solidFill>
                <a:latin typeface="EB Garamond"/>
                <a:ea typeface="EB Garamond"/>
                <a:cs typeface="EB Garamond"/>
                <a:sym typeface="EB Garamond"/>
              </a:rPr>
              <a:t>Unsupervised method and settings</a:t>
            </a:r>
            <a:endParaRPr b="0" i="0" sz="3400" u="none" cap="none" strike="noStrike">
              <a:solidFill>
                <a:schemeClr val="dk1"/>
              </a:solidFill>
              <a:latin typeface="Calibri"/>
              <a:ea typeface="Calibri"/>
              <a:cs typeface="Calibri"/>
              <a:sym typeface="Calibri"/>
            </a:endParaRPr>
          </a:p>
        </p:txBody>
      </p:sp>
      <p:graphicFrame>
        <p:nvGraphicFramePr>
          <p:cNvPr id="137" name="Google Shape;137;p14"/>
          <p:cNvGraphicFramePr/>
          <p:nvPr/>
        </p:nvGraphicFramePr>
        <p:xfrm>
          <a:off x="825500" y="1554460"/>
          <a:ext cx="3000000" cy="3000000"/>
        </p:xfrm>
        <a:graphic>
          <a:graphicData uri="http://schemas.openxmlformats.org/drawingml/2006/table">
            <a:tbl>
              <a:tblPr>
                <a:noFill/>
                <a:tableStyleId>{9755984B-8548-4C51-B8A4-67813B0B79D8}</a:tableStyleId>
              </a:tblPr>
              <a:tblGrid>
                <a:gridCol w="2532900"/>
                <a:gridCol w="4221475"/>
                <a:gridCol w="3799325"/>
              </a:tblGrid>
              <a:tr h="359325">
                <a:tc>
                  <a:txBody>
                    <a:bodyPr/>
                    <a:lstStyle/>
                    <a:p>
                      <a:pPr indent="0" lvl="0" marL="0" marR="0" rtl="0" algn="l">
                        <a:lnSpc>
                          <a:spcPct val="116667"/>
                        </a:lnSpc>
                        <a:spcBef>
                          <a:spcPts val="0"/>
                        </a:spcBef>
                        <a:spcAft>
                          <a:spcPts val="0"/>
                        </a:spcAft>
                        <a:buClr>
                          <a:srgbClr val="14213D"/>
                        </a:buClr>
                        <a:buSzPts val="1300"/>
                        <a:buFont typeface="IBM Plex Sans"/>
                        <a:buNone/>
                      </a:pPr>
                      <a:r>
                        <a:rPr b="1" lang="en-US" sz="1300" u="none" cap="none" strike="noStrike">
                          <a:solidFill>
                            <a:srgbClr val="14213D"/>
                          </a:solidFill>
                          <a:latin typeface="IBM Plex Sans"/>
                          <a:ea typeface="IBM Plex Sans"/>
                          <a:cs typeface="IBM Plex Sans"/>
                          <a:sym typeface="IBM Plex Sans"/>
                        </a:rPr>
                        <a:t>Method</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4C3BE"/>
                      </a:solidFill>
                      <a:prstDash val="solid"/>
                      <a:round/>
                      <a:headEnd len="sm" w="sm" type="none"/>
                      <a:tailEnd len="sm" w="sm" type="none"/>
                    </a:lnL>
                    <a:lnR cap="flat" cmpd="sng" w="12700">
                      <a:solidFill>
                        <a:srgbClr val="B6B5B0"/>
                      </a:solidFill>
                      <a:prstDash val="solid"/>
                      <a:round/>
                      <a:headEnd len="sm" w="sm" type="none"/>
                      <a:tailEnd len="sm" w="sm" type="none"/>
                    </a:lnR>
                    <a:lnT cap="flat" cmpd="sng" w="12700">
                      <a:solidFill>
                        <a:srgbClr val="C4C3BE"/>
                      </a:solidFill>
                      <a:prstDash val="solid"/>
                      <a:round/>
                      <a:headEnd len="sm" w="sm" type="none"/>
                      <a:tailEnd len="sm" w="sm" type="none"/>
                    </a:lnT>
                    <a:lnB cap="flat" cmpd="sng" w="12700">
                      <a:solidFill>
                        <a:srgbClr val="B6B5B0"/>
                      </a:solidFill>
                      <a:prstDash val="solid"/>
                      <a:round/>
                      <a:headEnd len="sm" w="sm" type="none"/>
                      <a:tailEnd len="sm" w="sm" type="none"/>
                    </a:lnB>
                    <a:solidFill>
                      <a:srgbClr val="E4E2DC"/>
                    </a:solidFill>
                  </a:tcPr>
                </a:tc>
                <a:tc>
                  <a:txBody>
                    <a:bodyPr/>
                    <a:lstStyle/>
                    <a:p>
                      <a:pPr indent="0" lvl="0" marL="0" marR="0" rtl="0" algn="l">
                        <a:lnSpc>
                          <a:spcPct val="116667"/>
                        </a:lnSpc>
                        <a:spcBef>
                          <a:spcPts val="0"/>
                        </a:spcBef>
                        <a:spcAft>
                          <a:spcPts val="0"/>
                        </a:spcAft>
                        <a:buClr>
                          <a:srgbClr val="14213D"/>
                        </a:buClr>
                        <a:buSzPts val="1300"/>
                        <a:buFont typeface="IBM Plex Sans"/>
                        <a:buNone/>
                      </a:pPr>
                      <a:r>
                        <a:rPr b="1" lang="en-US" sz="1300" u="none" cap="none" strike="noStrike">
                          <a:solidFill>
                            <a:srgbClr val="14213D"/>
                          </a:solidFill>
                          <a:latin typeface="IBM Plex Sans"/>
                          <a:ea typeface="IBM Plex Sans"/>
                          <a:cs typeface="IBM Plex Sans"/>
                          <a:sym typeface="IBM Plex Sans"/>
                        </a:rPr>
                        <a:t>Setting</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B6B5B0"/>
                      </a:solidFill>
                      <a:prstDash val="solid"/>
                      <a:round/>
                      <a:headEnd len="sm" w="sm" type="none"/>
                      <a:tailEnd len="sm" w="sm" type="none"/>
                    </a:lnL>
                    <a:lnR cap="flat" cmpd="sng" w="12700">
                      <a:solidFill>
                        <a:srgbClr val="B6B5B0"/>
                      </a:solidFill>
                      <a:prstDash val="solid"/>
                      <a:round/>
                      <a:headEnd len="sm" w="sm" type="none"/>
                      <a:tailEnd len="sm" w="sm" type="none"/>
                    </a:lnR>
                    <a:lnT cap="flat" cmpd="sng" w="12700">
                      <a:solidFill>
                        <a:srgbClr val="C4C3BE"/>
                      </a:solidFill>
                      <a:prstDash val="solid"/>
                      <a:round/>
                      <a:headEnd len="sm" w="sm" type="none"/>
                      <a:tailEnd len="sm" w="sm" type="none"/>
                    </a:lnT>
                    <a:lnB cap="flat" cmpd="sng" w="12700">
                      <a:solidFill>
                        <a:srgbClr val="B6B5B0"/>
                      </a:solidFill>
                      <a:prstDash val="solid"/>
                      <a:round/>
                      <a:headEnd len="sm" w="sm" type="none"/>
                      <a:tailEnd len="sm" w="sm" type="none"/>
                    </a:lnB>
                    <a:solidFill>
                      <a:srgbClr val="E4E2DC"/>
                    </a:solidFill>
                  </a:tcPr>
                </a:tc>
                <a:tc>
                  <a:txBody>
                    <a:bodyPr/>
                    <a:lstStyle/>
                    <a:p>
                      <a:pPr indent="0" lvl="0" marL="0" marR="0" rtl="0" algn="l">
                        <a:lnSpc>
                          <a:spcPct val="116667"/>
                        </a:lnSpc>
                        <a:spcBef>
                          <a:spcPts val="0"/>
                        </a:spcBef>
                        <a:spcAft>
                          <a:spcPts val="0"/>
                        </a:spcAft>
                        <a:buClr>
                          <a:srgbClr val="14213D"/>
                        </a:buClr>
                        <a:buSzPts val="1300"/>
                        <a:buFont typeface="IBM Plex Sans"/>
                        <a:buNone/>
                      </a:pPr>
                      <a:r>
                        <a:rPr b="1" lang="en-US" sz="1300" u="none" cap="none" strike="noStrike">
                          <a:solidFill>
                            <a:srgbClr val="14213D"/>
                          </a:solidFill>
                          <a:latin typeface="IBM Plex Sans"/>
                          <a:ea typeface="IBM Plex Sans"/>
                          <a:cs typeface="IBM Plex Sans"/>
                          <a:sym typeface="IBM Plex Sans"/>
                        </a:rPr>
                        <a:t>Score used for ranking</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B6B5B0"/>
                      </a:solidFill>
                      <a:prstDash val="solid"/>
                      <a:round/>
                      <a:headEnd len="sm" w="sm" type="none"/>
                      <a:tailEnd len="sm" w="sm" type="none"/>
                    </a:lnL>
                    <a:lnR cap="flat" cmpd="sng" w="12700">
                      <a:solidFill>
                        <a:srgbClr val="B6B5B0"/>
                      </a:solidFill>
                      <a:prstDash val="solid"/>
                      <a:round/>
                      <a:headEnd len="sm" w="sm" type="none"/>
                      <a:tailEnd len="sm" w="sm" type="none"/>
                    </a:lnR>
                    <a:lnT cap="flat" cmpd="sng" w="12700">
                      <a:solidFill>
                        <a:srgbClr val="C4C3BE"/>
                      </a:solidFill>
                      <a:prstDash val="solid"/>
                      <a:round/>
                      <a:headEnd len="sm" w="sm" type="none"/>
                      <a:tailEnd len="sm" w="sm" type="none"/>
                    </a:lnT>
                    <a:lnB cap="flat" cmpd="sng" w="12700">
                      <a:solidFill>
                        <a:srgbClr val="B6B5B0"/>
                      </a:solidFill>
                      <a:prstDash val="solid"/>
                      <a:round/>
                      <a:headEnd len="sm" w="sm" type="none"/>
                      <a:tailEnd len="sm" w="sm" type="none"/>
                    </a:lnB>
                    <a:solidFill>
                      <a:srgbClr val="E4E2DC"/>
                    </a:solidFill>
                  </a:tcPr>
                </a:tc>
              </a:tr>
              <a:tr h="590450">
                <a:tc>
                  <a:txBody>
                    <a:bodyPr/>
                    <a:lstStyle/>
                    <a:p>
                      <a:pPr indent="0" lvl="0" marL="0" marR="0" rtl="0" algn="l">
                        <a:lnSpc>
                          <a:spcPct val="116667"/>
                        </a:lnSpc>
                        <a:spcBef>
                          <a:spcPts val="0"/>
                        </a:spcBef>
                        <a:spcAft>
                          <a:spcPts val="0"/>
                        </a:spcAft>
                        <a:buClr>
                          <a:srgbClr val="14213D"/>
                        </a:buClr>
                        <a:buSzPts val="1300"/>
                        <a:buFont typeface="IBM Plex Sans"/>
                        <a:buNone/>
                      </a:pPr>
                      <a:r>
                        <a:rPr lang="en-US" sz="1300" u="none" cap="none" strike="noStrike">
                          <a:solidFill>
                            <a:srgbClr val="14213D"/>
                          </a:solidFill>
                          <a:latin typeface="IBM Plex Sans"/>
                          <a:ea typeface="IBM Plex Sans"/>
                          <a:cs typeface="IBM Plex Sans"/>
                          <a:sym typeface="IBM Plex Sans"/>
                        </a:rPr>
                        <a:t>Isolation Forest</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4C3BE"/>
                      </a:solidFill>
                      <a:prstDash val="solid"/>
                      <a:round/>
                      <a:headEnd len="sm" w="sm" type="none"/>
                      <a:tailEnd len="sm" w="sm" type="none"/>
                    </a:lnL>
                    <a:lnR cap="flat" cmpd="sng" w="12700">
                      <a:solidFill>
                        <a:srgbClr val="C4C3BE"/>
                      </a:solidFill>
                      <a:prstDash val="solid"/>
                      <a:round/>
                      <a:headEnd len="sm" w="sm" type="none"/>
                      <a:tailEnd len="sm" w="sm" type="none"/>
                    </a:lnR>
                    <a:lnT cap="flat" cmpd="sng" w="12700">
                      <a:solidFill>
                        <a:srgbClr val="B6B5B0"/>
                      </a:solidFill>
                      <a:prstDash val="solid"/>
                      <a:round/>
                      <a:headEnd len="sm" w="sm" type="none"/>
                      <a:tailEnd len="sm" w="sm" type="none"/>
                    </a:lnT>
                    <a:lnB cap="flat" cmpd="sng" w="12700">
                      <a:solidFill>
                        <a:srgbClr val="C4C3BE"/>
                      </a:solidFill>
                      <a:prstDash val="solid"/>
                      <a:round/>
                      <a:headEnd len="sm" w="sm" type="none"/>
                      <a:tailEnd len="sm" w="sm" type="none"/>
                    </a:lnB>
                  </a:tcPr>
                </a:tc>
                <a:tc>
                  <a:txBody>
                    <a:bodyPr/>
                    <a:lstStyle/>
                    <a:p>
                      <a:pPr indent="0" lvl="0" marL="0" marR="0" rtl="0" algn="l">
                        <a:lnSpc>
                          <a:spcPct val="116667"/>
                        </a:lnSpc>
                        <a:spcBef>
                          <a:spcPts val="0"/>
                        </a:spcBef>
                        <a:spcAft>
                          <a:spcPts val="0"/>
                        </a:spcAft>
                        <a:buClr>
                          <a:srgbClr val="14213D"/>
                        </a:buClr>
                        <a:buSzPts val="1300"/>
                        <a:buFont typeface="IBM Plex Sans"/>
                        <a:buNone/>
                      </a:pPr>
                      <a:r>
                        <a:rPr lang="en-US" sz="1300" u="none" cap="none" strike="noStrike">
                          <a:solidFill>
                            <a:srgbClr val="14213D"/>
                          </a:solidFill>
                          <a:latin typeface="IBM Plex Sans"/>
                          <a:ea typeface="IBM Plex Sans"/>
                          <a:cs typeface="IBM Plex Sans"/>
                          <a:sym typeface="IBM Plex Sans"/>
                        </a:rPr>
                        <a:t>300 trees, contamination 0.05, seed</a:t>
                      </a:r>
                      <a:r>
                        <a:rPr lang="en-US" sz="1300">
                          <a:solidFill>
                            <a:srgbClr val="14213D"/>
                          </a:solidFill>
                          <a:latin typeface="IBM Plex Sans"/>
                          <a:ea typeface="IBM Plex Sans"/>
                          <a:cs typeface="IBM Plex Sans"/>
                          <a:sym typeface="IBM Plex Sans"/>
                        </a:rPr>
                        <a:t>s start at 42</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4C3BE"/>
                      </a:solidFill>
                      <a:prstDash val="solid"/>
                      <a:round/>
                      <a:headEnd len="sm" w="sm" type="none"/>
                      <a:tailEnd len="sm" w="sm" type="none"/>
                    </a:lnL>
                    <a:lnR cap="flat" cmpd="sng" w="12700">
                      <a:solidFill>
                        <a:srgbClr val="C4C3BE"/>
                      </a:solidFill>
                      <a:prstDash val="solid"/>
                      <a:round/>
                      <a:headEnd len="sm" w="sm" type="none"/>
                      <a:tailEnd len="sm" w="sm" type="none"/>
                    </a:lnR>
                    <a:lnT cap="flat" cmpd="sng" w="12700">
                      <a:solidFill>
                        <a:srgbClr val="B6B5B0"/>
                      </a:solidFill>
                      <a:prstDash val="solid"/>
                      <a:round/>
                      <a:headEnd len="sm" w="sm" type="none"/>
                      <a:tailEnd len="sm" w="sm" type="none"/>
                    </a:lnT>
                    <a:lnB cap="flat" cmpd="sng" w="12700">
                      <a:solidFill>
                        <a:srgbClr val="C4C3BE"/>
                      </a:solidFill>
                      <a:prstDash val="solid"/>
                      <a:round/>
                      <a:headEnd len="sm" w="sm" type="none"/>
                      <a:tailEnd len="sm" w="sm" type="none"/>
                    </a:lnB>
                  </a:tcPr>
                </a:tc>
                <a:tc>
                  <a:txBody>
                    <a:bodyPr/>
                    <a:lstStyle/>
                    <a:p>
                      <a:pPr indent="0" lvl="0" marL="0" marR="0" rtl="0" algn="l">
                        <a:lnSpc>
                          <a:spcPct val="116667"/>
                        </a:lnSpc>
                        <a:spcBef>
                          <a:spcPts val="0"/>
                        </a:spcBef>
                        <a:spcAft>
                          <a:spcPts val="0"/>
                        </a:spcAft>
                        <a:buClr>
                          <a:srgbClr val="14213D"/>
                        </a:buClr>
                        <a:buSzPts val="1300"/>
                        <a:buFont typeface="IBM Plex Sans"/>
                        <a:buNone/>
                      </a:pPr>
                      <a:r>
                        <a:rPr lang="en-US" sz="1300">
                          <a:solidFill>
                            <a:srgbClr val="14213D"/>
                          </a:solidFill>
                          <a:latin typeface="IBM Plex Sans"/>
                          <a:ea typeface="IBM Plex Sans"/>
                          <a:cs typeface="IBM Plex Sans"/>
                          <a:sym typeface="IBM Plex Sans"/>
                        </a:rPr>
                        <a:t>H</a:t>
                      </a:r>
                      <a:r>
                        <a:rPr lang="en-US" sz="1300" u="none" cap="none" strike="noStrike">
                          <a:solidFill>
                            <a:srgbClr val="14213D"/>
                          </a:solidFill>
                          <a:latin typeface="IBM Plex Sans"/>
                          <a:ea typeface="IBM Plex Sans"/>
                          <a:cs typeface="IBM Plex Sans"/>
                          <a:sym typeface="IBM Plex Sans"/>
                        </a:rPr>
                        <a:t>igher means easier to isolate</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4C3BE"/>
                      </a:solidFill>
                      <a:prstDash val="solid"/>
                      <a:round/>
                      <a:headEnd len="sm" w="sm" type="none"/>
                      <a:tailEnd len="sm" w="sm" type="none"/>
                    </a:lnL>
                    <a:lnR cap="flat" cmpd="sng" w="12700">
                      <a:solidFill>
                        <a:srgbClr val="C4C3BE"/>
                      </a:solidFill>
                      <a:prstDash val="solid"/>
                      <a:round/>
                      <a:headEnd len="sm" w="sm" type="none"/>
                      <a:tailEnd len="sm" w="sm" type="none"/>
                    </a:lnR>
                    <a:lnT cap="flat" cmpd="sng" w="12700">
                      <a:solidFill>
                        <a:srgbClr val="B6B5B0"/>
                      </a:solidFill>
                      <a:prstDash val="solid"/>
                      <a:round/>
                      <a:headEnd len="sm" w="sm" type="none"/>
                      <a:tailEnd len="sm" w="sm" type="none"/>
                    </a:lnT>
                    <a:lnB cap="flat" cmpd="sng" w="12700">
                      <a:solidFill>
                        <a:srgbClr val="C4C3BE"/>
                      </a:solidFill>
                      <a:prstDash val="solid"/>
                      <a:round/>
                      <a:headEnd len="sm" w="sm" type="none"/>
                      <a:tailEnd len="sm" w="sm" type="none"/>
                    </a:lnB>
                  </a:tcPr>
                </a:tc>
              </a:tr>
            </a:tbl>
          </a:graphicData>
        </a:graphic>
      </p:graphicFrame>
      <p:sp>
        <p:nvSpPr>
          <p:cNvPr id="138" name="Google Shape;138;p14"/>
          <p:cNvSpPr/>
          <p:nvPr/>
        </p:nvSpPr>
        <p:spPr>
          <a:xfrm>
            <a:off x="812800" y="2758232"/>
            <a:ext cx="10883392" cy="52318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4A5568"/>
              </a:buClr>
              <a:buSzPts val="1400"/>
              <a:buFont typeface="IBM Plex Sans"/>
              <a:buNone/>
            </a:pPr>
            <a:r>
              <a:rPr b="0" i="0" lang="en-US" sz="1400" u="none" cap="none" strike="noStrike">
                <a:solidFill>
                  <a:srgbClr val="4A5568"/>
                </a:solidFill>
                <a:latin typeface="IBM Plex Sans"/>
                <a:ea typeface="IBM Plex Sans"/>
                <a:cs typeface="IBM Plex Sans"/>
                <a:sym typeface="IBM Plex Sans"/>
              </a:rPr>
              <a:t>Input: 9,467 wallets with the six features, log-transformed where skewed and standardised. We use the score as a ranking; the top 5% by score (474 wallets) are flagged as abnormal, so the contamination setting does not decide who is abnormal.</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EE"/>
        </a:solidFill>
      </p:bgPr>
    </p:bg>
    <p:spTree>
      <p:nvGrpSpPr>
        <p:cNvPr id="143" name="Shape 143"/>
        <p:cNvGrpSpPr/>
        <p:nvPr/>
      </p:nvGrpSpPr>
      <p:grpSpPr>
        <a:xfrm>
          <a:off x="0" y="0"/>
          <a:ext cx="0" cy="0"/>
          <a:chOff x="0" y="0"/>
          <a:chExt cx="0" cy="0"/>
        </a:xfrm>
      </p:grpSpPr>
      <p:sp>
        <p:nvSpPr>
          <p:cNvPr id="144" name="Google Shape;144;p15"/>
          <p:cNvSpPr/>
          <p:nvPr/>
        </p:nvSpPr>
        <p:spPr>
          <a:xfrm>
            <a:off x="812800" y="812800"/>
            <a:ext cx="10883392" cy="500360"/>
          </a:xfrm>
          <a:prstGeom prst="rect">
            <a:avLst/>
          </a:prstGeom>
          <a:noFill/>
          <a:ln>
            <a:noFill/>
          </a:ln>
        </p:spPr>
        <p:txBody>
          <a:bodyPr anchorCtr="0" anchor="t" bIns="0" lIns="0" spcFirstLastPara="1" rIns="0" wrap="square" tIns="0">
            <a:noAutofit/>
          </a:bodyPr>
          <a:lstStyle/>
          <a:p>
            <a:pPr indent="0" lvl="0" marL="0" marR="0" rtl="0" algn="l">
              <a:lnSpc>
                <a:spcPct val="91667"/>
              </a:lnSpc>
              <a:spcBef>
                <a:spcPts val="0"/>
              </a:spcBef>
              <a:spcAft>
                <a:spcPts val="0"/>
              </a:spcAft>
              <a:buClr>
                <a:srgbClr val="14213D"/>
              </a:buClr>
              <a:buSzPts val="3400"/>
              <a:buFont typeface="EB Garamond"/>
              <a:buNone/>
            </a:pPr>
            <a:r>
              <a:rPr b="0" i="0" lang="en-US" sz="3400" u="none" cap="none" strike="noStrike">
                <a:solidFill>
                  <a:srgbClr val="14213D"/>
                </a:solidFill>
                <a:latin typeface="EB Garamond"/>
                <a:ea typeface="EB Garamond"/>
                <a:cs typeface="EB Garamond"/>
                <a:sym typeface="EB Garamond"/>
              </a:rPr>
              <a:t>How</a:t>
            </a:r>
            <a:r>
              <a:rPr lang="en-US" sz="3400">
                <a:solidFill>
                  <a:srgbClr val="14213D"/>
                </a:solidFill>
                <a:latin typeface="EB Garamond"/>
                <a:ea typeface="EB Garamond"/>
                <a:cs typeface="EB Garamond"/>
                <a:sym typeface="EB Garamond"/>
              </a:rPr>
              <a:t>’s abnormal wallets in money spend area</a:t>
            </a:r>
            <a:endParaRPr b="0" i="0" sz="3400" u="none" cap="none" strike="noStrike">
              <a:solidFill>
                <a:schemeClr val="dk1"/>
              </a:solidFill>
              <a:latin typeface="Calibri"/>
              <a:ea typeface="Calibri"/>
              <a:cs typeface="Calibri"/>
              <a:sym typeface="Calibri"/>
            </a:endParaRPr>
          </a:p>
        </p:txBody>
      </p:sp>
      <p:sp>
        <p:nvSpPr>
          <p:cNvPr id="145" name="Google Shape;145;p15"/>
          <p:cNvSpPr/>
          <p:nvPr/>
        </p:nvSpPr>
        <p:spPr>
          <a:xfrm>
            <a:off x="815938" y="2991110"/>
            <a:ext cx="3380400" cy="1484700"/>
          </a:xfrm>
          <a:prstGeom prst="roundRect">
            <a:avLst>
              <a:gd fmla="val 6630" name="adj"/>
            </a:avLst>
          </a:prstGeom>
          <a:solidFill>
            <a:srgbClr val="FFFFFF"/>
          </a:solidFill>
          <a:ln cap="flat" cmpd="sng" w="9525">
            <a:solidFill>
              <a:srgbClr val="DDD9C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5"/>
          <p:cNvSpPr/>
          <p:nvPr/>
        </p:nvSpPr>
        <p:spPr>
          <a:xfrm>
            <a:off x="1047713" y="3222885"/>
            <a:ext cx="3004200" cy="472500"/>
          </a:xfrm>
          <a:prstGeom prst="rect">
            <a:avLst/>
          </a:prstGeom>
          <a:noFill/>
          <a:ln>
            <a:noFill/>
          </a:ln>
        </p:spPr>
        <p:txBody>
          <a:bodyPr anchorCtr="0" anchor="t" bIns="0" lIns="0" spcFirstLastPara="1" rIns="0" wrap="square" tIns="0">
            <a:noAutofit/>
          </a:bodyPr>
          <a:lstStyle/>
          <a:p>
            <a:pPr indent="0" lvl="0" marL="0" marR="0" rtl="0" algn="l">
              <a:lnSpc>
                <a:spcPct val="91667"/>
              </a:lnSpc>
              <a:spcBef>
                <a:spcPts val="0"/>
              </a:spcBef>
              <a:spcAft>
                <a:spcPts val="0"/>
              </a:spcAft>
              <a:buClr>
                <a:srgbClr val="1F7A8C"/>
              </a:buClr>
              <a:buSzPts val="3200"/>
              <a:buFont typeface="IBM Plex Sans"/>
              <a:buNone/>
            </a:pPr>
            <a:r>
              <a:rPr b="1" i="0" lang="en-US" sz="3200" u="none" cap="none" strike="noStrike">
                <a:solidFill>
                  <a:srgbClr val="1F7A8C"/>
                </a:solidFill>
                <a:latin typeface="IBM Plex Sans"/>
                <a:ea typeface="IBM Plex Sans"/>
                <a:cs typeface="IBM Plex Sans"/>
                <a:sym typeface="IBM Plex Sans"/>
              </a:rPr>
              <a:t>474</a:t>
            </a:r>
            <a:endParaRPr b="0" i="0" sz="3200" u="none" cap="none" strike="noStrike">
              <a:solidFill>
                <a:schemeClr val="dk1"/>
              </a:solidFill>
              <a:latin typeface="Calibri"/>
              <a:ea typeface="Calibri"/>
              <a:cs typeface="Calibri"/>
              <a:sym typeface="Calibri"/>
            </a:endParaRPr>
          </a:p>
        </p:txBody>
      </p:sp>
      <p:sp>
        <p:nvSpPr>
          <p:cNvPr id="147" name="Google Shape;147;p15"/>
          <p:cNvSpPr/>
          <p:nvPr/>
        </p:nvSpPr>
        <p:spPr>
          <a:xfrm>
            <a:off x="1047713" y="3746115"/>
            <a:ext cx="3004200" cy="52320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4A5568"/>
              </a:buClr>
              <a:buSzPts val="1400"/>
              <a:buFont typeface="IBM Plex Sans"/>
              <a:buNone/>
            </a:pPr>
            <a:r>
              <a:rPr b="0" i="0" lang="en-US" sz="1400" u="none" cap="none" strike="noStrike">
                <a:solidFill>
                  <a:srgbClr val="4A5568"/>
                </a:solidFill>
                <a:latin typeface="IBM Plex Sans"/>
                <a:ea typeface="IBM Plex Sans"/>
                <a:cs typeface="IBM Plex Sans"/>
                <a:sym typeface="IBM Plex Sans"/>
              </a:rPr>
              <a:t>flagged abnormal: the top 5% of 9,467 wallets</a:t>
            </a:r>
            <a:endParaRPr b="0" i="0" sz="1400" u="none" cap="none" strike="noStrike">
              <a:solidFill>
                <a:schemeClr val="dk1"/>
              </a:solidFill>
              <a:latin typeface="Calibri"/>
              <a:ea typeface="Calibri"/>
              <a:cs typeface="Calibri"/>
              <a:sym typeface="Calibri"/>
            </a:endParaRPr>
          </a:p>
        </p:txBody>
      </p:sp>
      <p:sp>
        <p:nvSpPr>
          <p:cNvPr id="148" name="Google Shape;148;p15"/>
          <p:cNvSpPr/>
          <p:nvPr/>
        </p:nvSpPr>
        <p:spPr>
          <a:xfrm>
            <a:off x="4405772" y="2991110"/>
            <a:ext cx="3380400" cy="1484700"/>
          </a:xfrm>
          <a:prstGeom prst="roundRect">
            <a:avLst>
              <a:gd fmla="val 6630" name="adj"/>
            </a:avLst>
          </a:prstGeom>
          <a:solidFill>
            <a:srgbClr val="FFFFFF"/>
          </a:solidFill>
          <a:ln cap="flat" cmpd="sng" w="9525">
            <a:solidFill>
              <a:srgbClr val="DDD9C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5"/>
          <p:cNvSpPr/>
          <p:nvPr/>
        </p:nvSpPr>
        <p:spPr>
          <a:xfrm>
            <a:off x="4637547" y="3222885"/>
            <a:ext cx="3004200" cy="472500"/>
          </a:xfrm>
          <a:prstGeom prst="rect">
            <a:avLst/>
          </a:prstGeom>
          <a:noFill/>
          <a:ln>
            <a:noFill/>
          </a:ln>
        </p:spPr>
        <p:txBody>
          <a:bodyPr anchorCtr="0" anchor="t" bIns="0" lIns="0" spcFirstLastPara="1" rIns="0" wrap="square" tIns="0">
            <a:noAutofit/>
          </a:bodyPr>
          <a:lstStyle/>
          <a:p>
            <a:pPr indent="0" lvl="0" marL="0" marR="0" rtl="0" algn="l">
              <a:lnSpc>
                <a:spcPct val="91667"/>
              </a:lnSpc>
              <a:spcBef>
                <a:spcPts val="0"/>
              </a:spcBef>
              <a:spcAft>
                <a:spcPts val="0"/>
              </a:spcAft>
              <a:buClr>
                <a:srgbClr val="1F7A8C"/>
              </a:buClr>
              <a:buSzPts val="3200"/>
              <a:buFont typeface="IBM Plex Sans"/>
              <a:buNone/>
            </a:pPr>
            <a:r>
              <a:rPr b="1" i="0" lang="en-US" sz="3200" u="none" cap="none" strike="noStrike">
                <a:solidFill>
                  <a:srgbClr val="1F7A8C"/>
                </a:solidFill>
                <a:latin typeface="IBM Plex Sans"/>
                <a:ea typeface="IBM Plex Sans"/>
                <a:cs typeface="IBM Plex Sans"/>
                <a:sym typeface="IBM Plex Sans"/>
              </a:rPr>
              <a:t>95</a:t>
            </a:r>
            <a:endParaRPr b="0" i="0" sz="3200" u="none" cap="none" strike="noStrike">
              <a:solidFill>
                <a:schemeClr val="dk1"/>
              </a:solidFill>
              <a:latin typeface="Calibri"/>
              <a:ea typeface="Calibri"/>
              <a:cs typeface="Calibri"/>
              <a:sym typeface="Calibri"/>
            </a:endParaRPr>
          </a:p>
        </p:txBody>
      </p:sp>
      <p:sp>
        <p:nvSpPr>
          <p:cNvPr id="150" name="Google Shape;150;p15"/>
          <p:cNvSpPr/>
          <p:nvPr/>
        </p:nvSpPr>
        <p:spPr>
          <a:xfrm>
            <a:off x="4637547" y="3746115"/>
            <a:ext cx="3004200" cy="27420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4A5568"/>
              </a:buClr>
              <a:buSzPts val="1400"/>
              <a:buFont typeface="IBM Plex Sans"/>
              <a:buNone/>
            </a:pPr>
            <a:r>
              <a:rPr b="0" i="0" lang="en-US" sz="1400" u="none" cap="none" strike="noStrike">
                <a:solidFill>
                  <a:srgbClr val="4A5568"/>
                </a:solidFill>
                <a:latin typeface="IBM Plex Sans"/>
                <a:ea typeface="IBM Plex Sans"/>
                <a:cs typeface="IBM Plex Sans"/>
                <a:sym typeface="IBM Plex Sans"/>
              </a:rPr>
              <a:t>flagged in the top 1%</a:t>
            </a:r>
            <a:endParaRPr b="0" i="0" sz="1400" u="none" cap="none" strike="noStrike">
              <a:solidFill>
                <a:schemeClr val="dk1"/>
              </a:solidFill>
              <a:latin typeface="Calibri"/>
              <a:ea typeface="Calibri"/>
              <a:cs typeface="Calibri"/>
              <a:sym typeface="Calibri"/>
            </a:endParaRPr>
          </a:p>
        </p:txBody>
      </p:sp>
      <p:sp>
        <p:nvSpPr>
          <p:cNvPr id="151" name="Google Shape;151;p15"/>
          <p:cNvSpPr/>
          <p:nvPr/>
        </p:nvSpPr>
        <p:spPr>
          <a:xfrm>
            <a:off x="7995655" y="2991110"/>
            <a:ext cx="3380400" cy="1484700"/>
          </a:xfrm>
          <a:prstGeom prst="roundRect">
            <a:avLst>
              <a:gd fmla="val 6630" name="adj"/>
            </a:avLst>
          </a:prstGeom>
          <a:solidFill>
            <a:srgbClr val="FFFFFF"/>
          </a:solidFill>
          <a:ln cap="flat" cmpd="sng" w="9525">
            <a:solidFill>
              <a:srgbClr val="DDD9C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5"/>
          <p:cNvSpPr/>
          <p:nvPr/>
        </p:nvSpPr>
        <p:spPr>
          <a:xfrm>
            <a:off x="8227430" y="3222885"/>
            <a:ext cx="3004200" cy="472500"/>
          </a:xfrm>
          <a:prstGeom prst="rect">
            <a:avLst/>
          </a:prstGeom>
          <a:noFill/>
          <a:ln>
            <a:noFill/>
          </a:ln>
        </p:spPr>
        <p:txBody>
          <a:bodyPr anchorCtr="0" anchor="t" bIns="0" lIns="0" spcFirstLastPara="1" rIns="0" wrap="square" tIns="0">
            <a:noAutofit/>
          </a:bodyPr>
          <a:lstStyle/>
          <a:p>
            <a:pPr indent="0" lvl="0" marL="0" marR="0" rtl="0" algn="l">
              <a:lnSpc>
                <a:spcPct val="91667"/>
              </a:lnSpc>
              <a:spcBef>
                <a:spcPts val="0"/>
              </a:spcBef>
              <a:spcAft>
                <a:spcPts val="0"/>
              </a:spcAft>
              <a:buClr>
                <a:srgbClr val="1F7A8C"/>
              </a:buClr>
              <a:buSzPts val="3200"/>
              <a:buFont typeface="IBM Plex Sans"/>
              <a:buNone/>
            </a:pPr>
            <a:r>
              <a:rPr b="1" i="0" lang="en-US" sz="3200" u="none" cap="none" strike="noStrike">
                <a:solidFill>
                  <a:srgbClr val="1F7A8C"/>
                </a:solidFill>
                <a:latin typeface="IBM Plex Sans"/>
                <a:ea typeface="IBM Plex Sans"/>
                <a:cs typeface="IBM Plex Sans"/>
                <a:sym typeface="IBM Plex Sans"/>
              </a:rPr>
              <a:t>49.2%</a:t>
            </a:r>
            <a:endParaRPr b="0" i="0" sz="3200" u="none" cap="none" strike="noStrike">
              <a:solidFill>
                <a:schemeClr val="dk1"/>
              </a:solidFill>
              <a:latin typeface="Calibri"/>
              <a:ea typeface="Calibri"/>
              <a:cs typeface="Calibri"/>
              <a:sym typeface="Calibri"/>
            </a:endParaRPr>
          </a:p>
        </p:txBody>
      </p:sp>
      <p:sp>
        <p:nvSpPr>
          <p:cNvPr id="153" name="Google Shape;153;p15"/>
          <p:cNvSpPr/>
          <p:nvPr/>
        </p:nvSpPr>
        <p:spPr>
          <a:xfrm>
            <a:off x="8227430" y="3746115"/>
            <a:ext cx="3004200" cy="52320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4A5568"/>
              </a:buClr>
              <a:buSzPts val="1400"/>
              <a:buFont typeface="IBM Plex Sans"/>
              <a:buNone/>
            </a:pPr>
            <a:r>
              <a:rPr b="0" i="0" lang="en-US" sz="1400" u="none" cap="none" strike="noStrike">
                <a:solidFill>
                  <a:srgbClr val="4A5568"/>
                </a:solidFill>
                <a:latin typeface="IBM Plex Sans"/>
                <a:ea typeface="IBM Plex Sans"/>
                <a:cs typeface="IBM Plex Sans"/>
                <a:sym typeface="IBM Plex Sans"/>
              </a:rPr>
              <a:t>of BUY dollars held by the 474 flagged wallets</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EE"/>
        </a:solidFill>
      </p:bgPr>
    </p:bg>
    <p:spTree>
      <p:nvGrpSpPr>
        <p:cNvPr id="158" name="Shape 158"/>
        <p:cNvGrpSpPr/>
        <p:nvPr/>
      </p:nvGrpSpPr>
      <p:grpSpPr>
        <a:xfrm>
          <a:off x="0" y="0"/>
          <a:ext cx="0" cy="0"/>
          <a:chOff x="0" y="0"/>
          <a:chExt cx="0" cy="0"/>
        </a:xfrm>
      </p:grpSpPr>
      <p:pic>
        <p:nvPicPr>
          <p:cNvPr id="159" name="Google Shape;159;p16"/>
          <p:cNvPicPr preferRelativeResize="0"/>
          <p:nvPr/>
        </p:nvPicPr>
        <p:blipFill>
          <a:blip r:embed="rId3">
            <a:alphaModFix/>
          </a:blip>
          <a:stretch>
            <a:fillRect/>
          </a:stretch>
        </p:blipFill>
        <p:spPr>
          <a:xfrm>
            <a:off x="2652675" y="514400"/>
            <a:ext cx="6886626" cy="4797899"/>
          </a:xfrm>
          <a:prstGeom prst="rect">
            <a:avLst/>
          </a:prstGeom>
          <a:noFill/>
          <a:ln>
            <a:noFill/>
          </a:ln>
        </p:spPr>
      </p:pic>
      <p:sp>
        <p:nvSpPr>
          <p:cNvPr id="160" name="Google Shape;160;p16"/>
          <p:cNvSpPr txBox="1"/>
          <p:nvPr/>
        </p:nvSpPr>
        <p:spPr>
          <a:xfrm>
            <a:off x="1907850" y="5671425"/>
            <a:ext cx="9071400" cy="97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00">
                <a:solidFill>
                  <a:schemeClr val="dk1"/>
                </a:solidFill>
                <a:latin typeface="IBM Plex Sans"/>
                <a:ea typeface="IBM Plex Sans"/>
                <a:cs typeface="IBM Plex Sans"/>
                <a:sym typeface="IBM Plex Sans"/>
              </a:rPr>
              <a:t>About</a:t>
            </a:r>
            <a:r>
              <a:rPr b="1" lang="en-US" sz="1500">
                <a:solidFill>
                  <a:schemeClr val="dk1"/>
                </a:solidFill>
                <a:latin typeface="IBM Plex Sans"/>
                <a:ea typeface="IBM Plex Sans"/>
                <a:cs typeface="IBM Plex Sans"/>
                <a:sym typeface="IBM Plex Sans"/>
              </a:rPr>
              <a:t> 70% of the abnormal wallets </a:t>
            </a:r>
            <a:r>
              <a:rPr lang="en-US" sz="1500">
                <a:solidFill>
                  <a:schemeClr val="dk1"/>
                </a:solidFill>
                <a:latin typeface="IBM Plex Sans"/>
                <a:ea typeface="IBM Plex Sans"/>
                <a:cs typeface="IBM Plex Sans"/>
                <a:sym typeface="IBM Plex Sans"/>
              </a:rPr>
              <a:t>are in the top half of spenders, and they account for nearly all of the flagged money. The 50 flagged wallets in the top 1% alone hold 86% of the flagged BUY dollars.</a:t>
            </a:r>
            <a:endParaRPr sz="1800">
              <a:latin typeface="IBM Plex Sans"/>
              <a:ea typeface="IBM Plex Sans"/>
              <a:cs typeface="IBM Plex Sans"/>
              <a:sym typeface="IBM Plex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EE"/>
        </a:solidFill>
      </p:bgPr>
    </p:bg>
    <p:spTree>
      <p:nvGrpSpPr>
        <p:cNvPr id="165" name="Shape 165"/>
        <p:cNvGrpSpPr/>
        <p:nvPr/>
      </p:nvGrpSpPr>
      <p:grpSpPr>
        <a:xfrm>
          <a:off x="0" y="0"/>
          <a:ext cx="0" cy="0"/>
          <a:chOff x="0" y="0"/>
          <a:chExt cx="0" cy="0"/>
        </a:xfrm>
      </p:grpSpPr>
      <p:sp>
        <p:nvSpPr>
          <p:cNvPr id="166" name="Google Shape;166;p17"/>
          <p:cNvSpPr/>
          <p:nvPr/>
        </p:nvSpPr>
        <p:spPr>
          <a:xfrm>
            <a:off x="812800" y="812800"/>
            <a:ext cx="10883400" cy="500400"/>
          </a:xfrm>
          <a:prstGeom prst="rect">
            <a:avLst/>
          </a:prstGeom>
          <a:noFill/>
          <a:ln>
            <a:noFill/>
          </a:ln>
        </p:spPr>
        <p:txBody>
          <a:bodyPr anchorCtr="0" anchor="t" bIns="0" lIns="0" spcFirstLastPara="1" rIns="0" wrap="square" tIns="0">
            <a:noAutofit/>
          </a:bodyPr>
          <a:lstStyle/>
          <a:p>
            <a:pPr indent="0" lvl="0" marL="0" marR="0" rtl="0" algn="l">
              <a:lnSpc>
                <a:spcPct val="91667"/>
              </a:lnSpc>
              <a:spcBef>
                <a:spcPts val="0"/>
              </a:spcBef>
              <a:spcAft>
                <a:spcPts val="0"/>
              </a:spcAft>
              <a:buClr>
                <a:srgbClr val="14213D"/>
              </a:buClr>
              <a:buSzPts val="3400"/>
              <a:buFont typeface="EB Garamond"/>
              <a:buNone/>
            </a:pPr>
            <a:r>
              <a:rPr b="0" i="0" lang="en-US" sz="3400" u="none" cap="none" strike="noStrike">
                <a:solidFill>
                  <a:srgbClr val="14213D"/>
                </a:solidFill>
                <a:latin typeface="EB Garamond"/>
                <a:ea typeface="EB Garamond"/>
                <a:cs typeface="EB Garamond"/>
                <a:sym typeface="EB Garamond"/>
              </a:rPr>
              <a:t>The Isolation Forest list is stable across seeds</a:t>
            </a:r>
            <a:endParaRPr b="0" i="0" sz="3400" u="none" cap="none" strike="noStrike">
              <a:solidFill>
                <a:schemeClr val="dk1"/>
              </a:solidFill>
              <a:latin typeface="Calibri"/>
              <a:ea typeface="Calibri"/>
              <a:cs typeface="Calibri"/>
              <a:sym typeface="Calibri"/>
            </a:endParaRPr>
          </a:p>
        </p:txBody>
      </p:sp>
      <p:sp>
        <p:nvSpPr>
          <p:cNvPr id="167" name="Google Shape;167;p17"/>
          <p:cNvSpPr/>
          <p:nvPr/>
        </p:nvSpPr>
        <p:spPr>
          <a:xfrm>
            <a:off x="815975" y="1595735"/>
            <a:ext cx="3346500" cy="1535400"/>
          </a:xfrm>
          <a:prstGeom prst="roundRect">
            <a:avLst>
              <a:gd fmla="val 6411" name="adj"/>
            </a:avLst>
          </a:prstGeom>
          <a:solidFill>
            <a:srgbClr val="FFFFFF"/>
          </a:solidFill>
          <a:ln cap="flat" cmpd="sng" w="9525">
            <a:solidFill>
              <a:srgbClr val="DDD9C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7"/>
          <p:cNvSpPr/>
          <p:nvPr/>
        </p:nvSpPr>
        <p:spPr>
          <a:xfrm>
            <a:off x="1073150" y="1852910"/>
            <a:ext cx="2917200" cy="472500"/>
          </a:xfrm>
          <a:prstGeom prst="rect">
            <a:avLst/>
          </a:prstGeom>
          <a:noFill/>
          <a:ln>
            <a:noFill/>
          </a:ln>
        </p:spPr>
        <p:txBody>
          <a:bodyPr anchorCtr="0" anchor="t" bIns="0" lIns="0" spcFirstLastPara="1" rIns="0" wrap="square" tIns="0">
            <a:noAutofit/>
          </a:bodyPr>
          <a:lstStyle/>
          <a:p>
            <a:pPr indent="0" lvl="0" marL="0" marR="0" rtl="0" algn="l">
              <a:lnSpc>
                <a:spcPct val="91667"/>
              </a:lnSpc>
              <a:spcBef>
                <a:spcPts val="0"/>
              </a:spcBef>
              <a:spcAft>
                <a:spcPts val="0"/>
              </a:spcAft>
              <a:buClr>
                <a:srgbClr val="1F7A8C"/>
              </a:buClr>
              <a:buSzPts val="3200"/>
              <a:buFont typeface="IBM Plex Sans"/>
              <a:buNone/>
            </a:pPr>
            <a:r>
              <a:rPr b="1" i="0" lang="en-US" sz="3200" u="none" cap="none" strike="noStrike">
                <a:solidFill>
                  <a:srgbClr val="1F7A8C"/>
                </a:solidFill>
                <a:latin typeface="IBM Plex Sans"/>
                <a:ea typeface="IBM Plex Sans"/>
                <a:cs typeface="IBM Plex Sans"/>
                <a:sym typeface="IBM Plex Sans"/>
              </a:rPr>
              <a:t>0.88</a:t>
            </a:r>
            <a:endParaRPr b="0" i="0" sz="3200" u="none" cap="none" strike="noStrike">
              <a:solidFill>
                <a:schemeClr val="dk1"/>
              </a:solidFill>
              <a:latin typeface="Calibri"/>
              <a:ea typeface="Calibri"/>
              <a:cs typeface="Calibri"/>
              <a:sym typeface="Calibri"/>
            </a:endParaRPr>
          </a:p>
        </p:txBody>
      </p:sp>
      <p:sp>
        <p:nvSpPr>
          <p:cNvPr id="169" name="Google Shape;169;p17"/>
          <p:cNvSpPr/>
          <p:nvPr/>
        </p:nvSpPr>
        <p:spPr>
          <a:xfrm>
            <a:off x="1073150" y="2376140"/>
            <a:ext cx="2917200" cy="52320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4A5568"/>
              </a:buClr>
              <a:buSzPts val="1400"/>
              <a:buFont typeface="IBM Plex Sans"/>
              <a:buNone/>
            </a:pPr>
            <a:r>
              <a:rPr b="0" i="0" lang="en-US" sz="1400" u="none" cap="none" strike="noStrike">
                <a:solidFill>
                  <a:srgbClr val="4A5568"/>
                </a:solidFill>
                <a:latin typeface="IBM Plex Sans"/>
                <a:ea typeface="IBM Plex Sans"/>
                <a:cs typeface="IBM Plex Sans"/>
                <a:sym typeface="IBM Plex Sans"/>
              </a:rPr>
              <a:t>mean </a:t>
            </a:r>
            <a:r>
              <a:rPr lang="en-US">
                <a:solidFill>
                  <a:srgbClr val="4A5568"/>
                </a:solidFill>
                <a:latin typeface="IBM Plex Sans"/>
                <a:ea typeface="IBM Plex Sans"/>
                <a:cs typeface="IBM Plex Sans"/>
                <a:sym typeface="IBM Plex Sans"/>
              </a:rPr>
              <a:t>abnormal labels</a:t>
            </a:r>
            <a:r>
              <a:rPr b="0" i="0" lang="en-US" sz="1400" u="none" cap="none" strike="noStrike">
                <a:solidFill>
                  <a:srgbClr val="4A5568"/>
                </a:solidFill>
                <a:latin typeface="IBM Plex Sans"/>
                <a:ea typeface="IBM Plex Sans"/>
                <a:cs typeface="IBM Plex Sans"/>
                <a:sym typeface="IBM Plex Sans"/>
              </a:rPr>
              <a:t> overlap across </a:t>
            </a:r>
            <a:r>
              <a:rPr lang="en-US">
                <a:solidFill>
                  <a:srgbClr val="4A5568"/>
                </a:solidFill>
                <a:latin typeface="IBM Plex Sans"/>
                <a:ea typeface="IBM Plex Sans"/>
                <a:cs typeface="IBM Plex Sans"/>
                <a:sym typeface="IBM Plex Sans"/>
              </a:rPr>
              <a:t>10</a:t>
            </a:r>
            <a:r>
              <a:rPr b="0" i="0" lang="en-US" sz="1400" u="none" cap="none" strike="noStrike">
                <a:solidFill>
                  <a:srgbClr val="4A5568"/>
                </a:solidFill>
                <a:latin typeface="IBM Plex Sans"/>
                <a:ea typeface="IBM Plex Sans"/>
                <a:cs typeface="IBM Plex Sans"/>
                <a:sym typeface="IBM Plex Sans"/>
              </a:rPr>
              <a:t> random seeds (0.86 to 0.91)</a:t>
            </a:r>
            <a:endParaRPr b="0" i="0" sz="1400" u="none" cap="none" strike="noStrike">
              <a:solidFill>
                <a:schemeClr val="dk1"/>
              </a:solidFill>
              <a:latin typeface="Calibri"/>
              <a:ea typeface="Calibri"/>
              <a:cs typeface="Calibri"/>
              <a:sym typeface="Calibri"/>
            </a:endParaRPr>
          </a:p>
        </p:txBody>
      </p:sp>
      <p:sp>
        <p:nvSpPr>
          <p:cNvPr id="170" name="Google Shape;170;p17"/>
          <p:cNvSpPr/>
          <p:nvPr/>
        </p:nvSpPr>
        <p:spPr>
          <a:xfrm>
            <a:off x="4422775" y="1595735"/>
            <a:ext cx="3346500" cy="1535400"/>
          </a:xfrm>
          <a:prstGeom prst="roundRect">
            <a:avLst>
              <a:gd fmla="val 6411" name="adj"/>
            </a:avLst>
          </a:prstGeom>
          <a:solidFill>
            <a:srgbClr val="FFFFFF"/>
          </a:solidFill>
          <a:ln cap="flat" cmpd="sng" w="9525">
            <a:solidFill>
              <a:srgbClr val="DDD9C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7"/>
          <p:cNvSpPr/>
          <p:nvPr/>
        </p:nvSpPr>
        <p:spPr>
          <a:xfrm>
            <a:off x="4679950" y="1852910"/>
            <a:ext cx="2917200" cy="472500"/>
          </a:xfrm>
          <a:prstGeom prst="rect">
            <a:avLst/>
          </a:prstGeom>
          <a:noFill/>
          <a:ln>
            <a:noFill/>
          </a:ln>
        </p:spPr>
        <p:txBody>
          <a:bodyPr anchorCtr="0" anchor="t" bIns="0" lIns="0" spcFirstLastPara="1" rIns="0" wrap="square" tIns="0">
            <a:noAutofit/>
          </a:bodyPr>
          <a:lstStyle/>
          <a:p>
            <a:pPr indent="0" lvl="0" marL="0" marR="0" rtl="0" algn="l">
              <a:lnSpc>
                <a:spcPct val="91667"/>
              </a:lnSpc>
              <a:spcBef>
                <a:spcPts val="0"/>
              </a:spcBef>
              <a:spcAft>
                <a:spcPts val="0"/>
              </a:spcAft>
              <a:buClr>
                <a:srgbClr val="1F7A8C"/>
              </a:buClr>
              <a:buSzPts val="3200"/>
              <a:buFont typeface="IBM Plex Sans"/>
              <a:buNone/>
            </a:pPr>
            <a:r>
              <a:rPr b="1" i="0" lang="en-US" sz="3200" u="none" cap="none" strike="noStrike">
                <a:solidFill>
                  <a:srgbClr val="1F7A8C"/>
                </a:solidFill>
                <a:latin typeface="IBM Plex Sans"/>
                <a:ea typeface="IBM Plex Sans"/>
                <a:cs typeface="IBM Plex Sans"/>
                <a:sym typeface="IBM Plex Sans"/>
              </a:rPr>
              <a:t>0.27</a:t>
            </a:r>
            <a:endParaRPr b="0" i="0" sz="3200" u="none" cap="none" strike="noStrike">
              <a:solidFill>
                <a:schemeClr val="dk1"/>
              </a:solidFill>
              <a:latin typeface="Calibri"/>
              <a:ea typeface="Calibri"/>
              <a:cs typeface="Calibri"/>
              <a:sym typeface="Calibri"/>
            </a:endParaRPr>
          </a:p>
        </p:txBody>
      </p:sp>
      <p:sp>
        <p:nvSpPr>
          <p:cNvPr id="172" name="Google Shape;172;p17"/>
          <p:cNvSpPr/>
          <p:nvPr/>
        </p:nvSpPr>
        <p:spPr>
          <a:xfrm>
            <a:off x="4679950" y="2376140"/>
            <a:ext cx="2917200" cy="52320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4A5568"/>
              </a:buClr>
              <a:buSzPts val="1400"/>
              <a:buFont typeface="IBM Plex Sans"/>
              <a:buNone/>
            </a:pPr>
            <a:r>
              <a:rPr b="0" i="0" lang="en-US" sz="1400" u="none" cap="none" strike="noStrike">
                <a:solidFill>
                  <a:srgbClr val="4A5568"/>
                </a:solidFill>
                <a:latin typeface="IBM Plex Sans"/>
                <a:ea typeface="IBM Plex Sans"/>
                <a:cs typeface="IBM Plex Sans"/>
                <a:sym typeface="IBM Plex Sans"/>
              </a:rPr>
              <a:t>top-5% overlap with the biggest-spenders list</a:t>
            </a:r>
            <a:endParaRPr b="0" i="0" sz="1400" u="none" cap="none" strike="noStrike">
              <a:solidFill>
                <a:schemeClr val="dk1"/>
              </a:solidFill>
              <a:latin typeface="Calibri"/>
              <a:ea typeface="Calibri"/>
              <a:cs typeface="Calibri"/>
              <a:sym typeface="Calibri"/>
            </a:endParaRPr>
          </a:p>
        </p:txBody>
      </p:sp>
      <p:sp>
        <p:nvSpPr>
          <p:cNvPr id="173" name="Google Shape;173;p17"/>
          <p:cNvSpPr/>
          <p:nvPr/>
        </p:nvSpPr>
        <p:spPr>
          <a:xfrm>
            <a:off x="8029575" y="1595735"/>
            <a:ext cx="3346500" cy="1535400"/>
          </a:xfrm>
          <a:prstGeom prst="roundRect">
            <a:avLst>
              <a:gd fmla="val 6411" name="adj"/>
            </a:avLst>
          </a:prstGeom>
          <a:solidFill>
            <a:srgbClr val="FFFFFF"/>
          </a:solidFill>
          <a:ln cap="flat" cmpd="sng" w="9525">
            <a:solidFill>
              <a:srgbClr val="DDD9C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7"/>
          <p:cNvSpPr/>
          <p:nvPr/>
        </p:nvSpPr>
        <p:spPr>
          <a:xfrm>
            <a:off x="8286750" y="1852910"/>
            <a:ext cx="2917200" cy="472500"/>
          </a:xfrm>
          <a:prstGeom prst="rect">
            <a:avLst/>
          </a:prstGeom>
          <a:noFill/>
          <a:ln>
            <a:noFill/>
          </a:ln>
        </p:spPr>
        <p:txBody>
          <a:bodyPr anchorCtr="0" anchor="t" bIns="0" lIns="0" spcFirstLastPara="1" rIns="0" wrap="square" tIns="0">
            <a:noAutofit/>
          </a:bodyPr>
          <a:lstStyle/>
          <a:p>
            <a:pPr indent="0" lvl="0" marL="0" marR="0" rtl="0" algn="l">
              <a:lnSpc>
                <a:spcPct val="91667"/>
              </a:lnSpc>
              <a:spcBef>
                <a:spcPts val="0"/>
              </a:spcBef>
              <a:spcAft>
                <a:spcPts val="0"/>
              </a:spcAft>
              <a:buClr>
                <a:srgbClr val="1F7A8C"/>
              </a:buClr>
              <a:buSzPts val="3200"/>
              <a:buFont typeface="IBM Plex Sans"/>
              <a:buNone/>
            </a:pPr>
            <a:r>
              <a:rPr b="1" i="0" lang="en-US" sz="3200" u="none" cap="none" strike="noStrike">
                <a:solidFill>
                  <a:srgbClr val="1F7A8C"/>
                </a:solidFill>
                <a:latin typeface="IBM Plex Sans"/>
                <a:ea typeface="IBM Plex Sans"/>
                <a:cs typeface="IBM Plex Sans"/>
                <a:sym typeface="IBM Plex Sans"/>
              </a:rPr>
              <a:t>0.38</a:t>
            </a:r>
            <a:endParaRPr b="0" i="0" sz="3200" u="none" cap="none" strike="noStrike">
              <a:solidFill>
                <a:schemeClr val="dk1"/>
              </a:solidFill>
              <a:latin typeface="Calibri"/>
              <a:ea typeface="Calibri"/>
              <a:cs typeface="Calibri"/>
              <a:sym typeface="Calibri"/>
            </a:endParaRPr>
          </a:p>
        </p:txBody>
      </p:sp>
      <p:sp>
        <p:nvSpPr>
          <p:cNvPr id="175" name="Google Shape;175;p17"/>
          <p:cNvSpPr/>
          <p:nvPr/>
        </p:nvSpPr>
        <p:spPr>
          <a:xfrm>
            <a:off x="8286750" y="2376140"/>
            <a:ext cx="2917200" cy="52320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4A5568"/>
              </a:buClr>
              <a:buSzPts val="1400"/>
              <a:buFont typeface="IBM Plex Sans"/>
              <a:buNone/>
            </a:pPr>
            <a:r>
              <a:rPr b="0" i="0" lang="en-US" sz="1400" u="none" cap="none" strike="noStrike">
                <a:solidFill>
                  <a:srgbClr val="4A5568"/>
                </a:solidFill>
                <a:latin typeface="IBM Plex Sans"/>
                <a:ea typeface="IBM Plex Sans"/>
                <a:cs typeface="IBM Plex Sans"/>
                <a:sym typeface="IBM Plex Sans"/>
              </a:rPr>
              <a:t>top-1% overlap with the biggest-spenders list</a:t>
            </a:r>
            <a:endParaRPr b="0" i="0" sz="1400" u="none" cap="none" strike="noStrike">
              <a:solidFill>
                <a:schemeClr val="dk1"/>
              </a:solidFill>
              <a:latin typeface="Calibri"/>
              <a:ea typeface="Calibri"/>
              <a:cs typeface="Calibri"/>
              <a:sym typeface="Calibri"/>
            </a:endParaRPr>
          </a:p>
        </p:txBody>
      </p:sp>
      <p:sp>
        <p:nvSpPr>
          <p:cNvPr id="176" name="Google Shape;176;p17"/>
          <p:cNvSpPr txBox="1"/>
          <p:nvPr/>
        </p:nvSpPr>
        <p:spPr>
          <a:xfrm>
            <a:off x="962725" y="3904950"/>
            <a:ext cx="9573000" cy="1535400"/>
          </a:xfrm>
          <a:prstGeom prst="rect">
            <a:avLst/>
          </a:prstGeom>
          <a:noFill/>
          <a:ln>
            <a:noFill/>
          </a:ln>
        </p:spPr>
        <p:txBody>
          <a:bodyPr anchorCtr="0" anchor="t" bIns="91425" lIns="91425" spcFirstLastPara="1" rIns="91425" wrap="square" tIns="91425">
            <a:noAutofit/>
          </a:bodyPr>
          <a:lstStyle/>
          <a:p>
            <a:pPr indent="-368300" lvl="0" marL="457200" rtl="0" algn="l">
              <a:spcBef>
                <a:spcPts val="0"/>
              </a:spcBef>
              <a:spcAft>
                <a:spcPts val="0"/>
              </a:spcAft>
              <a:buSzPts val="2200"/>
              <a:buFont typeface="IBM Plex Sans"/>
              <a:buChar char="●"/>
            </a:pPr>
            <a:r>
              <a:rPr lang="en-US" sz="2200">
                <a:latin typeface="IBM Plex Sans"/>
                <a:ea typeface="IBM Plex Sans"/>
                <a:cs typeface="IBM Plex Sans"/>
                <a:sym typeface="IBM Plex Sans"/>
              </a:rPr>
              <a:t>Biggest spenders” is a simple comparison baseline that uses no model. </a:t>
            </a:r>
            <a:endParaRPr sz="2200">
              <a:latin typeface="IBM Plex Sans"/>
              <a:ea typeface="IBM Plex Sans"/>
              <a:cs typeface="IBM Plex Sans"/>
              <a:sym typeface="IBM Plex Sans"/>
            </a:endParaRPr>
          </a:p>
          <a:p>
            <a:pPr indent="-368300" lvl="0" marL="457200" rtl="0" algn="l">
              <a:spcBef>
                <a:spcPts val="0"/>
              </a:spcBef>
              <a:spcAft>
                <a:spcPts val="0"/>
              </a:spcAft>
              <a:buSzPts val="2200"/>
              <a:buFont typeface="IBM Plex Sans"/>
              <a:buChar char="●"/>
            </a:pPr>
            <a:r>
              <a:rPr lang="en-US" sz="2200">
                <a:latin typeface="IBM Plex Sans"/>
                <a:ea typeface="IBM Plex Sans"/>
                <a:cs typeface="IBM Plex Sans"/>
                <a:sym typeface="IBM Plex Sans"/>
              </a:rPr>
              <a:t>Ranking wallets by total BUY dollars and take the top 5% (474 wallets) and the top 1% (95 wallets).</a:t>
            </a:r>
            <a:endParaRPr sz="2200">
              <a:latin typeface="IBM Plex Sans"/>
              <a:ea typeface="IBM Plex Sans"/>
              <a:cs typeface="IBM Plex Sans"/>
              <a:sym typeface="IBM Plex Sans"/>
            </a:endParaRPr>
          </a:p>
        </p:txBody>
      </p:sp>
      <p:sp>
        <p:nvSpPr>
          <p:cNvPr id="177" name="Google Shape;177;p17"/>
          <p:cNvSpPr txBox="1"/>
          <p:nvPr/>
        </p:nvSpPr>
        <p:spPr>
          <a:xfrm>
            <a:off x="962725" y="3472275"/>
            <a:ext cx="173100" cy="4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EE"/>
        </a:solidFill>
      </p:bgPr>
    </p:bg>
    <p:spTree>
      <p:nvGrpSpPr>
        <p:cNvPr id="182" name="Shape 182"/>
        <p:cNvGrpSpPr/>
        <p:nvPr/>
      </p:nvGrpSpPr>
      <p:grpSpPr>
        <a:xfrm>
          <a:off x="0" y="0"/>
          <a:ext cx="0" cy="0"/>
          <a:chOff x="0" y="0"/>
          <a:chExt cx="0" cy="0"/>
        </a:xfrm>
      </p:grpSpPr>
      <p:sp>
        <p:nvSpPr>
          <p:cNvPr id="183" name="Google Shape;183;p18"/>
          <p:cNvSpPr/>
          <p:nvPr/>
        </p:nvSpPr>
        <p:spPr>
          <a:xfrm>
            <a:off x="812800" y="711200"/>
            <a:ext cx="10883400" cy="465300"/>
          </a:xfrm>
          <a:prstGeom prst="rect">
            <a:avLst/>
          </a:prstGeom>
          <a:noFill/>
          <a:ln>
            <a:noFill/>
          </a:ln>
        </p:spPr>
        <p:txBody>
          <a:bodyPr anchorCtr="0" anchor="t" bIns="0" lIns="0" spcFirstLastPara="1" rIns="0" wrap="square" tIns="0">
            <a:noAutofit/>
          </a:bodyPr>
          <a:lstStyle/>
          <a:p>
            <a:pPr indent="0" lvl="0" marL="0" marR="0" rtl="0" algn="l">
              <a:lnSpc>
                <a:spcPct val="91667"/>
              </a:lnSpc>
              <a:spcBef>
                <a:spcPts val="0"/>
              </a:spcBef>
              <a:spcAft>
                <a:spcPts val="0"/>
              </a:spcAft>
              <a:buClr>
                <a:srgbClr val="14213D"/>
              </a:buClr>
              <a:buSzPts val="3156"/>
              <a:buFont typeface="EB Garamond"/>
              <a:buNone/>
            </a:pPr>
            <a:r>
              <a:rPr b="0" i="0" lang="en-US" sz="3156" u="none" cap="none" strike="noStrike">
                <a:solidFill>
                  <a:srgbClr val="14213D"/>
                </a:solidFill>
                <a:latin typeface="EB Garamond"/>
                <a:ea typeface="EB Garamond"/>
                <a:cs typeface="EB Garamond"/>
                <a:sym typeface="EB Garamond"/>
              </a:rPr>
              <a:t>Conclusion</a:t>
            </a:r>
            <a:endParaRPr b="0" i="0" sz="3156" u="none" cap="none" strike="noStrike">
              <a:solidFill>
                <a:srgbClr val="000000"/>
              </a:solidFill>
              <a:latin typeface="Calibri"/>
              <a:ea typeface="Calibri"/>
              <a:cs typeface="Calibri"/>
              <a:sym typeface="Calibri"/>
            </a:endParaRPr>
          </a:p>
        </p:txBody>
      </p:sp>
      <p:sp>
        <p:nvSpPr>
          <p:cNvPr id="184" name="Google Shape;184;p18"/>
          <p:cNvSpPr/>
          <p:nvPr/>
        </p:nvSpPr>
        <p:spPr>
          <a:xfrm>
            <a:off x="815975" y="1332111"/>
            <a:ext cx="10560000" cy="1163100"/>
          </a:xfrm>
          <a:prstGeom prst="roundRect">
            <a:avLst>
              <a:gd fmla="val 8461" name="adj"/>
            </a:avLst>
          </a:prstGeom>
          <a:solidFill>
            <a:srgbClr val="FFFFFF"/>
          </a:solidFill>
          <a:ln cap="flat" cmpd="sng" w="9525">
            <a:solidFill>
              <a:srgbClr val="DDD9C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8"/>
          <p:cNvSpPr/>
          <p:nvPr/>
        </p:nvSpPr>
        <p:spPr>
          <a:xfrm>
            <a:off x="1073150" y="1538486"/>
            <a:ext cx="431700" cy="381000"/>
          </a:xfrm>
          <a:prstGeom prst="rect">
            <a:avLst/>
          </a:prstGeom>
          <a:noFill/>
          <a:ln>
            <a:noFill/>
          </a:ln>
        </p:spPr>
        <p:txBody>
          <a:bodyPr anchorCtr="0" anchor="t" bIns="0" lIns="0" spcFirstLastPara="1" rIns="0" wrap="square" tIns="0">
            <a:noAutofit/>
          </a:bodyPr>
          <a:lstStyle/>
          <a:p>
            <a:pPr indent="0" lvl="0" marL="0" marR="0" rtl="0" algn="l">
              <a:lnSpc>
                <a:spcPct val="83333"/>
              </a:lnSpc>
              <a:spcBef>
                <a:spcPts val="0"/>
              </a:spcBef>
              <a:spcAft>
                <a:spcPts val="0"/>
              </a:spcAft>
              <a:buClr>
                <a:srgbClr val="1F7A8C"/>
              </a:buClr>
              <a:buSzPts val="2800"/>
              <a:buFont typeface="IBM Plex Sans"/>
              <a:buNone/>
            </a:pPr>
            <a:r>
              <a:rPr b="1" i="0" lang="en-US" sz="2800" u="none" cap="none" strike="noStrike">
                <a:solidFill>
                  <a:srgbClr val="1F7A8C"/>
                </a:solidFill>
                <a:latin typeface="IBM Plex Sans"/>
                <a:ea typeface="IBM Plex Sans"/>
                <a:cs typeface="IBM Plex Sans"/>
                <a:sym typeface="IBM Plex Sans"/>
              </a:rPr>
              <a:t>1</a:t>
            </a:r>
            <a:endParaRPr b="0" i="0" sz="2800" u="none" cap="none" strike="noStrike">
              <a:solidFill>
                <a:srgbClr val="000000"/>
              </a:solidFill>
              <a:latin typeface="Calibri"/>
              <a:ea typeface="Calibri"/>
              <a:cs typeface="Calibri"/>
              <a:sym typeface="Calibri"/>
            </a:endParaRPr>
          </a:p>
        </p:txBody>
      </p:sp>
      <p:sp>
        <p:nvSpPr>
          <p:cNvPr id="186" name="Google Shape;186;p18"/>
          <p:cNvSpPr/>
          <p:nvPr/>
        </p:nvSpPr>
        <p:spPr>
          <a:xfrm>
            <a:off x="1657350" y="1538486"/>
            <a:ext cx="9156600" cy="304800"/>
          </a:xfrm>
          <a:prstGeom prst="rect">
            <a:avLst/>
          </a:prstGeom>
          <a:noFill/>
          <a:ln>
            <a:noFill/>
          </a:ln>
        </p:spPr>
        <p:txBody>
          <a:bodyPr anchorCtr="0" anchor="t" bIns="0" lIns="0" spcFirstLastPara="1" rIns="0" wrap="square" tIns="0">
            <a:noAutofit/>
          </a:bodyPr>
          <a:lstStyle/>
          <a:p>
            <a:pPr indent="0" lvl="0" marL="0" marR="0" rtl="0" algn="l">
              <a:lnSpc>
                <a:spcPct val="91667"/>
              </a:lnSpc>
              <a:spcBef>
                <a:spcPts val="0"/>
              </a:spcBef>
              <a:spcAft>
                <a:spcPts val="0"/>
              </a:spcAft>
              <a:buClr>
                <a:srgbClr val="14213D"/>
              </a:buClr>
              <a:buSzPts val="2000"/>
              <a:buFont typeface="EB Garamond"/>
              <a:buNone/>
            </a:pPr>
            <a:r>
              <a:rPr b="1" lang="en-US" sz="2000">
                <a:solidFill>
                  <a:srgbClr val="14213D"/>
                </a:solidFill>
                <a:latin typeface="EB Garamond"/>
                <a:ea typeface="EB Garamond"/>
                <a:cs typeface="EB Garamond"/>
                <a:sym typeface="EB Garamond"/>
              </a:rPr>
              <a:t>Flagged</a:t>
            </a:r>
            <a:r>
              <a:rPr b="1" i="0" lang="en-US" sz="2000" u="none" cap="none" strike="noStrike">
                <a:solidFill>
                  <a:srgbClr val="14213D"/>
                </a:solidFill>
                <a:latin typeface="EB Garamond"/>
                <a:ea typeface="EB Garamond"/>
                <a:cs typeface="EB Garamond"/>
                <a:sym typeface="EB Garamond"/>
              </a:rPr>
              <a:t> 474 </a:t>
            </a:r>
            <a:r>
              <a:rPr b="1" lang="en-US" sz="2000">
                <a:solidFill>
                  <a:srgbClr val="14213D"/>
                </a:solidFill>
                <a:latin typeface="EB Garamond"/>
                <a:ea typeface="EB Garamond"/>
                <a:cs typeface="EB Garamond"/>
                <a:sym typeface="EB Garamond"/>
              </a:rPr>
              <a:t>wallets are stable across seeds</a:t>
            </a:r>
            <a:endParaRPr b="0" i="0" sz="2000" u="none" cap="none" strike="noStrike">
              <a:solidFill>
                <a:srgbClr val="000000"/>
              </a:solidFill>
              <a:latin typeface="Calibri"/>
              <a:ea typeface="Calibri"/>
              <a:cs typeface="Calibri"/>
              <a:sym typeface="Calibri"/>
            </a:endParaRPr>
          </a:p>
        </p:txBody>
      </p:sp>
      <p:sp>
        <p:nvSpPr>
          <p:cNvPr id="187" name="Google Shape;187;p18"/>
          <p:cNvSpPr/>
          <p:nvPr/>
        </p:nvSpPr>
        <p:spPr>
          <a:xfrm>
            <a:off x="1657350" y="1868686"/>
            <a:ext cx="9156600" cy="505500"/>
          </a:xfrm>
          <a:prstGeom prst="rect">
            <a:avLst/>
          </a:prstGeom>
          <a:noFill/>
          <a:ln>
            <a:noFill/>
          </a:ln>
        </p:spPr>
        <p:txBody>
          <a:bodyPr anchorCtr="0" anchor="t" bIns="0" lIns="0" spcFirstLastPara="1" rIns="0" wrap="square" tIns="0">
            <a:noAutofit/>
          </a:bodyPr>
          <a:lstStyle/>
          <a:p>
            <a:pPr indent="0" lvl="0" marL="0" marR="0" rtl="0" algn="l">
              <a:lnSpc>
                <a:spcPct val="112500"/>
              </a:lnSpc>
              <a:spcBef>
                <a:spcPts val="0"/>
              </a:spcBef>
              <a:spcAft>
                <a:spcPts val="0"/>
              </a:spcAft>
              <a:buClr>
                <a:srgbClr val="4A5568"/>
              </a:buClr>
              <a:buSzPts val="1400"/>
              <a:buFont typeface="IBM Plex Sans"/>
              <a:buNone/>
            </a:pPr>
            <a:r>
              <a:rPr b="0" i="0" lang="en-US" sz="1400" u="none" cap="none" strike="noStrike">
                <a:solidFill>
                  <a:srgbClr val="4A5568"/>
                </a:solidFill>
                <a:latin typeface="IBM Plex Sans"/>
                <a:ea typeface="IBM Plex Sans"/>
                <a:cs typeface="IBM Plex Sans"/>
                <a:sym typeface="IBM Plex Sans"/>
              </a:rPr>
              <a:t>After removing 3 likely bots, the top 5% by anomaly score are marked abnormal. The list is stable across seeds (0.88).</a:t>
            </a:r>
            <a:endParaRPr b="0" i="0" sz="1400" u="none" cap="none" strike="noStrike">
              <a:solidFill>
                <a:srgbClr val="000000"/>
              </a:solidFill>
              <a:latin typeface="Calibri"/>
              <a:ea typeface="Calibri"/>
              <a:cs typeface="Calibri"/>
              <a:sym typeface="Calibri"/>
            </a:endParaRPr>
          </a:p>
        </p:txBody>
      </p:sp>
      <p:sp>
        <p:nvSpPr>
          <p:cNvPr id="188" name="Google Shape;188;p18"/>
          <p:cNvSpPr/>
          <p:nvPr/>
        </p:nvSpPr>
        <p:spPr>
          <a:xfrm>
            <a:off x="815975" y="2679502"/>
            <a:ext cx="10560000" cy="1163100"/>
          </a:xfrm>
          <a:prstGeom prst="roundRect">
            <a:avLst>
              <a:gd fmla="val 8461" name="adj"/>
            </a:avLst>
          </a:prstGeom>
          <a:solidFill>
            <a:srgbClr val="FFFFFF"/>
          </a:solidFill>
          <a:ln cap="flat" cmpd="sng" w="9525">
            <a:solidFill>
              <a:srgbClr val="DDD9C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8"/>
          <p:cNvSpPr/>
          <p:nvPr/>
        </p:nvSpPr>
        <p:spPr>
          <a:xfrm>
            <a:off x="1073150" y="2885877"/>
            <a:ext cx="431700" cy="381000"/>
          </a:xfrm>
          <a:prstGeom prst="rect">
            <a:avLst/>
          </a:prstGeom>
          <a:noFill/>
          <a:ln>
            <a:noFill/>
          </a:ln>
        </p:spPr>
        <p:txBody>
          <a:bodyPr anchorCtr="0" anchor="t" bIns="0" lIns="0" spcFirstLastPara="1" rIns="0" wrap="square" tIns="0">
            <a:noAutofit/>
          </a:bodyPr>
          <a:lstStyle/>
          <a:p>
            <a:pPr indent="0" lvl="0" marL="0" marR="0" rtl="0" algn="l">
              <a:lnSpc>
                <a:spcPct val="83333"/>
              </a:lnSpc>
              <a:spcBef>
                <a:spcPts val="0"/>
              </a:spcBef>
              <a:spcAft>
                <a:spcPts val="0"/>
              </a:spcAft>
              <a:buClr>
                <a:srgbClr val="1F7A8C"/>
              </a:buClr>
              <a:buSzPts val="2800"/>
              <a:buFont typeface="IBM Plex Sans"/>
              <a:buNone/>
            </a:pPr>
            <a:r>
              <a:rPr b="1" i="0" lang="en-US" sz="2800" u="none" cap="none" strike="noStrike">
                <a:solidFill>
                  <a:srgbClr val="1F7A8C"/>
                </a:solidFill>
                <a:latin typeface="IBM Plex Sans"/>
                <a:ea typeface="IBM Plex Sans"/>
                <a:cs typeface="IBM Plex Sans"/>
                <a:sym typeface="IBM Plex Sans"/>
              </a:rPr>
              <a:t>2</a:t>
            </a:r>
            <a:endParaRPr b="0" i="0" sz="2800" u="none" cap="none" strike="noStrike">
              <a:solidFill>
                <a:srgbClr val="000000"/>
              </a:solidFill>
              <a:latin typeface="Calibri"/>
              <a:ea typeface="Calibri"/>
              <a:cs typeface="Calibri"/>
              <a:sym typeface="Calibri"/>
            </a:endParaRPr>
          </a:p>
        </p:txBody>
      </p:sp>
      <p:sp>
        <p:nvSpPr>
          <p:cNvPr id="190" name="Google Shape;190;p18"/>
          <p:cNvSpPr/>
          <p:nvPr/>
        </p:nvSpPr>
        <p:spPr>
          <a:xfrm>
            <a:off x="1657350" y="2885877"/>
            <a:ext cx="9156600" cy="304800"/>
          </a:xfrm>
          <a:prstGeom prst="rect">
            <a:avLst/>
          </a:prstGeom>
          <a:noFill/>
          <a:ln>
            <a:noFill/>
          </a:ln>
        </p:spPr>
        <p:txBody>
          <a:bodyPr anchorCtr="0" anchor="t" bIns="0" lIns="0" spcFirstLastPara="1" rIns="0" wrap="square" tIns="0">
            <a:noAutofit/>
          </a:bodyPr>
          <a:lstStyle/>
          <a:p>
            <a:pPr indent="0" lvl="0" marL="0" marR="0" rtl="0" algn="l">
              <a:lnSpc>
                <a:spcPct val="91667"/>
              </a:lnSpc>
              <a:spcBef>
                <a:spcPts val="0"/>
              </a:spcBef>
              <a:spcAft>
                <a:spcPts val="0"/>
              </a:spcAft>
              <a:buClr>
                <a:srgbClr val="14213D"/>
              </a:buClr>
              <a:buSzPts val="2000"/>
              <a:buFont typeface="EB Garamond"/>
              <a:buNone/>
            </a:pPr>
            <a:r>
              <a:rPr b="1" i="0" lang="en-US" sz="2000" u="none" cap="none" strike="noStrike">
                <a:solidFill>
                  <a:srgbClr val="14213D"/>
                </a:solidFill>
                <a:latin typeface="EB Garamond"/>
                <a:ea typeface="EB Garamond"/>
                <a:cs typeface="EB Garamond"/>
                <a:sym typeface="EB Garamond"/>
              </a:rPr>
              <a:t>Flags sit mostly on big spenders</a:t>
            </a:r>
            <a:endParaRPr b="0" i="0" sz="2000" u="none" cap="none" strike="noStrike">
              <a:solidFill>
                <a:srgbClr val="000000"/>
              </a:solidFill>
              <a:latin typeface="Calibri"/>
              <a:ea typeface="Calibri"/>
              <a:cs typeface="Calibri"/>
              <a:sym typeface="Calibri"/>
            </a:endParaRPr>
          </a:p>
        </p:txBody>
      </p:sp>
      <p:sp>
        <p:nvSpPr>
          <p:cNvPr id="191" name="Google Shape;191;p18"/>
          <p:cNvSpPr/>
          <p:nvPr/>
        </p:nvSpPr>
        <p:spPr>
          <a:xfrm>
            <a:off x="1657350" y="3216077"/>
            <a:ext cx="9156600" cy="505500"/>
          </a:xfrm>
          <a:prstGeom prst="rect">
            <a:avLst/>
          </a:prstGeom>
          <a:noFill/>
          <a:ln>
            <a:noFill/>
          </a:ln>
        </p:spPr>
        <p:txBody>
          <a:bodyPr anchorCtr="0" anchor="t" bIns="0" lIns="0" spcFirstLastPara="1" rIns="0" wrap="square" tIns="0">
            <a:noAutofit/>
          </a:bodyPr>
          <a:lstStyle/>
          <a:p>
            <a:pPr indent="0" lvl="0" marL="0" marR="0" rtl="0" algn="l">
              <a:lnSpc>
                <a:spcPct val="112500"/>
              </a:lnSpc>
              <a:spcBef>
                <a:spcPts val="0"/>
              </a:spcBef>
              <a:spcAft>
                <a:spcPts val="0"/>
              </a:spcAft>
              <a:buClr>
                <a:srgbClr val="4A5568"/>
              </a:buClr>
              <a:buSzPts val="1400"/>
              <a:buFont typeface="IBM Plex Sans"/>
              <a:buNone/>
            </a:pPr>
            <a:r>
              <a:rPr b="0" i="0" lang="en-US" sz="1400" u="none" cap="none" strike="noStrike">
                <a:solidFill>
                  <a:srgbClr val="4A5568"/>
                </a:solidFill>
                <a:latin typeface="IBM Plex Sans"/>
                <a:ea typeface="IBM Plex Sans"/>
                <a:cs typeface="IBM Plex Sans"/>
                <a:sym typeface="IBM Plex Sans"/>
              </a:rPr>
              <a:t>About 69% of flagged wallets are in the top half of spenders; the 50 in the top 1% hold 86% of the flagged BUY dollars.</a:t>
            </a:r>
            <a:endParaRPr b="0" i="0" sz="1400" u="none" cap="none" strike="noStrike">
              <a:solidFill>
                <a:srgbClr val="000000"/>
              </a:solidFill>
              <a:latin typeface="Calibri"/>
              <a:ea typeface="Calibri"/>
              <a:cs typeface="Calibri"/>
              <a:sym typeface="Calibri"/>
            </a:endParaRPr>
          </a:p>
        </p:txBody>
      </p:sp>
      <p:sp>
        <p:nvSpPr>
          <p:cNvPr id="192" name="Google Shape;192;p18"/>
          <p:cNvSpPr/>
          <p:nvPr/>
        </p:nvSpPr>
        <p:spPr>
          <a:xfrm>
            <a:off x="815975" y="4147923"/>
            <a:ext cx="10560000" cy="1163100"/>
          </a:xfrm>
          <a:prstGeom prst="roundRect">
            <a:avLst>
              <a:gd fmla="val 10461" name="adj"/>
            </a:avLst>
          </a:prstGeom>
          <a:solidFill>
            <a:srgbClr val="FFFFFF"/>
          </a:solidFill>
          <a:ln cap="flat" cmpd="sng" w="9525">
            <a:solidFill>
              <a:srgbClr val="DDD9C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8"/>
          <p:cNvSpPr/>
          <p:nvPr/>
        </p:nvSpPr>
        <p:spPr>
          <a:xfrm>
            <a:off x="1073150" y="4354309"/>
            <a:ext cx="431700" cy="381000"/>
          </a:xfrm>
          <a:prstGeom prst="rect">
            <a:avLst/>
          </a:prstGeom>
          <a:noFill/>
          <a:ln>
            <a:noFill/>
          </a:ln>
        </p:spPr>
        <p:txBody>
          <a:bodyPr anchorCtr="0" anchor="t" bIns="0" lIns="0" spcFirstLastPara="1" rIns="0" wrap="square" tIns="0">
            <a:noAutofit/>
          </a:bodyPr>
          <a:lstStyle/>
          <a:p>
            <a:pPr indent="0" lvl="0" marL="0" marR="0" rtl="0" algn="l">
              <a:lnSpc>
                <a:spcPct val="83333"/>
              </a:lnSpc>
              <a:spcBef>
                <a:spcPts val="0"/>
              </a:spcBef>
              <a:spcAft>
                <a:spcPts val="0"/>
              </a:spcAft>
              <a:buClr>
                <a:srgbClr val="1F7A8C"/>
              </a:buClr>
              <a:buSzPts val="2800"/>
              <a:buFont typeface="IBM Plex Sans"/>
              <a:buNone/>
            </a:pPr>
            <a:r>
              <a:rPr b="1" lang="en-US" sz="2800">
                <a:solidFill>
                  <a:srgbClr val="1F7A8C"/>
                </a:solidFill>
                <a:latin typeface="IBM Plex Sans"/>
                <a:ea typeface="IBM Plex Sans"/>
                <a:cs typeface="IBM Plex Sans"/>
                <a:sym typeface="IBM Plex Sans"/>
              </a:rPr>
              <a:t>3</a:t>
            </a:r>
            <a:endParaRPr b="0" i="0" sz="2800" u="none" cap="none" strike="noStrike">
              <a:solidFill>
                <a:srgbClr val="000000"/>
              </a:solidFill>
              <a:latin typeface="Calibri"/>
              <a:ea typeface="Calibri"/>
              <a:cs typeface="Calibri"/>
              <a:sym typeface="Calibri"/>
            </a:endParaRPr>
          </a:p>
        </p:txBody>
      </p:sp>
      <p:sp>
        <p:nvSpPr>
          <p:cNvPr id="194" name="Google Shape;194;p18"/>
          <p:cNvSpPr/>
          <p:nvPr/>
        </p:nvSpPr>
        <p:spPr>
          <a:xfrm>
            <a:off x="1657350" y="4354309"/>
            <a:ext cx="9156600" cy="304800"/>
          </a:xfrm>
          <a:prstGeom prst="rect">
            <a:avLst/>
          </a:prstGeom>
          <a:noFill/>
          <a:ln>
            <a:noFill/>
          </a:ln>
        </p:spPr>
        <p:txBody>
          <a:bodyPr anchorCtr="0" anchor="t" bIns="0" lIns="0" spcFirstLastPara="1" rIns="0" wrap="square" tIns="0">
            <a:noAutofit/>
          </a:bodyPr>
          <a:lstStyle/>
          <a:p>
            <a:pPr indent="0" lvl="0" marL="0" marR="0" rtl="0" algn="l">
              <a:lnSpc>
                <a:spcPct val="91667"/>
              </a:lnSpc>
              <a:spcBef>
                <a:spcPts val="0"/>
              </a:spcBef>
              <a:spcAft>
                <a:spcPts val="0"/>
              </a:spcAft>
              <a:buClr>
                <a:srgbClr val="14213D"/>
              </a:buClr>
              <a:buSzPts val="2000"/>
              <a:buFont typeface="EB Garamond"/>
              <a:buNone/>
            </a:pPr>
            <a:r>
              <a:rPr b="1" i="0" lang="en-US" sz="2000" u="none" cap="none" strike="noStrike">
                <a:solidFill>
                  <a:srgbClr val="14213D"/>
                </a:solidFill>
                <a:latin typeface="EB Garamond"/>
                <a:ea typeface="EB Garamond"/>
                <a:cs typeface="EB Garamond"/>
                <a:sym typeface="EB Garamond"/>
              </a:rPr>
              <a:t>No evidence of insiders in this event</a:t>
            </a:r>
            <a:endParaRPr b="0" i="0" sz="2000" u="none" cap="none" strike="noStrike">
              <a:solidFill>
                <a:srgbClr val="000000"/>
              </a:solidFill>
              <a:latin typeface="Calibri"/>
              <a:ea typeface="Calibri"/>
              <a:cs typeface="Calibri"/>
              <a:sym typeface="Calibri"/>
            </a:endParaRPr>
          </a:p>
        </p:txBody>
      </p:sp>
      <p:sp>
        <p:nvSpPr>
          <p:cNvPr id="195" name="Google Shape;195;p18"/>
          <p:cNvSpPr/>
          <p:nvPr/>
        </p:nvSpPr>
        <p:spPr>
          <a:xfrm>
            <a:off x="1657350" y="4684509"/>
            <a:ext cx="9156600" cy="265500"/>
          </a:xfrm>
          <a:prstGeom prst="rect">
            <a:avLst/>
          </a:prstGeom>
          <a:noFill/>
          <a:ln>
            <a:noFill/>
          </a:ln>
        </p:spPr>
        <p:txBody>
          <a:bodyPr anchorCtr="0" anchor="t" bIns="0" lIns="0" spcFirstLastPara="1" rIns="0" wrap="square" tIns="0">
            <a:noAutofit/>
          </a:bodyPr>
          <a:lstStyle/>
          <a:p>
            <a:pPr indent="0" lvl="0" marL="0" marR="0" rtl="0" algn="l">
              <a:lnSpc>
                <a:spcPct val="112500"/>
              </a:lnSpc>
              <a:spcBef>
                <a:spcPts val="0"/>
              </a:spcBef>
              <a:spcAft>
                <a:spcPts val="0"/>
              </a:spcAft>
              <a:buClr>
                <a:srgbClr val="4A5568"/>
              </a:buClr>
              <a:buSzPts val="1400"/>
              <a:buFont typeface="IBM Plex Sans"/>
              <a:buNone/>
            </a:pPr>
            <a:r>
              <a:rPr b="0" i="0" lang="en-US" sz="1400" u="none" cap="none" strike="noStrike">
                <a:solidFill>
                  <a:srgbClr val="4A5568"/>
                </a:solidFill>
                <a:latin typeface="IBM Plex Sans"/>
                <a:ea typeface="IBM Plex Sans"/>
                <a:cs typeface="IBM Plex Sans"/>
                <a:sym typeface="IBM Plex Sans"/>
              </a:rPr>
              <a:t>This is one event, so the result is exploratory.</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EE"/>
        </a:solidFill>
      </p:bgPr>
    </p:bg>
    <p:spTree>
      <p:nvGrpSpPr>
        <p:cNvPr id="200" name="Shape 200"/>
        <p:cNvGrpSpPr/>
        <p:nvPr/>
      </p:nvGrpSpPr>
      <p:grpSpPr>
        <a:xfrm>
          <a:off x="0" y="0"/>
          <a:ext cx="0" cy="0"/>
          <a:chOff x="0" y="0"/>
          <a:chExt cx="0" cy="0"/>
        </a:xfrm>
      </p:grpSpPr>
      <p:sp>
        <p:nvSpPr>
          <p:cNvPr id="201" name="Google Shape;201;p19"/>
          <p:cNvSpPr/>
          <p:nvPr/>
        </p:nvSpPr>
        <p:spPr>
          <a:xfrm>
            <a:off x="812800" y="812800"/>
            <a:ext cx="10883392" cy="500360"/>
          </a:xfrm>
          <a:prstGeom prst="rect">
            <a:avLst/>
          </a:prstGeom>
          <a:noFill/>
          <a:ln>
            <a:noFill/>
          </a:ln>
        </p:spPr>
        <p:txBody>
          <a:bodyPr anchorCtr="0" anchor="t" bIns="0" lIns="0" spcFirstLastPara="1" rIns="0" wrap="square" tIns="0">
            <a:noAutofit/>
          </a:bodyPr>
          <a:lstStyle/>
          <a:p>
            <a:pPr indent="0" lvl="0" marL="0" marR="0" rtl="0" algn="l">
              <a:lnSpc>
                <a:spcPct val="91667"/>
              </a:lnSpc>
              <a:spcBef>
                <a:spcPts val="0"/>
              </a:spcBef>
              <a:spcAft>
                <a:spcPts val="0"/>
              </a:spcAft>
              <a:buClr>
                <a:srgbClr val="14213D"/>
              </a:buClr>
              <a:buSzPts val="3400"/>
              <a:buFont typeface="EB Garamond"/>
              <a:buNone/>
            </a:pPr>
            <a:r>
              <a:rPr b="0" i="0" lang="en-US" sz="3400" u="none" cap="none" strike="noStrike">
                <a:solidFill>
                  <a:srgbClr val="14213D"/>
                </a:solidFill>
                <a:latin typeface="EB Garamond"/>
                <a:ea typeface="EB Garamond"/>
                <a:cs typeface="EB Garamond"/>
                <a:sym typeface="EB Garamond"/>
              </a:rPr>
              <a:t>Limits and next steps</a:t>
            </a:r>
            <a:endParaRPr b="0" i="0" sz="3400" u="none" cap="none" strike="noStrike">
              <a:solidFill>
                <a:schemeClr val="dk1"/>
              </a:solidFill>
              <a:latin typeface="Calibri"/>
              <a:ea typeface="Calibri"/>
              <a:cs typeface="Calibri"/>
              <a:sym typeface="Calibri"/>
            </a:endParaRPr>
          </a:p>
        </p:txBody>
      </p:sp>
      <p:sp>
        <p:nvSpPr>
          <p:cNvPr id="202" name="Google Shape;202;p19"/>
          <p:cNvSpPr/>
          <p:nvPr/>
        </p:nvSpPr>
        <p:spPr>
          <a:xfrm>
            <a:off x="815975" y="1595735"/>
            <a:ext cx="5149850" cy="2576810"/>
          </a:xfrm>
          <a:prstGeom prst="roundRect">
            <a:avLst>
              <a:gd fmla="val 3820" name="adj"/>
            </a:avLst>
          </a:prstGeom>
          <a:solidFill>
            <a:srgbClr val="FFFFFF"/>
          </a:solidFill>
          <a:ln cap="flat" cmpd="sng" w="9525">
            <a:solidFill>
              <a:srgbClr val="DDD9C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9"/>
          <p:cNvSpPr/>
          <p:nvPr/>
        </p:nvSpPr>
        <p:spPr>
          <a:xfrm>
            <a:off x="1073150" y="1852910"/>
            <a:ext cx="4774565" cy="3606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4540F"/>
              </a:buClr>
              <a:buSzPts val="2200"/>
              <a:buFont typeface="EB Garamond"/>
              <a:buNone/>
            </a:pPr>
            <a:r>
              <a:rPr b="1" i="0" lang="en-US" sz="2200" u="none" cap="none" strike="noStrike">
                <a:solidFill>
                  <a:srgbClr val="B4540F"/>
                </a:solidFill>
                <a:latin typeface="EB Garamond"/>
                <a:ea typeface="EB Garamond"/>
                <a:cs typeface="EB Garamond"/>
                <a:sym typeface="EB Garamond"/>
              </a:rPr>
              <a:t>Limits</a:t>
            </a:r>
            <a:endParaRPr b="0" i="0" sz="2200" u="none" cap="none" strike="noStrike">
              <a:solidFill>
                <a:schemeClr val="dk1"/>
              </a:solidFill>
              <a:latin typeface="Calibri"/>
              <a:ea typeface="Calibri"/>
              <a:cs typeface="Calibri"/>
              <a:sym typeface="Calibri"/>
            </a:endParaRPr>
          </a:p>
        </p:txBody>
      </p:sp>
      <p:sp>
        <p:nvSpPr>
          <p:cNvPr id="204" name="Google Shape;204;p19"/>
          <p:cNvSpPr/>
          <p:nvPr/>
        </p:nvSpPr>
        <p:spPr>
          <a:xfrm>
            <a:off x="1151375" y="2315178"/>
            <a:ext cx="4688700" cy="1676400"/>
          </a:xfrm>
          <a:prstGeom prst="rect">
            <a:avLst/>
          </a:prstGeom>
          <a:noFill/>
          <a:ln>
            <a:noFill/>
          </a:ln>
        </p:spPr>
        <p:txBody>
          <a:bodyPr anchorCtr="0" anchor="t" bIns="0" lIns="0" spcFirstLastPara="1" rIns="0" wrap="square" tIns="0">
            <a:noAutofit/>
          </a:bodyPr>
          <a:lstStyle/>
          <a:p>
            <a:pPr indent="-188468" lvl="0" marL="175768" marR="0" rtl="0" algn="l">
              <a:lnSpc>
                <a:spcPct val="125000"/>
              </a:lnSpc>
              <a:spcBef>
                <a:spcPts val="0"/>
              </a:spcBef>
              <a:spcAft>
                <a:spcPts val="0"/>
              </a:spcAft>
              <a:buClr>
                <a:srgbClr val="4A5568"/>
              </a:buClr>
              <a:buSzPts val="1600"/>
              <a:buFont typeface="IBM Plex Sans"/>
              <a:buChar char="•"/>
            </a:pPr>
            <a:r>
              <a:rPr lang="en-US" sz="1600">
                <a:solidFill>
                  <a:srgbClr val="4A5568"/>
                </a:solidFill>
                <a:latin typeface="IBM Plex Sans"/>
                <a:ea typeface="IBM Plex Sans"/>
                <a:cs typeface="IBM Plex Sans"/>
                <a:sym typeface="IBM Plex Sans"/>
              </a:rPr>
              <a:t>Only find potential </a:t>
            </a:r>
            <a:r>
              <a:rPr lang="en-US" sz="1600">
                <a:solidFill>
                  <a:srgbClr val="4A5568"/>
                </a:solidFill>
                <a:latin typeface="IBM Plex Sans"/>
                <a:ea typeface="IBM Plex Sans"/>
                <a:cs typeface="IBM Plex Sans"/>
                <a:sym typeface="IBM Plex Sans"/>
              </a:rPr>
              <a:t>abnormal</a:t>
            </a:r>
            <a:r>
              <a:rPr lang="en-US" sz="1600">
                <a:solidFill>
                  <a:srgbClr val="4A5568"/>
                </a:solidFill>
                <a:latin typeface="IBM Plex Sans"/>
                <a:ea typeface="IBM Plex Sans"/>
                <a:cs typeface="IBM Plex Sans"/>
                <a:sym typeface="IBM Plex Sans"/>
              </a:rPr>
              <a:t> wallets</a:t>
            </a:r>
            <a:endParaRPr b="0" i="0" sz="1600" u="none" cap="none" strike="noStrike">
              <a:solidFill>
                <a:schemeClr val="dk1"/>
              </a:solidFill>
              <a:latin typeface="Calibri"/>
              <a:ea typeface="Calibri"/>
              <a:cs typeface="Calibri"/>
              <a:sym typeface="Calibri"/>
            </a:endParaRPr>
          </a:p>
          <a:p>
            <a:pPr indent="-188468" lvl="0" marL="175768" marR="0" rtl="0" algn="l">
              <a:lnSpc>
                <a:spcPct val="125000"/>
              </a:lnSpc>
              <a:spcBef>
                <a:spcPts val="0"/>
              </a:spcBef>
              <a:spcAft>
                <a:spcPts val="0"/>
              </a:spcAft>
              <a:buClr>
                <a:srgbClr val="4A5568"/>
              </a:buClr>
              <a:buSzPts val="1600"/>
              <a:buFont typeface="IBM Plex Sans"/>
              <a:buChar char="•"/>
            </a:pPr>
            <a:r>
              <a:rPr b="0" i="0" lang="en-US" sz="1600" u="none" cap="none" strike="noStrike">
                <a:solidFill>
                  <a:srgbClr val="4A5568"/>
                </a:solidFill>
                <a:latin typeface="IBM Plex Sans"/>
                <a:ea typeface="IBM Plex Sans"/>
                <a:cs typeface="IBM Plex Sans"/>
                <a:sym typeface="IBM Plex Sans"/>
              </a:rPr>
              <a:t>No confirmed insider labels in this event</a:t>
            </a:r>
            <a:endParaRPr b="0" i="0" sz="1600" u="none" cap="none" strike="noStrike">
              <a:solidFill>
                <a:schemeClr val="dk1"/>
              </a:solidFill>
              <a:latin typeface="Calibri"/>
              <a:ea typeface="Calibri"/>
              <a:cs typeface="Calibri"/>
              <a:sym typeface="Calibri"/>
            </a:endParaRPr>
          </a:p>
          <a:p>
            <a:pPr indent="-188468" lvl="0" marL="175768" marR="0" rtl="0" algn="l">
              <a:lnSpc>
                <a:spcPct val="125000"/>
              </a:lnSpc>
              <a:spcBef>
                <a:spcPts val="0"/>
              </a:spcBef>
              <a:spcAft>
                <a:spcPts val="0"/>
              </a:spcAft>
              <a:buClr>
                <a:srgbClr val="4A5568"/>
              </a:buClr>
              <a:buSzPts val="1600"/>
              <a:buFont typeface="IBM Plex Sans"/>
              <a:buChar char="•"/>
            </a:pPr>
            <a:r>
              <a:rPr b="0" i="0" lang="en-US" sz="1600" u="none" cap="none" strike="noStrike">
                <a:solidFill>
                  <a:srgbClr val="4A5568"/>
                </a:solidFill>
                <a:latin typeface="IBM Plex Sans"/>
                <a:ea typeface="IBM Plex Sans"/>
                <a:cs typeface="IBM Plex Sans"/>
                <a:sym typeface="IBM Plex Sans"/>
              </a:rPr>
              <a:t>Wallet age covers June only</a:t>
            </a:r>
            <a:endParaRPr b="0" i="0" sz="1600" u="none" cap="none" strike="noStrike">
              <a:solidFill>
                <a:srgbClr val="4A5568"/>
              </a:solidFill>
              <a:latin typeface="IBM Plex Sans"/>
              <a:ea typeface="IBM Plex Sans"/>
              <a:cs typeface="IBM Plex Sans"/>
              <a:sym typeface="IBM Plex Sans"/>
            </a:endParaRPr>
          </a:p>
          <a:p>
            <a:pPr indent="0" lvl="0" marL="0" marR="0" rtl="0" algn="l">
              <a:lnSpc>
                <a:spcPct val="125000"/>
              </a:lnSpc>
              <a:spcBef>
                <a:spcPts val="0"/>
              </a:spcBef>
              <a:spcAft>
                <a:spcPts val="0"/>
              </a:spcAft>
              <a:buNone/>
            </a:pPr>
            <a:r>
              <a:t/>
            </a:r>
            <a:endParaRPr sz="1600">
              <a:solidFill>
                <a:srgbClr val="4A5568"/>
              </a:solidFill>
              <a:latin typeface="IBM Plex Sans"/>
              <a:ea typeface="IBM Plex Sans"/>
              <a:cs typeface="IBM Plex Sans"/>
              <a:sym typeface="IBM Plex Sans"/>
            </a:endParaRPr>
          </a:p>
        </p:txBody>
      </p:sp>
      <p:sp>
        <p:nvSpPr>
          <p:cNvPr id="205" name="Google Shape;205;p19"/>
          <p:cNvSpPr/>
          <p:nvPr/>
        </p:nvSpPr>
        <p:spPr>
          <a:xfrm>
            <a:off x="6226175" y="1595735"/>
            <a:ext cx="5149850" cy="2576810"/>
          </a:xfrm>
          <a:prstGeom prst="roundRect">
            <a:avLst>
              <a:gd fmla="val 3820" name="adj"/>
            </a:avLst>
          </a:prstGeom>
          <a:solidFill>
            <a:srgbClr val="FFFFFF"/>
          </a:solidFill>
          <a:ln cap="flat" cmpd="sng" w="9525">
            <a:solidFill>
              <a:srgbClr val="DDD9C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9"/>
          <p:cNvSpPr/>
          <p:nvPr/>
        </p:nvSpPr>
        <p:spPr>
          <a:xfrm>
            <a:off x="6483350" y="1852910"/>
            <a:ext cx="4774565" cy="3606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7A8C"/>
              </a:buClr>
              <a:buSzPts val="2200"/>
              <a:buFont typeface="EB Garamond"/>
              <a:buNone/>
            </a:pPr>
            <a:r>
              <a:rPr b="1" i="0" lang="en-US" sz="2200" u="none" cap="none" strike="noStrike">
                <a:solidFill>
                  <a:srgbClr val="1F7A8C"/>
                </a:solidFill>
                <a:latin typeface="EB Garamond"/>
                <a:ea typeface="EB Garamond"/>
                <a:cs typeface="EB Garamond"/>
                <a:sym typeface="EB Garamond"/>
              </a:rPr>
              <a:t>Next</a:t>
            </a:r>
            <a:endParaRPr b="0" i="0" sz="2200" u="none" cap="none" strike="noStrike">
              <a:solidFill>
                <a:schemeClr val="dk1"/>
              </a:solidFill>
              <a:latin typeface="Calibri"/>
              <a:ea typeface="Calibri"/>
              <a:cs typeface="Calibri"/>
              <a:sym typeface="Calibri"/>
            </a:endParaRPr>
          </a:p>
        </p:txBody>
      </p:sp>
      <p:sp>
        <p:nvSpPr>
          <p:cNvPr id="207" name="Google Shape;207;p19"/>
          <p:cNvSpPr/>
          <p:nvPr/>
        </p:nvSpPr>
        <p:spPr>
          <a:xfrm>
            <a:off x="6561582" y="2315170"/>
            <a:ext cx="4688713" cy="1625600"/>
          </a:xfrm>
          <a:prstGeom prst="rect">
            <a:avLst/>
          </a:prstGeom>
          <a:noFill/>
          <a:ln>
            <a:noFill/>
          </a:ln>
        </p:spPr>
        <p:txBody>
          <a:bodyPr anchorCtr="0" anchor="t" bIns="0" lIns="0" spcFirstLastPara="1" rIns="0" wrap="square" tIns="0">
            <a:noAutofit/>
          </a:bodyPr>
          <a:lstStyle/>
          <a:p>
            <a:pPr indent="-188468" lvl="0" marL="175768" marR="0" rtl="0" algn="l">
              <a:lnSpc>
                <a:spcPct val="125000"/>
              </a:lnSpc>
              <a:spcBef>
                <a:spcPts val="0"/>
              </a:spcBef>
              <a:spcAft>
                <a:spcPts val="0"/>
              </a:spcAft>
              <a:buClr>
                <a:srgbClr val="4A5568"/>
              </a:buClr>
              <a:buSzPts val="1600"/>
              <a:buFont typeface="IBM Plex Sans"/>
              <a:buChar char="•"/>
            </a:pPr>
            <a:r>
              <a:rPr lang="en-US" sz="1600">
                <a:solidFill>
                  <a:srgbClr val="4A5568"/>
                </a:solidFill>
                <a:latin typeface="IBM Plex Sans"/>
                <a:ea typeface="IBM Plex Sans"/>
                <a:cs typeface="IBM Plex Sans"/>
                <a:sym typeface="IBM Plex Sans"/>
              </a:rPr>
              <a:t>Try some other features </a:t>
            </a:r>
            <a:endParaRPr sz="1600">
              <a:solidFill>
                <a:srgbClr val="4A5568"/>
              </a:solidFill>
              <a:latin typeface="IBM Plex Sans"/>
              <a:ea typeface="IBM Plex Sans"/>
              <a:cs typeface="IBM Plex Sans"/>
              <a:sym typeface="IBM Plex Sans"/>
            </a:endParaRPr>
          </a:p>
          <a:p>
            <a:pPr indent="-188468" lvl="0" marL="175768" marR="0" rtl="0" algn="l">
              <a:lnSpc>
                <a:spcPct val="125000"/>
              </a:lnSpc>
              <a:spcBef>
                <a:spcPts val="0"/>
              </a:spcBef>
              <a:spcAft>
                <a:spcPts val="0"/>
              </a:spcAft>
              <a:buClr>
                <a:srgbClr val="4A5568"/>
              </a:buClr>
              <a:buSzPts val="1600"/>
              <a:buFont typeface="IBM Plex Sans"/>
              <a:buChar char="•"/>
            </a:pPr>
            <a:r>
              <a:rPr lang="en-US" sz="1600">
                <a:solidFill>
                  <a:srgbClr val="4A5568"/>
                </a:solidFill>
                <a:latin typeface="IBM Plex Sans"/>
                <a:ea typeface="IBM Plex Sans"/>
                <a:cs typeface="IBM Plex Sans"/>
                <a:sym typeface="IBM Plex Sans"/>
              </a:rPr>
              <a:t>Try more unsupervised learning method</a:t>
            </a:r>
            <a:endParaRPr sz="1600">
              <a:solidFill>
                <a:srgbClr val="4A5568"/>
              </a:solidFill>
              <a:latin typeface="IBM Plex Sans"/>
              <a:ea typeface="IBM Plex Sans"/>
              <a:cs typeface="IBM Plex Sans"/>
              <a:sym typeface="IBM Plex Sans"/>
            </a:endParaRPr>
          </a:p>
          <a:p>
            <a:pPr indent="-188468" lvl="0" marL="175768" marR="0" rtl="0" algn="l">
              <a:lnSpc>
                <a:spcPct val="125000"/>
              </a:lnSpc>
              <a:spcBef>
                <a:spcPts val="0"/>
              </a:spcBef>
              <a:spcAft>
                <a:spcPts val="0"/>
              </a:spcAft>
              <a:buClr>
                <a:srgbClr val="4A5568"/>
              </a:buClr>
              <a:buSzPts val="1600"/>
              <a:buFont typeface="IBM Plex Sans"/>
              <a:buChar char="•"/>
            </a:pPr>
            <a:r>
              <a:rPr lang="en-US" sz="1600">
                <a:solidFill>
                  <a:srgbClr val="4A5568"/>
                </a:solidFill>
                <a:latin typeface="IBM Plex Sans"/>
                <a:ea typeface="IBM Plex Sans"/>
                <a:cs typeface="IBM Plex Sans"/>
                <a:sym typeface="IBM Plex Sans"/>
              </a:rPr>
              <a:t>Test across more events in different area</a:t>
            </a:r>
            <a:endParaRPr sz="1600">
              <a:solidFill>
                <a:srgbClr val="4A5568"/>
              </a:solidFill>
              <a:latin typeface="IBM Plex Sans"/>
              <a:ea typeface="IBM Plex Sans"/>
              <a:cs typeface="IBM Plex Sans"/>
              <a:sym typeface="IBM Plex Sans"/>
            </a:endParaRPr>
          </a:p>
          <a:p>
            <a:pPr indent="-188468" lvl="0" marL="175768" marR="0" rtl="0" algn="l">
              <a:lnSpc>
                <a:spcPct val="125000"/>
              </a:lnSpc>
              <a:spcBef>
                <a:spcPts val="0"/>
              </a:spcBef>
              <a:spcAft>
                <a:spcPts val="0"/>
              </a:spcAft>
              <a:buClr>
                <a:srgbClr val="4A5568"/>
              </a:buClr>
              <a:buSzPts val="1600"/>
              <a:buFont typeface="IBM Plex Sans"/>
              <a:buChar char="•"/>
            </a:pPr>
            <a:r>
              <a:rPr lang="en-US" sz="1600">
                <a:solidFill>
                  <a:srgbClr val="4A5568"/>
                </a:solidFill>
                <a:latin typeface="IBM Plex Sans"/>
                <a:ea typeface="IBM Plex Sans"/>
                <a:cs typeface="IBM Plex Sans"/>
                <a:sym typeface="IBM Plex Sans"/>
              </a:rPr>
              <a:t>Longer time span</a:t>
            </a:r>
            <a:endParaRPr sz="1600">
              <a:solidFill>
                <a:srgbClr val="4A5568"/>
              </a:solidFill>
              <a:latin typeface="IBM Plex Sans"/>
              <a:ea typeface="IBM Plex Sans"/>
              <a:cs typeface="IBM Plex Sans"/>
              <a:sym typeface="IBM Plex Sans"/>
            </a:endParaRPr>
          </a:p>
          <a:p>
            <a:pPr indent="0" lvl="0" marL="0" marR="0" rtl="0" algn="l">
              <a:lnSpc>
                <a:spcPct val="125000"/>
              </a:lnSpc>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08" name="Google Shape;208;p19"/>
          <p:cNvSpPr/>
          <p:nvPr/>
        </p:nvSpPr>
        <p:spPr>
          <a:xfrm>
            <a:off x="812800" y="62382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6B7280"/>
              </a:buClr>
              <a:buSzPts val="1200"/>
              <a:buFont typeface="IBM Plex Sans"/>
              <a:buNone/>
            </a:pPr>
            <a:r>
              <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